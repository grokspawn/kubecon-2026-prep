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Default ContentType="application/vnd.openxmlformats-officedocument.obfuscatedFont" Extension="odttf"/>
  <Override ContentType="application/vnd.openxmlformats-officedocument.presentationml.notesSlide+xml" PartName="/sdk/ppt/notesSlides/notesSlide6.xml"/>
  <Override ContentType="application/vnd.openxmlformats-officedocument.presentationml.notesSlide+xml" PartName="/sdk/ppt/notesSlides/notesSlide13.xml"/>
  <Override ContentType="application/vnd.openxmlformats-officedocument.presentationml.notesSlide+xml" PartName="/sdk/ppt/notesSlides/notesSlide1.xml"/>
  <Override ContentType="application/vnd.openxmlformats-officedocument.presentationml.notesSlide+xml" PartName="/sdk/ppt/notesSlides/notesSlide3.xml"/>
  <Override ContentType="application/vnd.openxmlformats-officedocument.presentationml.notesSlide+xml" PartName="/sdk/ppt/notesSlides/notesSlide9.xml"/>
  <Override ContentType="application/vnd.openxmlformats-officedocument.presentationml.notesSlide+xml" PartName="/sdk/ppt/notesSlides/notesSlide7.xml"/>
  <Override ContentType="application/vnd.openxmlformats-officedocument.presentationml.notesSlide+xml" PartName="/sdk/ppt/notesSlides/notesSlide11.xml"/>
  <Override ContentType="application/vnd.openxmlformats-officedocument.presentationml.notesSlide+xml" PartName="/sdk/ppt/notesSlides/notesSlide5.xml"/>
  <Override ContentType="application/vnd.openxmlformats-officedocument.presentationml.notesSlide+xml" PartName="/sdk/ppt/notesSlides/notesSlide12.xml"/>
  <Override ContentType="application/vnd.openxmlformats-officedocument.presentationml.notesSlide+xml" PartName="/sdk/ppt/notesSlides/notesSlide8.xml"/>
  <Override ContentType="application/vnd.openxmlformats-officedocument.presentationml.notesSlide+xml" PartName="/sdk/ppt/notesSlides/notesSlide2.xml"/>
  <Override ContentType="application/vnd.openxmlformats-officedocument.presentationml.notesSlide+xml" PartName="/sdk/ppt/notesSlides/notesSlide4.xml"/>
  <Override ContentType="application/vnd.openxmlformats-officedocument.presentationml.notesSlide+xml" PartName="/sdk/ppt/notesSlides/notesSlide10.xml"/>
  <Override ContentType="application/vnd.openxmlformats-officedocument.presentationml.slideLayout+xml" PartName="/sdk/ppt/slideLayouts/slideLayout3.xml"/>
  <Override ContentType="application/vnd.openxmlformats-officedocument.presentationml.slideLayout+xml" PartName="/sdk/ppt/slideLayouts/slideLayout4.xml"/>
  <Override ContentType="application/vnd.openxmlformats-officedocument.presentationml.slideLayout+xml" PartName="/sdk/ppt/slideLayouts/slideLayout5.xml"/>
  <Override ContentType="application/vnd.openxmlformats-officedocument.presentationml.slideLayout+xml" PartName="/sdk/ppt/slideLayouts/slideLayout2.xml"/>
  <Override ContentType="application/vnd.openxmlformats-officedocument.presentationml.slideLayout+xml" PartName="/sdk/ppt/slideLayouts/slideLayout1.xml"/>
  <Override ContentType="application/vnd.openxmlformats-officedocument.presentationml.slideLayout+xml" PartName="/sdk/ppt/slideLayouts/slideLayout7.xml"/>
  <Override ContentType="application/vnd.openxmlformats-officedocument.presentationml.slideLayout+xml" PartName="/sdk/ppt/slideLayouts/slideLayout6.xml"/>
  <Override ContentType="application/vnd.openxmlformats-officedocument.presentationml.slideLayout+xml" PartName="/sdk/ppt/slideLayouts/slideLayout8.xml"/>
  <Override ContentType="application/vnd.openxmlformats-officedocument.presentationml.slideMaster+xml" PartName="/sdk/ppt/slideMasters/slideMaster1.xml"/>
  <Override ContentType="application/vnd.openxmlformats-officedocument.presentationml.slide+xml" PartName="/sdk/ppt/slides/slide4.xml"/>
  <Override ContentType="application/vnd.openxmlformats-officedocument.presentationml.slide+xml" PartName="/sdk/ppt/slides/slide11.xml"/>
  <Override ContentType="application/vnd.openxmlformats-officedocument.presentationml.slide+xml" PartName="/sdk/ppt/slides/slide1.xml"/>
  <Override ContentType="application/vnd.openxmlformats-officedocument.presentationml.slide+xml" PartName="/sdk/ppt/slides/slide3.xml"/>
  <Override ContentType="application/vnd.openxmlformats-officedocument.presentationml.slide+xml" PartName="/sdk/ppt/slides/slide9.xml"/>
  <Override ContentType="application/vnd.openxmlformats-officedocument.presentationml.slide+xml" PartName="/sdk/ppt/slides/slide13.xml"/>
  <Override ContentType="application/vnd.openxmlformats-officedocument.presentationml.slide+xml" PartName="/sdk/ppt/slides/slide5.xml"/>
  <Override ContentType="application/vnd.openxmlformats-officedocument.presentationml.slide+xml" PartName="/sdk/ppt/slides/slide7.xml"/>
  <Override ContentType="application/vnd.openxmlformats-officedocument.presentationml.slide+xml" PartName="/sdk/ppt/slides/slide12.xml"/>
  <Override ContentType="application/vnd.openxmlformats-officedocument.presentationml.slide+xml" PartName="/sdk/ppt/slides/slide10.xml"/>
  <Override ContentType="application/vnd.openxmlformats-officedocument.presentationml.slide+xml" PartName="/sdk/ppt/slides/slide2.xml"/>
  <Override ContentType="application/vnd.openxmlformats-officedocument.presentationml.slide+xml" PartName="/sdk/ppt/slides/slide6.xml"/>
  <Override ContentType="application/vnd.openxmlformats-officedocument.presentationml.slide+xml" PartName="/sdk/ppt/slides/slide8.xml"/>
  <Override ContentType="application/vnd.openxmlformats-officedocument.presentationml.notesMaster+xml" PartName="/sdk/ppt/notesMasters/notesMaster1.xml"/>
  <Override ContentType="application/vnd.openxmlformats-officedocument.presentationml.presentation.main+xml" PartName="/sdk/ppt/presentation.xml"/>
  <Override ContentType="application/vnd.openxmlformats-officedocument.presentationml.presProps+xml" PartName="/sdk/ppt/presProps.xml"/>
  <Override ContentType="application/vnd.openxmlformats-officedocument.theme+xml" PartName="/sdk/ppt/theme/theme1.xml"/>
  <Override ContentType="application/vnd.openxmlformats-officedocument.theme+xml" PartName="/sdk/ppt/theme/theme2.xml"/>
  <Override ContentType="application/vnd.openxmlformats-officedocument.presentationml.viewProps+xml" PartName="/sdk/ppt/viewProp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 id="2147483649" r:id="rIdSDK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1" r:id="rIdSDK2"/>
    <p:sldId id="272" r:id="rIdSDK3"/>
    <p:sldId id="273" r:id="rIdSDK4"/>
    <p:sldId id="274" r:id="rIdSDK5"/>
    <p:sldId id="275" r:id="rIdSDK6"/>
    <p:sldId id="276" r:id="rIdSDK7"/>
    <p:sldId id="277" r:id="rIdSDK8"/>
    <p:sldId id="278" r:id="rIdSDK9"/>
    <p:sldId id="279" r:id="rIdSDK10"/>
    <p:sldId id="280" r:id="rIdSDK11"/>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Relationships xmlns="http://schemas.openxmlformats.org/package/2006/relationships"><Relationship Id="rId1" Type="http://schemas.openxmlformats.org/officeDocument/2006/relationships/slideMaster" Target="slideMasters/slideMaster1.xml" /><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notesMaster" Target="notesMasters/notesMaster1.xml" /><Relationship Id="rId18" Type="http://schemas.openxmlformats.org/officeDocument/2006/relationships/presProps" Target="presProps.xml" /><Relationship Id="rId19" Type="http://schemas.openxmlformats.org/officeDocument/2006/relationships/viewProps" Target="viewProps.xml" /><Relationship Id="rId20" Type="http://schemas.openxmlformats.org/officeDocument/2006/relationships/theme" Target="theme/theme1.xml" /><Relationship Id="rId21" Type="http://schemas.openxmlformats.org/officeDocument/2006/relationships/tableStyles" Target="tableStyles.xml" /><Relationship Id="rIdSDK1" Type="http://schemas.openxmlformats.org/officeDocument/2006/relationships/slideMaster" Target="../sdk/ppt/slideMasters/slideMaster1.xml" /><Relationship Id="rIdSDK2" Type="http://schemas.openxmlformats.org/officeDocument/2006/relationships/slide" Target="../sdk/ppt/slides/slide3.xml" /><Relationship Id="rIdSDK3" Type="http://schemas.openxmlformats.org/officeDocument/2006/relationships/slide" Target="../sdk/ppt/slides/slide4.xml" /><Relationship Id="rIdSDK4" Type="http://schemas.openxmlformats.org/officeDocument/2006/relationships/slide" Target="../sdk/ppt/slides/slide5.xml" /><Relationship Id="rIdSDK5" Type="http://schemas.openxmlformats.org/officeDocument/2006/relationships/slide" Target="../sdk/ppt/slides/slide6.xml" /><Relationship Id="rIdSDK6" Type="http://schemas.openxmlformats.org/officeDocument/2006/relationships/slide" Target="../sdk/ppt/slides/slide7.xml" /><Relationship Id="rIdSDK7" Type="http://schemas.openxmlformats.org/officeDocument/2006/relationships/slide" Target="../sdk/ppt/slides/slide8.xml" /><Relationship Id="rIdSDK8" Type="http://schemas.openxmlformats.org/officeDocument/2006/relationships/slide" Target="../sdk/ppt/slides/slide9.xml" /><Relationship Id="rIdSDK9" Type="http://schemas.openxmlformats.org/officeDocument/2006/relationships/slide" Target="../sdk/ppt/slides/slide10.xml" /><Relationship Id="rIdSDK10" Type="http://schemas.openxmlformats.org/officeDocument/2006/relationships/slide" Target="../sdk/ppt/slides/slide11.xml" /><Relationship Id="rIdSDK11" Type="http://schemas.openxmlformats.org/officeDocument/2006/relationships/slide" Target="../sdk/ppt/slides/slide12.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The Next Era of Kubernetes Operator Lifecycle Management
SPEAKER: OLM A — context / host; name to confirm
START: 00:00
DURATION: 00:45
STATUS: 
TAKEAWAY: 
TALK TRACK / SOURCES / CAVEATS / REVIEW:
Welcome the audience and introduce the talk, The Next Era of Kubernetes Operator Lifecycle Management, at KubeCon + CloudNativeCon North America 2026. Retain the operator-lifecycle illustration. Source: ../kubecon-2026-outline.md.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Presentation team
SPEAKER: OLM A — team introduction; name to confirm
START: 00:45
DURATION: 00:30
STATUS: 
TAKEAWAY: 
TALK TRACK / SOURCES / CAVEATS / REVIEW:
OLM A introduces Rashmi, Joe and Jordan as the OLM presentation team; photos are deferred. Introduce Attila as the fourth presenter, covering Java Operator SDK exclusively. The mapping of Rashmi, Joe and Jordan to OLM roles A/B/C remains unconfirmed. A covers base slides 1–4, B covers 5–9, and C covers 10–13. The primary builder imports original SDK source slides 3–12 unchanged after the divider, allocating 60 seconds to each. These become final slides 14–23; the host closes on final slide 24 and topic owners answer questions on final slide 25. Adding this team slide and removing the standalone assumptions slide preserves 15 base records and 25 displayed slides. The base records total 1,200 seconds; the original SDK segment adds 600 seconds for a 30-minute session. Keep the no-live-demo plan. Sources: ../kubecon-2026-outline.md; ../kubecon-2025-slide-context.md.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Compatibility and lifecycle foundations
SPEAKER: OLM A — context / host; name to confirm
START: 01:15
DURATION: 01:30
STATUS: FOUNDATIONAL WORK
TAKEAWAY: OLM evolution builds on existing packages and operational experience.
TALK TRACK / SOURCES / CAVEATS / REVIEW:
Use OLMv0 evolution and compatibility with existing registry+v1 content as the historical basis. Explain how existing package formats, resource ownership and operational behavior shaped lifecycle implementation. Configuration and migration preparation build on that foundation. The bridge illustration is conceptual. This slide makes no measured availability, performance, adoption or elapsed-time claims. Sources: ../kubecon-2025-slide-context.md; ../kubecon-2026-resource-assessment.md; supplied evolution background.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OLM: past, current and future
SPEAKER: OLM A — context / host; name to confirm
START: 02:45
DURATION: 01:15
STATUS: EVOLUTION / PLANNED / FUTURE WORK
TAKEAWAY: OLM feature evolution
TALK TRACK / SOURCES / CAVEATS / REVIEW:
Enumerate the timeline: past work includes OLMv0, SQLite catalogs and established file-based catalogs (FBC). Summarize OLMv0's flawed assumptions about namespace-local CRD visibility, independently managed APIs and watch-aware dependencies. CRD definitions are cluster-scoped shared APIs; custom resource instances may be namespaced, and controller watch scope is configured separately. Shared CRDs can couple operator upgrades. The flawed assumptions belonged to OLMv0's lifecycle model; Kubernetes' cluster-scoped CRD design is the underlying API boundary. Keep the OperatorGroup recap brief and explain how these lessons informed OLMv1. Current OLMv1 capabilities include ClusterExtension, version pins and webhooks. Ongoing development includes resource rollouts, user configuration, direct bundle installation and migration. Direct installation remains an open proposal in PR #2907 at the supplied 2026-10-09 check. Planned work includes Helm content using helm+v2 and v2 catalog schemas. OCI-native catalog storage and transport remain future work. Release-specific availability and feature gates require the source-version qualifications on the detailed slides. The 2025 deck already listed delivered features. A hands off to B after this overview at 04:00. Sources: ../kubecon-2025-slide-context.md slide 9; ../kubecon-2026-resource-assessment.md K-1/K-2/V0-2/V0-3; supplied feature-planning context.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Install a bundle directly
SPEAKER: OLM B — lifecycle primitives; name to confirm
START: 04:00
DURATION: 01:30
STATUS: IN ACTIVE DEVELOPMENT / CONTROLLED BY FEATURE-GATE
TAKEAWAY: Select a registry+v1 bundle by its OCI image reference.
TALK TRACK / SOURCES / CAVEATS / REVIEW:
PR #2907 is OPEN and unmerged as of the supplied check dated 2026-10-09. Present direct bundle installation as proposed behavior in active development. It supports registry+v1 bundles only and is controlled by the BoxcutterRuntime feature gate. The requested source uses sourceType: OCIImage and source.ociImage.ref. It bypasses catalog resolution. Describe CRD checks and other lifecycle safeguards according to the proposal's supported path; catalog bypass alone establishes no blanket removal of CRD safety. Pin the source revision and gate configuration before preparing an example. The session uses prepared examples without a live demo.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Inspect phased resource rollouts
SPEAKER: OLM B — lifecycle primitives; name to confirm
START: 05:30
DURATION: 02:00
STATUS: IN ACTIVE DEVELOPMENT / CONTROLLED BY FEATURE-GATE
TAKEAWAY: Ordered phases expose resource application and readiness progress.
TALK TRACK / SOURCES / CAVEATS / REVIEW:
Explain the evolution from ClusterExtensionRevision to ClusterObjectSets. The ascending stair-step illustration shows resource readiness progressing toward the installation goal. Objects within a phase have unspecified ordering. Readiness checks cover defined conditions; application correctness and transactional availability require additional validation. The rollout runtime is in active development and controlled by feature-gate. Pin the source version and gate settings for examples. Reconcile draft Succeeded wording with the inspected Ready/completedAt type before using status examples. Sources: supplied ClusterObjectSets draft and feature-planning context; ../kubecon-2026-resource-assessment.md; ../kubecon-2025-slide-context.md slides 7, 10 and 12.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User control of extension deployments
SPEAKER: OLM B — lifecycle primitives; name to confirm
START: 07:30
DURATION: 01:30
STATUS: IN ACTIVE DEVELOPMENT / CONTROLLED BY FEATURE-GATE
TAKEAWAY: Flexible user-defined deployment configuration.
TALK TRACK / SOURCES / CAVEATS / REVIEW:
Describe the deployment as a configuration exchange between users and the operator team. Users express environment, resource, placement, volume and metadata requirements through the package's configuration interface. Operator authors define schema and validation behavior. OLM carries the selected configuration into the deployment. DeploymentConfig is in active development and controlled by feature-gate; values are expressed through ClusterExtension configuration. Explain field-specific merge, replace and append behavior and annotation precedence. Validate example input and inspect the resulting deployment against the pinned source version. Watch-namespace pass-through leaves CRDs shared and supplies no watch-aware dependency management. Sources: supplied customization draft; ../kubecon-2026-resource-assessment.md; ../kubecon-2025-slide-context.md slide 14.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OLMv0 → OLMv1 migration
SPEAKER: OLM B — lifecycle primitives; name to confirm
START: 09:00
DURATION: 02:00
STATUS: IN ACTIVE DEVELOPMENT
TAKEAWAY: Move operator management from OLMv0 to OLMv1.
TALK TRACK / SOURCES / CAVEATS / REVIEW:
Prepare OLMv1 ClusterCatalogs from the existing OLMv0 CatalogSources first. Then evaluate each operator installation for eligibility and preview its migration before transferring management. The check and preview actions evaluate operators; catalog preparation is the earlier prerequisite. The migration specification describes check, convert, rollback and cleanup with ClusterObjectSets. Functionality is supplied as library-olm. The example binaries illustrate library use. The user confirms structured output that supports automated processing, including models; it has not been independently exercised in this editing task. Eligibility checks have defined coverage. Retaining the namespace can reduce disruption; namespace changes may restart workloads or cause downtime. Validate recovery boundaries and source/gate versions for the selected case. This area is in active development. Sources: library-olm README/spec; ../kubecon-2026-resource-assessment.md; user migration guidance.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Shared lifecycle logic in library-olm
SPEAKER: OLM B — lifecycle primitives; name to confirm
START: 11:00
DURATION: 01:00
STATUS: IN ACTIVE DEVELOPMENT
TAKEAWAY: Reuse lifecycle logic through a library with explicit contracts.
TALK TRACK / SOURCES / CAVEATS / REVIEW:
Describe library reuse, the current migration development examples and fixtures that record inputs and expected results. The example binaries exercise library behavior and provide contribution starting points. Broader controller, CLI and UI consumption remains a design intent requiring implementation evidence and explicit contracts. Successor semantics need a defined contract. Fixtures can cover legacy input or version/release selection while respecting the proposed v2 schema direction. Pin source versions when documenting examples. B hands off to C after this slide at 12:00. Sources: library-olm README/spec; supplied feature-planning context; ../kubecon-2025-slide-context.md slide 13.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Planned Helm content support
SPEAKER: OLM C — content/catalogs/contributions; name to confirm
START: 12:00
DURATION: 02:00
STATUS: PLANNED / helm+v2
TAKEAWAY: The rendering contract targets deterministic chart behavior.
TALK TRACK / SOURCES / CAVEATS / REVIEW:
helm+v2 is the user-confirmed canonical discriminator for versioned OLM Helm packaging/catalog content. Standard chart OCI identity is used, with rendered manifests managed through OLM lifecycle behavior. User values are parsed and validated during rendering. Deterministic rendering is the design goal: features are allow-listed to exclude non-deterministic functionality, with compatibility fixtures required to validate the supported subset. Dependencies are vendored. Hooks and keep behavior are unsupported in the proposal. CRDs use templates/; crds/ is unsupported. Chart release-object mappings and restricted template functions require compatibility testing. Moving CRDs affects upgrade, deletion and data handling. Implementation of proposed gates remains independently unconfirmed. Native chart OCI identity and future OCI catalog storage are separate scopes. Sources: supplied Helm planning brief and feature-planning context.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Catalog performance and content types
SPEAKER: OLM C — content/catalogs/contributions; name to confirm
START: 14:00
DURATION: 01:30
STATUS: PLANNED / FUTURE WORK
TAKEAWAY: Design for lower catalog-processing cost and additional content types.
TALK TRACK / SOURCES / CAVEATS / REVIEW:
Credit established FBC capabilities: plaintext editing, composition, extensibility, package-level metadata and version/release properties already exist. The v2 work refines the representation and consumers: less duplicated CSV metadata, version/release fields available directly rather than via property traversal, and explicit mediaType dispatch for installable formats including Helm. Arbitrary FBC schema extensibility alone does not supply end-to-end installation support for a new content type. Catalog processing efficiency is a design benefit to validate, with no measured speedup claimed. Show the practical resolution/metadata work the new representation is intended to reduce. The user-confirmed near-term focus is flexible OLMv1 schemas; OCI-native catalog storage, transport and selective fetching are future work. Channels and legacy graphs are excluded from v2; lifecycle/constraint metadata remains open. Sources: https://olm.operatorframework.io/docs/reference/file-based-catalogs/ ; supplied v2 catalog brief; feature-planning context.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Contribute to Operator Framework
SPEAKER: OLM C — content/catalogs/contributions; name to confirm
START: 15:30
DURATION: 01:00
STATUS: PROJECT DEVELOPMENT
TAKEAWAY: Help develop the project through documentation, code and test cases.
TALK TRACK / SOURCES / CAVEATS / REVIEW:
Make an explicit project-development ask: contribute documentation, code, tests and fixtures to Operator Framework. Explain the distinction from submitting operator versions or upgrade graphs to a catalog; those submissions serve a separate publishing workflow. Useful development cases include rollout/configuration edge cases, migration eligibility, chart/values compatibility and schema behavior. Each contribution should identify the repository, issue or discussion, reproducible input and expected result. Maintainers still need to vet concrete task links and destinations. Companion examples are intended for online use; this session has no live demos. Sources: supplied feature-planning context; ../kubecon-2025-slide-context.md slide 15.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Operator Framework: Java Operator SDK
SPEAKER: OLM C — content/catalogs/contributions; name to confirm
START: 16:30
DURATION: 00:30
STATUS: 
TAKEAWAY: 
TALK TRACK / SOURCES / CAVEATS / REVIEW:
C hands off to Attila for Java Operator SDK. OLM packaging is language-neutral, and SDKs support controller implementation and reconciliation. Keep bundle metadata and the runnable controller image distinct in the spoken transition. The primary builder imports original SDK source slides 3–12 unchanged immediately after this divider. Each original SDK slide receives 60 seconds, for ten minutes total on final slides 14–23. Attila covers this segment exclusively.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24: Resources and contribution steps
SPEAKER: OLM A — session host; name to confirm
START: 27:00
DURATION: 01:00
STATUS: RESOURCE PACKAGE TO PREPARE
TAKEAWAY: Use documented contracts and reproducible cases to guide contributions.
TALK TRACK / SOURCES / CAVEATS / REVIEW:
The host closes on final slide 24, represented here by base record 14. Include verified resource routes for Operator Framework and Java Operator SDK in the final resource hub. Public URLs and QR codes need published destinations. Companion examples and vetted first-task links remain to be prepared. Give the audience a practical next-day contribution supported by the resource package. Speaker ownership stays in these notes. Sources: ../kubecon-2026-outline.md companion package; supplied feature-planning contribution candidates.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25: Questions?
SPEAKER: OLM A/B/C on OLM; Attila on Java SDK only
START: 28:00
DURATION: 02:00
STATUS: 
TAKEAWAY: Questions about lifecycle APIs, packaging or controller behavior?
TALK TRACK / SOURCES / CAVEATS / REVIEW:
Final slide 25 is titled exactly Questions?. Base record 15 reserves two minutes for questions and transition overruns. A/B/C answer their OLM topics; Attila answers Java Operator SDK questions exclusively. The base segment totals 20 minutes, including this question allocation. Original SDK source slides 3–12 add ten minutes for a 30-minute session. Main slides occupy 28 minutes including the one-minute host close. Keep the no-live-demo plan. Source: ../kubecon-2026-outline.md run of show.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Relationships xmlns="http://schemas.openxmlformats.org/package/2006/relationships"><Relationship Id="rId1" Type="http://schemas.openxmlformats.org/officeDocument/2006/relationships/image" Target="../media/image-1-1.png" /><Relationship Id="rId2" Type="http://schemas.openxmlformats.org/officeDocument/2006/relationships/slideLayout" Target="../../sdk/ppt/slideLayouts/slideLayout5.xml" /><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dk/ppt/slideLayouts/slideLayout5.xml" /><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3-1.png" /><Relationship Id="rId2" Type="http://schemas.openxmlformats.org/officeDocument/2006/relationships/slideLayout" Target="../../sdk/ppt/slideLayouts/slideLayout5.xml" /><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4-1.png" /><Relationship Id="rId2" Type="http://schemas.openxmlformats.org/officeDocument/2006/relationships/slideLayout" Target="../../sdk/ppt/slideLayouts/slideLayout5.xml" /><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5-1.png" /><Relationship Id="rId2" Type="http://schemas.openxmlformats.org/officeDocument/2006/relationships/slideLayout" Target="../../sdk/ppt/slideLayouts/slideLayout5.xml" /><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6-1.png" /><Relationship Id="rId2" Type="http://schemas.openxmlformats.org/officeDocument/2006/relationships/slideLayout" Target="../../sdk/ppt/slideLayouts/slideLayout5.xml" /><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7-1.png" /><Relationship Id="rId2" Type="http://schemas.openxmlformats.org/officeDocument/2006/relationships/slideLayout" Target="../../sdk/ppt/slideLayouts/slideLayout5.xml" /><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8-1.png" /><Relationship Id="rId2" Type="http://schemas.openxmlformats.org/officeDocument/2006/relationships/slideLayout" Target="../../sdk/ppt/slideLayouts/slideLayout5.xml" /><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9-1.png" /><Relationship Id="rId2" Type="http://schemas.openxmlformats.org/officeDocument/2006/relationships/slideLayout" Target="../../sdk/ppt/slideLayouts/slideLayout5.xml" /><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10-1.png" /><Relationship Id="rId2" Type="http://schemas.openxmlformats.org/officeDocument/2006/relationships/slideLayout" Target="../../sdk/ppt/slideLayouts/slideLayout5.xml" /><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11-1.png" /><Relationship Id="rId2" Type="http://schemas.openxmlformats.org/officeDocument/2006/relationships/slideLayout" Target="../../sdk/ppt/slideLayouts/slideLayout5.xml" /><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12-1.png" /><Relationship Id="rId2" Type="http://schemas.openxmlformats.org/officeDocument/2006/relationships/slideLayout" Target="../../sdk/ppt/slideLayouts/slideLayout5.xml" /><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dk/ppt/slideLayouts/slideLayout5.xml" /><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14-1.png" /><Relationship Id="rId2" Type="http://schemas.openxmlformats.org/officeDocument/2006/relationships/slideLayout" Target="../../sdk/ppt/slideLayouts/slideLayout5.xml" /><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15-1.png" /><Relationship Id="rId2" Type="http://schemas.openxmlformats.org/officeDocument/2006/relationships/slideLayout" Target="../../sdk/ppt/slideLayouts/slideLayout5.xml" /><Relationship Id="rId3" Type="http://schemas.openxmlformats.org/officeDocument/2006/relationships/notesSlide" Target="../notesSlides/notesSlide15.xml" /></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55550" y="444401"/>
            <a:ext cx="8601405" cy="1066800"/>
          </a:xfrm>
          <a:prstGeom prst="rect">
            <a:avLst/>
          </a:prstGeom>
          <a:noFill/>
          <a:ln/>
        </p:spPr>
        <p:txBody>
          <a:bodyPr wrap="square" lIns="0" tIns="0" rIns="0" bIns="0" rtlCol="0" anchor="t"/>
          <a:lstStyle/>
          <a:p>
            <a:pPr algn="l" indent="0" marL="0">
              <a:lnSpc>
                <a:spcPts val="3136"/>
              </a:lnSpc>
              <a:buNone/>
            </a:pPr>
            <a:r>
              <a:rPr lang="en-US" sz="2800" b="1" dirty="0">
                <a:solidFill>
                  <a:srgbClr val="00144C"/>
                </a:solidFill>
                <a:latin typeface="Arial" pitchFamily="34" charset="0"/>
                <a:ea typeface="Arial" pitchFamily="34" charset="-122"/>
                <a:cs typeface="Arial" pitchFamily="34" charset="-120"/>
              </a:rPr>
              <a:t>The Next Era of Kubernetes Operator Lifecycle Management</a:t>
            </a:r>
            <a:endParaRPr lang="en-US" sz="2800" dirty="0"/>
          </a:p>
        </p:txBody>
      </p:sp>
      <p:pic>
        <p:nvPicPr>
          <p:cNvPr id="3" name="Image 0" descr="/Users/jordan/Documents/devel/breadcrumbs/2026-kubecon-wip/dry-run/theme/assets/s01.png">    </p:cNvPr>
          <p:cNvPicPr>
            <a:picLocks noChangeAspect="1"/>
          </p:cNvPicPr>
          <p:nvPr/>
        </p:nvPicPr>
        <p:blipFill>
          <a:blip r:embed="rId1"/>
          <a:stretch>
            <a:fillRect/>
          </a:stretch>
        </p:blipFill>
        <p:spPr>
          <a:xfrm>
            <a:off x="2476500" y="1612850"/>
            <a:ext cx="4191000" cy="2793950"/>
          </a:xfrm>
          <a:prstGeom prst="rect">
            <a:avLst/>
          </a:prstGeom>
        </p:spPr>
      </p:pic>
      <p:sp>
        <p:nvSpPr>
          <p:cNvPr id="4" name="Text 1"/>
          <p:cNvSpPr/>
          <p:nvPr/>
        </p:nvSpPr>
        <p:spPr>
          <a:xfrm>
            <a:off x="1968401" y="4711601"/>
            <a:ext cx="6217920" cy="152400"/>
          </a:xfrm>
          <a:prstGeom prst="rect">
            <a:avLst/>
          </a:prstGeom>
          <a:noFill/>
          <a:ln/>
        </p:spPr>
        <p:txBody>
          <a:bodyPr wrap="square" lIns="0" tIns="0" rIns="0" bIns="0" rtlCol="0" anchor="t"/>
          <a:lstStyle/>
          <a:p>
            <a:pPr algn="l" indent="0" marL="0">
              <a:buNone/>
            </a:pPr>
            <a:r>
              <a:rPr lang="en-US" sz="1050" dirty="0">
                <a:solidFill>
                  <a:srgbClr val="052243"/>
                </a:solidFill>
                <a:latin typeface="Arial" pitchFamily="34" charset="0"/>
                <a:ea typeface="Arial" pitchFamily="34" charset="-122"/>
                <a:cs typeface="Arial" pitchFamily="34" charset="-120"/>
              </a:rPr>
              <a:t>KubeCon + CloudNativeCon North America 2026</a:t>
            </a:r>
            <a:endParaRPr lang="en-US" sz="1050" dirty="0"/>
          </a:p>
        </p:txBody>
      </p:sp>
      <p:sp>
        <p:nvSpPr>
          <p:cNvPr id="5" name="Text 2"/>
          <p:cNvSpPr/>
          <p:nvPr/>
        </p:nvSpPr>
        <p:spPr>
          <a:xfrm>
            <a:off x="8244233" y="4940201"/>
            <a:ext cx="544068" cy="114300"/>
          </a:xfrm>
          <a:prstGeom prst="rect">
            <a:avLst/>
          </a:prstGeom>
          <a:noFill/>
          <a:ln/>
        </p:spPr>
        <p:txBody>
          <a:bodyPr wrap="square" lIns="0" tIns="0" rIns="0" bIns="0" rtlCol="0" anchor="t"/>
          <a:lstStyle/>
          <a:p>
            <a:pPr algn="r" indent="0" marL="0">
              <a:buNone/>
            </a:pPr>
            <a:r>
              <a:rPr lang="en-US" sz="850" dirty="0">
                <a:solidFill>
                  <a:srgbClr val="052243"/>
                </a:solidFill>
                <a:latin typeface="Arial" pitchFamily="34" charset="0"/>
                <a:ea typeface="Arial" pitchFamily="34" charset="-122"/>
                <a:cs typeface="Arial" pitchFamily="34" charset="-120"/>
              </a:rPr>
              <a:t>1 / 25</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55550" y="444401"/>
            <a:ext cx="3144330" cy="409575"/>
          </a:xfrm>
          <a:prstGeom prst="rect">
            <a:avLst/>
          </a:prstGeom>
          <a:noFill/>
          <a:ln/>
        </p:spPr>
        <p:txBody>
          <a:bodyPr wrap="square" lIns="0" tIns="0" rIns="0" bIns="0" rtlCol="0" anchor="t"/>
          <a:lstStyle/>
          <a:p>
            <a:pPr algn="l" indent="0" marL="0">
              <a:buNone/>
            </a:pPr>
            <a:r>
              <a:rPr lang="en-US" sz="2800" b="1" dirty="0">
                <a:solidFill>
                  <a:srgbClr val="00144C"/>
                </a:solidFill>
                <a:latin typeface="Arial" pitchFamily="34" charset="0"/>
                <a:ea typeface="Arial" pitchFamily="34" charset="-122"/>
                <a:cs typeface="Arial" pitchFamily="34" charset="-120"/>
              </a:rPr>
              <a:t>Presentation team</a:t>
            </a:r>
            <a:endParaRPr lang="en-US" sz="2800" dirty="0"/>
          </a:p>
        </p:txBody>
      </p:sp>
      <p:sp>
        <p:nvSpPr>
          <p:cNvPr id="3" name="Text 1"/>
          <p:cNvSpPr/>
          <p:nvPr/>
        </p:nvSpPr>
        <p:spPr>
          <a:xfrm>
            <a:off x="444401" y="2108150"/>
            <a:ext cx="2584400" cy="1238250"/>
          </a:xfrm>
          <a:prstGeom prst="rect">
            <a:avLst/>
          </a:prstGeom>
          <a:solidFill>
            <a:srgbClr val="FFFFFF"/>
          </a:solidFill>
          <a:ln w="9525">
            <a:solidFill>
              <a:srgbClr val="ADC5EF"/>
            </a:solidFill>
          </a:ln>
        </p:spPr>
        <p:txBody>
          <a:bodyPr wrap="square" rtlCol="0" anchor="ctr"/>
          <a:lstStyle/>
          <a:p>
            <a:pPr indent="0" marL="0">
              <a:buNone/>
            </a:pPr>
            <a:endParaRPr lang="en-US" dirty="0"/>
          </a:p>
        </p:txBody>
      </p:sp>
      <p:sp>
        <p:nvSpPr>
          <p:cNvPr id="4" name="Text 2"/>
          <p:cNvSpPr/>
          <p:nvPr/>
        </p:nvSpPr>
        <p:spPr>
          <a:xfrm>
            <a:off x="1117253" y="2527250"/>
            <a:ext cx="1263470" cy="400050"/>
          </a:xfrm>
          <a:prstGeom prst="rect">
            <a:avLst/>
          </a:prstGeom>
          <a:noFill/>
          <a:ln/>
        </p:spPr>
        <p:txBody>
          <a:bodyPr wrap="square" lIns="0" tIns="0" rIns="0" bIns="0" rtlCol="0" anchor="t"/>
          <a:lstStyle/>
          <a:p>
            <a:pPr algn="l" indent="0" marL="0">
              <a:buNone/>
            </a:pPr>
            <a:r>
              <a:rPr lang="en-US" sz="2700" b="1" dirty="0">
                <a:solidFill>
                  <a:srgbClr val="00144C"/>
                </a:solidFill>
                <a:latin typeface="Arial" pitchFamily="34" charset="0"/>
                <a:ea typeface="Arial" pitchFamily="34" charset="-122"/>
                <a:cs typeface="Arial" pitchFamily="34" charset="-120"/>
              </a:rPr>
              <a:t>Rashmi</a:t>
            </a:r>
            <a:endParaRPr lang="en-US" sz="2700" dirty="0"/>
          </a:p>
        </p:txBody>
      </p:sp>
      <p:sp>
        <p:nvSpPr>
          <p:cNvPr id="5" name="Text 3"/>
          <p:cNvSpPr/>
          <p:nvPr/>
        </p:nvSpPr>
        <p:spPr>
          <a:xfrm>
            <a:off x="3308152" y="2108150"/>
            <a:ext cx="2584400" cy="1238250"/>
          </a:xfrm>
          <a:prstGeom prst="rect">
            <a:avLst/>
          </a:prstGeom>
          <a:solidFill>
            <a:srgbClr val="FFFFFF"/>
          </a:solidFill>
          <a:ln w="9525">
            <a:solidFill>
              <a:srgbClr val="ADC5EF"/>
            </a:solidFill>
          </a:ln>
        </p:spPr>
        <p:txBody>
          <a:bodyPr wrap="square" rtlCol="0" anchor="ctr"/>
          <a:lstStyle/>
          <a:p>
            <a:pPr indent="0" marL="0">
              <a:buNone/>
            </a:pPr>
            <a:endParaRPr lang="en-US" dirty="0"/>
          </a:p>
        </p:txBody>
      </p:sp>
      <p:sp>
        <p:nvSpPr>
          <p:cNvPr id="6" name="Text 4"/>
          <p:cNvSpPr/>
          <p:nvPr/>
        </p:nvSpPr>
        <p:spPr>
          <a:xfrm>
            <a:off x="4304854" y="2527250"/>
            <a:ext cx="602816" cy="400050"/>
          </a:xfrm>
          <a:prstGeom prst="rect">
            <a:avLst/>
          </a:prstGeom>
          <a:noFill/>
          <a:ln/>
        </p:spPr>
        <p:txBody>
          <a:bodyPr wrap="square" lIns="0" tIns="0" rIns="0" bIns="0" rtlCol="0" anchor="t"/>
          <a:lstStyle/>
          <a:p>
            <a:pPr algn="l" indent="0" marL="0">
              <a:buNone/>
            </a:pPr>
            <a:r>
              <a:rPr lang="en-US" sz="2700" b="1" dirty="0">
                <a:solidFill>
                  <a:srgbClr val="00144C"/>
                </a:solidFill>
                <a:latin typeface="Arial" pitchFamily="34" charset="0"/>
                <a:ea typeface="Arial" pitchFamily="34" charset="-122"/>
                <a:cs typeface="Arial" pitchFamily="34" charset="-120"/>
              </a:rPr>
              <a:t>Joe</a:t>
            </a:r>
            <a:endParaRPr lang="en-US" sz="2700" dirty="0"/>
          </a:p>
        </p:txBody>
      </p:sp>
      <p:sp>
        <p:nvSpPr>
          <p:cNvPr id="7" name="Text 5"/>
          <p:cNvSpPr/>
          <p:nvPr/>
        </p:nvSpPr>
        <p:spPr>
          <a:xfrm>
            <a:off x="6171902" y="2108150"/>
            <a:ext cx="2584400" cy="1238250"/>
          </a:xfrm>
          <a:prstGeom prst="rect">
            <a:avLst/>
          </a:prstGeom>
          <a:solidFill>
            <a:srgbClr val="FFFFFF"/>
          </a:solidFill>
          <a:ln w="9525">
            <a:solidFill>
              <a:srgbClr val="ADC5EF"/>
            </a:solidFill>
          </a:ln>
        </p:spPr>
        <p:txBody>
          <a:bodyPr wrap="square" rtlCol="0" anchor="ctr"/>
          <a:lstStyle/>
          <a:p>
            <a:pPr indent="0" marL="0">
              <a:buNone/>
            </a:pPr>
            <a:endParaRPr lang="en-US" dirty="0"/>
          </a:p>
        </p:txBody>
      </p:sp>
      <p:sp>
        <p:nvSpPr>
          <p:cNvPr id="8" name="Text 6"/>
          <p:cNvSpPr/>
          <p:nvPr/>
        </p:nvSpPr>
        <p:spPr>
          <a:xfrm>
            <a:off x="6892379" y="2527250"/>
            <a:ext cx="1166164" cy="400050"/>
          </a:xfrm>
          <a:prstGeom prst="rect">
            <a:avLst/>
          </a:prstGeom>
          <a:noFill/>
          <a:ln/>
        </p:spPr>
        <p:txBody>
          <a:bodyPr wrap="square" lIns="0" tIns="0" rIns="0" bIns="0" rtlCol="0" anchor="t"/>
          <a:lstStyle/>
          <a:p>
            <a:pPr algn="l" indent="0" marL="0">
              <a:buNone/>
            </a:pPr>
            <a:r>
              <a:rPr lang="en-US" sz="2700" b="1" dirty="0">
                <a:solidFill>
                  <a:srgbClr val="00144C"/>
                </a:solidFill>
                <a:latin typeface="Arial" pitchFamily="34" charset="0"/>
                <a:ea typeface="Arial" pitchFamily="34" charset="-122"/>
                <a:cs typeface="Arial" pitchFamily="34" charset="-120"/>
              </a:rPr>
              <a:t>Jordan</a:t>
            </a:r>
            <a:endParaRPr lang="en-US" sz="2700" dirty="0"/>
          </a:p>
        </p:txBody>
      </p:sp>
      <p:sp>
        <p:nvSpPr>
          <p:cNvPr id="9" name="Text 7"/>
          <p:cNvSpPr/>
          <p:nvPr/>
        </p:nvSpPr>
        <p:spPr>
          <a:xfrm>
            <a:off x="8244233" y="4940201"/>
            <a:ext cx="544068" cy="114300"/>
          </a:xfrm>
          <a:prstGeom prst="rect">
            <a:avLst/>
          </a:prstGeom>
          <a:noFill/>
          <a:ln/>
        </p:spPr>
        <p:txBody>
          <a:bodyPr wrap="square" lIns="0" tIns="0" rIns="0" bIns="0" rtlCol="0" anchor="t"/>
          <a:lstStyle/>
          <a:p>
            <a:pPr algn="r" indent="0" marL="0">
              <a:buNone/>
            </a:pPr>
            <a:r>
              <a:rPr lang="en-US" sz="850" dirty="0">
                <a:solidFill>
                  <a:srgbClr val="052243"/>
                </a:solidFill>
                <a:latin typeface="Arial" pitchFamily="34" charset="0"/>
                <a:ea typeface="Arial" pitchFamily="34" charset="-122"/>
                <a:cs typeface="Arial" pitchFamily="34" charset="-120"/>
              </a:rPr>
              <a:t>2 / 25</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11646" y="444996"/>
            <a:ext cx="8601405" cy="507950"/>
          </a:xfrm>
          <a:prstGeom prst="rect">
            <a:avLst/>
          </a:prstGeom>
          <a:noFill/>
          <a:ln/>
        </p:spPr>
        <p:txBody>
          <a:bodyPr wrap="square" lIns="0" tIns="0" rIns="0" bIns="0" rtlCol="0" anchor="t"/>
          <a:lstStyle/>
          <a:p>
            <a:pPr algn="l" indent="0" marL="0">
              <a:lnSpc>
                <a:spcPts val="3192"/>
              </a:lnSpc>
              <a:buNone/>
            </a:pPr>
            <a:r>
              <a:rPr lang="en-US" sz="2800" b="1" dirty="0">
                <a:solidFill>
                  <a:srgbClr val="00144C"/>
                </a:solidFill>
                <a:latin typeface="Arial" pitchFamily="34" charset="0"/>
                <a:ea typeface="Arial" pitchFamily="34" charset="-122"/>
                <a:cs typeface="Arial" pitchFamily="34" charset="-120"/>
              </a:rPr>
              <a:t>Compatibility and lifecycle foundations</a:t>
            </a:r>
            <a:endParaRPr lang="en-US" sz="2800" dirty="0"/>
          </a:p>
        </p:txBody>
      </p:sp>
      <p:sp>
        <p:nvSpPr>
          <p:cNvPr id="3" name="Text 1"/>
          <p:cNvSpPr/>
          <p:nvPr/>
        </p:nvSpPr>
        <p:spPr>
          <a:xfrm>
            <a:off x="355550" y="1104900"/>
            <a:ext cx="1669852" cy="253752"/>
          </a:xfrm>
          <a:prstGeom prst="rect">
            <a:avLst/>
          </a:prstGeom>
          <a:solidFill>
            <a:srgbClr val="E3F6FF"/>
          </a:solidFill>
          <a:ln/>
        </p:spPr>
        <p:txBody>
          <a:bodyPr wrap="square" rtlCol="0" anchor="ctr"/>
          <a:lstStyle/>
          <a:p>
            <a:pPr indent="0" marL="0">
              <a:buNone/>
            </a:pPr>
            <a:endParaRPr lang="en-US" dirty="0"/>
          </a:p>
        </p:txBody>
      </p:sp>
      <p:sp>
        <p:nvSpPr>
          <p:cNvPr id="4" name="Text 2"/>
          <p:cNvSpPr/>
          <p:nvPr/>
        </p:nvSpPr>
        <p:spPr>
          <a:xfrm>
            <a:off x="469850" y="1168301"/>
            <a:ext cx="1470077" cy="126950"/>
          </a:xfrm>
          <a:prstGeom prst="rect">
            <a:avLst/>
          </a:prstGeom>
          <a:noFill/>
          <a:ln/>
        </p:spPr>
        <p:txBody>
          <a:bodyPr wrap="square" lIns="0" tIns="0" rIns="0" bIns="0" rtlCol="0" anchor="t"/>
          <a:lstStyle/>
          <a:p>
            <a:pPr algn="l" indent="0" marL="0">
              <a:lnSpc>
                <a:spcPts val="1000"/>
              </a:lnSpc>
              <a:buNone/>
            </a:pPr>
            <a:r>
              <a:rPr lang="en-US" sz="1000" b="1" dirty="0">
                <a:solidFill>
                  <a:srgbClr val="00144C"/>
                </a:solidFill>
                <a:latin typeface="Arial" pitchFamily="34" charset="0"/>
                <a:ea typeface="Arial" pitchFamily="34" charset="-122"/>
                <a:cs typeface="Arial" pitchFamily="34" charset="-120"/>
              </a:rPr>
              <a:t>FOUNDATIONAL WORK</a:t>
            </a:r>
            <a:endParaRPr lang="en-US" sz="1000" dirty="0"/>
          </a:p>
        </p:txBody>
      </p:sp>
      <p:sp>
        <p:nvSpPr>
          <p:cNvPr id="5" name="Text 3"/>
          <p:cNvSpPr/>
          <p:nvPr/>
        </p:nvSpPr>
        <p:spPr>
          <a:xfrm>
            <a:off x="355550" y="1524000"/>
            <a:ext cx="3704793" cy="775097"/>
          </a:xfrm>
          <a:prstGeom prst="rect">
            <a:avLst/>
          </a:prstGeom>
          <a:noFill/>
          <a:ln/>
        </p:spPr>
        <p:txBody>
          <a:bodyPr wrap="square" lIns="0" tIns="0" rIns="0" bIns="0" rtlCol="0" anchor="t"/>
          <a:lstStyle/>
          <a:p>
            <a:pPr algn="l" indent="0" marL="0">
              <a:lnSpc>
                <a:spcPts val="2035"/>
              </a:lnSpc>
              <a:spcAft>
                <a:spcPts val="1100"/>
              </a:spcAft>
              <a:buNone/>
            </a:pPr>
            <a:r>
              <a:rPr lang="en-US" sz="1850" b="1" dirty="0">
                <a:solidFill>
                  <a:srgbClr val="052243"/>
                </a:solidFill>
                <a:latin typeface="Arial" pitchFamily="34" charset="0"/>
                <a:ea typeface="Arial" pitchFamily="34" charset="-122"/>
                <a:cs typeface="Arial" pitchFamily="34" charset="-120"/>
              </a:rPr>
              <a:t>OLM evolution builds on existing packages and operational experience.</a:t>
            </a:r>
            <a:endParaRPr lang="en-US" sz="1850" dirty="0"/>
          </a:p>
        </p:txBody>
      </p:sp>
      <p:sp>
        <p:nvSpPr>
          <p:cNvPr id="6" name="Text 4"/>
          <p:cNvSpPr/>
          <p:nvPr/>
        </p:nvSpPr>
        <p:spPr>
          <a:xfrm>
            <a:off x="355550" y="2438698"/>
            <a:ext cx="3632150" cy="1579959"/>
          </a:xfrm>
          <a:prstGeom prst="rect">
            <a:avLst/>
          </a:prstGeom>
          <a:noFill/>
          <a:ln/>
        </p:spPr>
        <p:txBody>
          <a:bodyPr wrap="square" lIns="107950" tIns="0" rIns="0" bIns="0" rtlCol="0" anchor="t"/>
          <a:lstStyle/>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OLMv0 established lifecycle management</a:t>
            </a:r>
            <a:endParaRPr lang="en-US" sz="1600" dirty="0"/>
          </a:p>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Existing registry+v1 content shapes compatibility</a:t>
            </a:r>
            <a:endParaRPr lang="en-US" sz="1600" dirty="0"/>
          </a:p>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Operational experience informs OLMv1</a:t>
            </a:r>
            <a:endParaRPr lang="en-US" sz="1600" dirty="0"/>
          </a:p>
        </p:txBody>
      </p:sp>
      <p:pic>
        <p:nvPicPr>
          <p:cNvPr id="7" name="Image 0" descr="/Users/jordan/Documents/devel/breadcrumbs/2026-kubecon-wip/dry-run/theme/assets/s04.png">    </p:cNvPr>
          <p:cNvPicPr>
            <a:picLocks noChangeAspect="1"/>
          </p:cNvPicPr>
          <p:nvPr/>
        </p:nvPicPr>
        <p:blipFill>
          <a:blip r:embed="rId1"/>
          <a:stretch>
            <a:fillRect/>
          </a:stretch>
        </p:blipFill>
        <p:spPr>
          <a:xfrm>
            <a:off x="4292501" y="1460450"/>
            <a:ext cx="4495800" cy="2997101"/>
          </a:xfrm>
          <a:prstGeom prst="rect">
            <a:avLst/>
          </a:prstGeom>
        </p:spPr>
      </p:pic>
      <p:sp>
        <p:nvSpPr>
          <p:cNvPr id="8" name="Text 5"/>
          <p:cNvSpPr/>
          <p:nvPr/>
        </p:nvSpPr>
        <p:spPr>
          <a:xfrm>
            <a:off x="1968401" y="4711601"/>
            <a:ext cx="6217920" cy="304800"/>
          </a:xfrm>
          <a:prstGeom prst="rect">
            <a:avLst/>
          </a:prstGeom>
          <a:noFill/>
          <a:ln/>
        </p:spPr>
        <p:txBody>
          <a:bodyPr wrap="square" lIns="0" tIns="0" rIns="0" bIns="0" rtlCol="0" anchor="t"/>
          <a:lstStyle/>
          <a:p>
            <a:pPr algn="l" indent="0" marL="0">
              <a:lnSpc>
                <a:spcPts val="1176"/>
              </a:lnSpc>
              <a:buNone/>
            </a:pPr>
            <a:r>
              <a:rPr lang="en-US" sz="1050" i="1" dirty="0">
                <a:solidFill>
                  <a:srgbClr val="052243"/>
                </a:solidFill>
                <a:latin typeface="Arial" pitchFamily="34" charset="0"/>
                <a:ea typeface="Arial" pitchFamily="34" charset="-122"/>
                <a:cs typeface="Arial" pitchFamily="34" charset="-120"/>
              </a:rPr>
              <a:t>Existing content and users shape lifecycle implementation.</a:t>
            </a:r>
            <a:endParaRPr lang="en-US" sz="1050" dirty="0"/>
          </a:p>
        </p:txBody>
      </p:sp>
      <p:sp>
        <p:nvSpPr>
          <p:cNvPr id="9" name="Text 6"/>
          <p:cNvSpPr/>
          <p:nvPr/>
        </p:nvSpPr>
        <p:spPr>
          <a:xfrm>
            <a:off x="8244233" y="4940201"/>
            <a:ext cx="544068" cy="107900"/>
          </a:xfrm>
          <a:prstGeom prst="rect">
            <a:avLst/>
          </a:prstGeom>
          <a:noFill/>
          <a:ln/>
        </p:spPr>
        <p:txBody>
          <a:bodyPr wrap="square" lIns="0" tIns="0" rIns="0" bIns="0" rtlCol="0" anchor="t"/>
          <a:lstStyle/>
          <a:p>
            <a:pPr algn="r" indent="0" marL="0">
              <a:lnSpc>
                <a:spcPts val="850"/>
              </a:lnSpc>
              <a:buNone/>
            </a:pPr>
            <a:r>
              <a:rPr lang="en-US" sz="850" dirty="0">
                <a:solidFill>
                  <a:srgbClr val="052243"/>
                </a:solidFill>
                <a:latin typeface="Arial" pitchFamily="34" charset="0"/>
                <a:ea typeface="Arial" pitchFamily="34" charset="-122"/>
                <a:cs typeface="Arial" pitchFamily="34" charset="-120"/>
              </a:rPr>
              <a:t>3 / 25</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11646" y="444996"/>
            <a:ext cx="8601405" cy="507950"/>
          </a:xfrm>
          <a:prstGeom prst="rect">
            <a:avLst/>
          </a:prstGeom>
          <a:noFill/>
          <a:ln/>
        </p:spPr>
        <p:txBody>
          <a:bodyPr wrap="square" lIns="0" tIns="0" rIns="0" bIns="0" rtlCol="0" anchor="t"/>
          <a:lstStyle/>
          <a:p>
            <a:pPr algn="l" indent="0" marL="0">
              <a:lnSpc>
                <a:spcPts val="3192"/>
              </a:lnSpc>
              <a:buNone/>
            </a:pPr>
            <a:r>
              <a:rPr lang="en-US" sz="2800" b="1" dirty="0">
                <a:solidFill>
                  <a:srgbClr val="00144C"/>
                </a:solidFill>
                <a:latin typeface="Arial" pitchFamily="34" charset="0"/>
                <a:ea typeface="Arial" pitchFamily="34" charset="-122"/>
                <a:cs typeface="Arial" pitchFamily="34" charset="-120"/>
              </a:rPr>
              <a:t>OLM: past, current and future</a:t>
            </a:r>
            <a:endParaRPr lang="en-US" sz="2800" dirty="0"/>
          </a:p>
        </p:txBody>
      </p:sp>
      <p:sp>
        <p:nvSpPr>
          <p:cNvPr id="3" name="Text 1"/>
          <p:cNvSpPr/>
          <p:nvPr/>
        </p:nvSpPr>
        <p:spPr>
          <a:xfrm>
            <a:off x="355550" y="1104900"/>
            <a:ext cx="2746772" cy="253752"/>
          </a:xfrm>
          <a:prstGeom prst="rect">
            <a:avLst/>
          </a:prstGeom>
          <a:solidFill>
            <a:srgbClr val="E3F6FF"/>
          </a:solidFill>
          <a:ln/>
        </p:spPr>
        <p:txBody>
          <a:bodyPr wrap="square" rtlCol="0" anchor="ctr"/>
          <a:lstStyle/>
          <a:p>
            <a:pPr indent="0" marL="0">
              <a:buNone/>
            </a:pPr>
            <a:endParaRPr lang="en-US" dirty="0"/>
          </a:p>
        </p:txBody>
      </p:sp>
      <p:sp>
        <p:nvSpPr>
          <p:cNvPr id="4" name="Text 2"/>
          <p:cNvSpPr/>
          <p:nvPr/>
        </p:nvSpPr>
        <p:spPr>
          <a:xfrm>
            <a:off x="469850" y="1168301"/>
            <a:ext cx="2568535" cy="126950"/>
          </a:xfrm>
          <a:prstGeom prst="rect">
            <a:avLst/>
          </a:prstGeom>
          <a:noFill/>
          <a:ln/>
        </p:spPr>
        <p:txBody>
          <a:bodyPr wrap="square" lIns="0" tIns="0" rIns="0" bIns="0" rtlCol="0" anchor="t"/>
          <a:lstStyle/>
          <a:p>
            <a:pPr algn="l" indent="0" marL="0">
              <a:lnSpc>
                <a:spcPts val="1000"/>
              </a:lnSpc>
              <a:buNone/>
            </a:pPr>
            <a:r>
              <a:rPr lang="en-US" sz="1000" b="1" dirty="0">
                <a:solidFill>
                  <a:srgbClr val="00144C"/>
                </a:solidFill>
                <a:latin typeface="Arial" pitchFamily="34" charset="0"/>
                <a:ea typeface="Arial" pitchFamily="34" charset="-122"/>
                <a:cs typeface="Arial" pitchFamily="34" charset="-120"/>
              </a:rPr>
              <a:t>EVOLUTION / PLANNED / FUTURE WORK</a:t>
            </a:r>
            <a:endParaRPr lang="en-US" sz="1000" dirty="0"/>
          </a:p>
        </p:txBody>
      </p:sp>
      <p:sp>
        <p:nvSpPr>
          <p:cNvPr id="5" name="Text 3"/>
          <p:cNvSpPr/>
          <p:nvPr/>
        </p:nvSpPr>
        <p:spPr>
          <a:xfrm>
            <a:off x="355550" y="1524000"/>
            <a:ext cx="3704793" cy="258366"/>
          </a:xfrm>
          <a:prstGeom prst="rect">
            <a:avLst/>
          </a:prstGeom>
          <a:noFill/>
          <a:ln/>
        </p:spPr>
        <p:txBody>
          <a:bodyPr wrap="square" lIns="0" tIns="0" rIns="0" bIns="0" rtlCol="0" anchor="t"/>
          <a:lstStyle/>
          <a:p>
            <a:pPr algn="l" indent="0" marL="0">
              <a:lnSpc>
                <a:spcPts val="2035"/>
              </a:lnSpc>
              <a:spcAft>
                <a:spcPts val="1100"/>
              </a:spcAft>
              <a:buNone/>
            </a:pPr>
            <a:r>
              <a:rPr lang="en-US" sz="1850" b="1" dirty="0">
                <a:solidFill>
                  <a:srgbClr val="052243"/>
                </a:solidFill>
                <a:latin typeface="Arial" pitchFamily="34" charset="0"/>
                <a:ea typeface="Arial" pitchFamily="34" charset="-122"/>
                <a:cs typeface="Arial" pitchFamily="34" charset="-120"/>
              </a:rPr>
              <a:t>OLM feature evolution</a:t>
            </a:r>
            <a:endParaRPr lang="en-US" sz="1850" dirty="0"/>
          </a:p>
        </p:txBody>
      </p:sp>
      <p:sp>
        <p:nvSpPr>
          <p:cNvPr id="6" name="Text 4"/>
          <p:cNvSpPr/>
          <p:nvPr/>
        </p:nvSpPr>
        <p:spPr>
          <a:xfrm>
            <a:off x="355550" y="1921966"/>
            <a:ext cx="3632150" cy="1809452"/>
          </a:xfrm>
          <a:prstGeom prst="rect">
            <a:avLst/>
          </a:prstGeom>
          <a:noFill/>
          <a:ln/>
        </p:spPr>
        <p:txBody>
          <a:bodyPr wrap="square" lIns="107950" tIns="0" rIns="0" bIns="0" rtlCol="0" anchor="t"/>
          <a:lstStyle/>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Past: OLMv0, flawed namespace-local CRD visibility assumptions, SQLite, FBC</a:t>
            </a:r>
            <a:endParaRPr lang="en-US" sz="1600" dirty="0"/>
          </a:p>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Current: OLMv1, ClusterExtension, pins, webhooks</a:t>
            </a:r>
            <a:endParaRPr lang="en-US" sz="1600" dirty="0"/>
          </a:p>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Ongoing: rollouts, config, install, migration</a:t>
            </a:r>
            <a:endParaRPr lang="en-US" sz="1600" dirty="0"/>
          </a:p>
        </p:txBody>
      </p:sp>
      <p:pic>
        <p:nvPicPr>
          <p:cNvPr id="7" name="Image 0" descr="/Users/jordan/Documents/devel/breadcrumbs/2026-kubecon-wip/dry-run/theme/assets/s02.png">    </p:cNvPr>
          <p:cNvPicPr>
            <a:picLocks noChangeAspect="1"/>
          </p:cNvPicPr>
          <p:nvPr/>
        </p:nvPicPr>
        <p:blipFill>
          <a:blip r:embed="rId1"/>
          <a:stretch>
            <a:fillRect/>
          </a:stretch>
        </p:blipFill>
        <p:spPr>
          <a:xfrm>
            <a:off x="4292501" y="1460450"/>
            <a:ext cx="4495800" cy="2997101"/>
          </a:xfrm>
          <a:prstGeom prst="rect">
            <a:avLst/>
          </a:prstGeom>
        </p:spPr>
      </p:pic>
      <p:sp>
        <p:nvSpPr>
          <p:cNvPr id="8" name="Text 5"/>
          <p:cNvSpPr/>
          <p:nvPr/>
        </p:nvSpPr>
        <p:spPr>
          <a:xfrm>
            <a:off x="1968401" y="4711601"/>
            <a:ext cx="6217920" cy="304800"/>
          </a:xfrm>
          <a:prstGeom prst="rect">
            <a:avLst/>
          </a:prstGeom>
          <a:noFill/>
          <a:ln/>
        </p:spPr>
        <p:txBody>
          <a:bodyPr wrap="square" lIns="0" tIns="0" rIns="0" bIns="0" rtlCol="0" anchor="t"/>
          <a:lstStyle/>
          <a:p>
            <a:pPr algn="l" indent="0" marL="0">
              <a:lnSpc>
                <a:spcPts val="1176"/>
              </a:lnSpc>
              <a:buNone/>
            </a:pPr>
            <a:r>
              <a:rPr lang="en-US" sz="1050" i="1" dirty="0">
                <a:solidFill>
                  <a:srgbClr val="052243"/>
                </a:solidFill>
                <a:latin typeface="Arial" pitchFamily="34" charset="0"/>
                <a:ea typeface="Arial" pitchFamily="34" charset="-122"/>
                <a:cs typeface="Arial" pitchFamily="34" charset="-120"/>
              </a:rPr>
              <a:t>Planned: helm+v2 and v2 schemas. Future: OCI catalog storage.</a:t>
            </a:r>
            <a:endParaRPr lang="en-US" sz="1050" dirty="0"/>
          </a:p>
        </p:txBody>
      </p:sp>
      <p:sp>
        <p:nvSpPr>
          <p:cNvPr id="9" name="Text 6"/>
          <p:cNvSpPr/>
          <p:nvPr/>
        </p:nvSpPr>
        <p:spPr>
          <a:xfrm>
            <a:off x="8244233" y="4940201"/>
            <a:ext cx="544068" cy="107900"/>
          </a:xfrm>
          <a:prstGeom prst="rect">
            <a:avLst/>
          </a:prstGeom>
          <a:noFill/>
          <a:ln/>
        </p:spPr>
        <p:txBody>
          <a:bodyPr wrap="square" lIns="0" tIns="0" rIns="0" bIns="0" rtlCol="0" anchor="t"/>
          <a:lstStyle/>
          <a:p>
            <a:pPr algn="r" indent="0" marL="0">
              <a:lnSpc>
                <a:spcPts val="850"/>
              </a:lnSpc>
              <a:buNone/>
            </a:pPr>
            <a:r>
              <a:rPr lang="en-US" sz="850" dirty="0">
                <a:solidFill>
                  <a:srgbClr val="052243"/>
                </a:solidFill>
                <a:latin typeface="Arial" pitchFamily="34" charset="0"/>
                <a:ea typeface="Arial" pitchFamily="34" charset="-122"/>
                <a:cs typeface="Arial" pitchFamily="34" charset="-120"/>
              </a:rPr>
              <a:t>4 / 25</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11646" y="444996"/>
            <a:ext cx="8601405" cy="507950"/>
          </a:xfrm>
          <a:prstGeom prst="rect">
            <a:avLst/>
          </a:prstGeom>
          <a:noFill/>
          <a:ln/>
        </p:spPr>
        <p:txBody>
          <a:bodyPr wrap="square" lIns="0" tIns="0" rIns="0" bIns="0" rtlCol="0" anchor="t"/>
          <a:lstStyle/>
          <a:p>
            <a:pPr algn="l" indent="0" marL="0">
              <a:lnSpc>
                <a:spcPts val="3192"/>
              </a:lnSpc>
              <a:buNone/>
            </a:pPr>
            <a:r>
              <a:rPr lang="en-US" sz="2800" b="1" dirty="0">
                <a:solidFill>
                  <a:srgbClr val="00144C"/>
                </a:solidFill>
                <a:latin typeface="Arial" pitchFamily="34" charset="0"/>
                <a:ea typeface="Arial" pitchFamily="34" charset="-122"/>
                <a:cs typeface="Arial" pitchFamily="34" charset="-120"/>
              </a:rPr>
              <a:t>Install a bundle directly</a:t>
            </a:r>
            <a:endParaRPr lang="en-US" sz="2800" dirty="0"/>
          </a:p>
        </p:txBody>
      </p:sp>
      <p:sp>
        <p:nvSpPr>
          <p:cNvPr id="3" name="Text 1"/>
          <p:cNvSpPr/>
          <p:nvPr/>
        </p:nvSpPr>
        <p:spPr>
          <a:xfrm>
            <a:off x="355550" y="1104900"/>
            <a:ext cx="4061371" cy="253752"/>
          </a:xfrm>
          <a:prstGeom prst="rect">
            <a:avLst/>
          </a:prstGeom>
          <a:solidFill>
            <a:srgbClr val="E3F6FF"/>
          </a:solidFill>
          <a:ln/>
        </p:spPr>
        <p:txBody>
          <a:bodyPr wrap="square" rtlCol="0" anchor="ctr"/>
          <a:lstStyle/>
          <a:p>
            <a:pPr indent="0" marL="0">
              <a:buNone/>
            </a:pPr>
            <a:endParaRPr lang="en-US" dirty="0"/>
          </a:p>
        </p:txBody>
      </p:sp>
      <p:sp>
        <p:nvSpPr>
          <p:cNvPr id="4" name="Text 2"/>
          <p:cNvSpPr/>
          <p:nvPr/>
        </p:nvSpPr>
        <p:spPr>
          <a:xfrm>
            <a:off x="469850" y="1168301"/>
            <a:ext cx="3909426" cy="126950"/>
          </a:xfrm>
          <a:prstGeom prst="rect">
            <a:avLst/>
          </a:prstGeom>
          <a:noFill/>
          <a:ln/>
        </p:spPr>
        <p:txBody>
          <a:bodyPr wrap="square" lIns="0" tIns="0" rIns="0" bIns="0" rtlCol="0" anchor="t"/>
          <a:lstStyle/>
          <a:p>
            <a:pPr algn="l" indent="0" marL="0">
              <a:lnSpc>
                <a:spcPts val="1000"/>
              </a:lnSpc>
              <a:buNone/>
            </a:pPr>
            <a:r>
              <a:rPr lang="en-US" sz="1000" b="1" dirty="0">
                <a:solidFill>
                  <a:srgbClr val="00144C"/>
                </a:solidFill>
                <a:latin typeface="Arial" pitchFamily="34" charset="0"/>
                <a:ea typeface="Arial" pitchFamily="34" charset="-122"/>
                <a:cs typeface="Arial" pitchFamily="34" charset="-120"/>
              </a:rPr>
              <a:t>IN ACTIVE DEVELOPMENT / CONTROLLED BY FEATURE-GATE</a:t>
            </a:r>
            <a:endParaRPr lang="en-US" sz="1000" dirty="0"/>
          </a:p>
        </p:txBody>
      </p:sp>
      <p:sp>
        <p:nvSpPr>
          <p:cNvPr id="5" name="Text 3"/>
          <p:cNvSpPr/>
          <p:nvPr/>
        </p:nvSpPr>
        <p:spPr>
          <a:xfrm>
            <a:off x="355550" y="1524000"/>
            <a:ext cx="3704793" cy="516731"/>
          </a:xfrm>
          <a:prstGeom prst="rect">
            <a:avLst/>
          </a:prstGeom>
          <a:noFill/>
          <a:ln/>
        </p:spPr>
        <p:txBody>
          <a:bodyPr wrap="square" lIns="0" tIns="0" rIns="0" bIns="0" rtlCol="0" anchor="t"/>
          <a:lstStyle/>
          <a:p>
            <a:pPr algn="l" indent="0" marL="0">
              <a:lnSpc>
                <a:spcPts val="2035"/>
              </a:lnSpc>
              <a:spcAft>
                <a:spcPts val="1100"/>
              </a:spcAft>
              <a:buNone/>
            </a:pPr>
            <a:r>
              <a:rPr lang="en-US" sz="1850" b="1" dirty="0">
                <a:solidFill>
                  <a:srgbClr val="052243"/>
                </a:solidFill>
                <a:latin typeface="Arial" pitchFamily="34" charset="0"/>
                <a:ea typeface="Arial" pitchFamily="34" charset="-122"/>
                <a:cs typeface="Arial" pitchFamily="34" charset="-120"/>
              </a:rPr>
              <a:t>Select a registry+v1 bundle by its OCI image reference.</a:t>
            </a:r>
            <a:endParaRPr lang="en-US" sz="1850" dirty="0"/>
          </a:p>
        </p:txBody>
      </p:sp>
      <p:sp>
        <p:nvSpPr>
          <p:cNvPr id="6" name="Text 4"/>
          <p:cNvSpPr/>
          <p:nvPr/>
        </p:nvSpPr>
        <p:spPr>
          <a:xfrm>
            <a:off x="355550" y="2180332"/>
            <a:ext cx="3632150" cy="891480"/>
          </a:xfrm>
          <a:prstGeom prst="rect">
            <a:avLst/>
          </a:prstGeom>
          <a:noFill/>
          <a:ln/>
        </p:spPr>
        <p:txBody>
          <a:bodyPr wrap="square" lIns="107950" tIns="0" rIns="0" bIns="0" rtlCol="0" anchor="t"/>
          <a:lstStyle/>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Use sourceType: OCIImage</a:t>
            </a:r>
            <a:endParaRPr lang="en-US" sz="1600" dirty="0"/>
          </a:p>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Set source.ociImage.ref</a:t>
            </a:r>
            <a:endParaRPr lang="en-US" sz="1600" dirty="0"/>
          </a:p>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Bypass catalog resolution</a:t>
            </a:r>
            <a:endParaRPr lang="en-US" sz="1600" dirty="0"/>
          </a:p>
        </p:txBody>
      </p:sp>
      <p:pic>
        <p:nvPicPr>
          <p:cNvPr id="7" name="Image 0" descr="/Users/jordan/Documents/devel/breadcrumbs/2026-kubecon-wip/dry-run/theme/assets/s05.png">    </p:cNvPr>
          <p:cNvPicPr>
            <a:picLocks noChangeAspect="1"/>
          </p:cNvPicPr>
          <p:nvPr/>
        </p:nvPicPr>
        <p:blipFill>
          <a:blip r:embed="rId1"/>
          <a:stretch>
            <a:fillRect/>
          </a:stretch>
        </p:blipFill>
        <p:spPr>
          <a:xfrm>
            <a:off x="4292501" y="1460450"/>
            <a:ext cx="4495800" cy="2997101"/>
          </a:xfrm>
          <a:prstGeom prst="rect">
            <a:avLst/>
          </a:prstGeom>
        </p:spPr>
      </p:pic>
      <p:sp>
        <p:nvSpPr>
          <p:cNvPr id="8" name="Text 5"/>
          <p:cNvSpPr/>
          <p:nvPr/>
        </p:nvSpPr>
        <p:spPr>
          <a:xfrm>
            <a:off x="1968401" y="4711601"/>
            <a:ext cx="6217920" cy="304800"/>
          </a:xfrm>
          <a:prstGeom prst="rect">
            <a:avLst/>
          </a:prstGeom>
          <a:noFill/>
          <a:ln/>
        </p:spPr>
        <p:txBody>
          <a:bodyPr wrap="square" lIns="0" tIns="0" rIns="0" bIns="0" rtlCol="0" anchor="t"/>
          <a:lstStyle/>
          <a:p>
            <a:pPr algn="l" indent="0" marL="0">
              <a:lnSpc>
                <a:spcPts val="1176"/>
              </a:lnSpc>
              <a:buNone/>
            </a:pPr>
            <a:r>
              <a:rPr lang="en-US" sz="1050" i="1" dirty="0">
                <a:solidFill>
                  <a:srgbClr val="052243"/>
                </a:solidFill>
                <a:latin typeface="Arial" pitchFamily="34" charset="0"/>
                <a:ea typeface="Arial" pitchFamily="34" charset="-122"/>
                <a:cs typeface="Arial" pitchFamily="34" charset="-120"/>
              </a:rPr>
              <a:t>Proposed in open PR #2907; controlled by BoxcutterRuntime.</a:t>
            </a:r>
            <a:endParaRPr lang="en-US" sz="1050" dirty="0"/>
          </a:p>
        </p:txBody>
      </p:sp>
      <p:sp>
        <p:nvSpPr>
          <p:cNvPr id="9" name="Text 6"/>
          <p:cNvSpPr/>
          <p:nvPr/>
        </p:nvSpPr>
        <p:spPr>
          <a:xfrm>
            <a:off x="8244233" y="4940201"/>
            <a:ext cx="544068" cy="107900"/>
          </a:xfrm>
          <a:prstGeom prst="rect">
            <a:avLst/>
          </a:prstGeom>
          <a:noFill/>
          <a:ln/>
        </p:spPr>
        <p:txBody>
          <a:bodyPr wrap="square" lIns="0" tIns="0" rIns="0" bIns="0" rtlCol="0" anchor="t"/>
          <a:lstStyle/>
          <a:p>
            <a:pPr algn="r" indent="0" marL="0">
              <a:lnSpc>
                <a:spcPts val="850"/>
              </a:lnSpc>
              <a:buNone/>
            </a:pPr>
            <a:r>
              <a:rPr lang="en-US" sz="850" dirty="0">
                <a:solidFill>
                  <a:srgbClr val="052243"/>
                </a:solidFill>
                <a:latin typeface="Arial" pitchFamily="34" charset="0"/>
                <a:ea typeface="Arial" pitchFamily="34" charset="-122"/>
                <a:cs typeface="Arial" pitchFamily="34" charset="-120"/>
              </a:rPr>
              <a:t>5 / 25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11646" y="444996"/>
            <a:ext cx="8601405" cy="507950"/>
          </a:xfrm>
          <a:prstGeom prst="rect">
            <a:avLst/>
          </a:prstGeom>
          <a:noFill/>
          <a:ln/>
        </p:spPr>
        <p:txBody>
          <a:bodyPr wrap="square" lIns="0" tIns="0" rIns="0" bIns="0" rtlCol="0" anchor="t"/>
          <a:lstStyle/>
          <a:p>
            <a:pPr algn="l" indent="0" marL="0">
              <a:lnSpc>
                <a:spcPts val="3192"/>
              </a:lnSpc>
              <a:buNone/>
            </a:pPr>
            <a:r>
              <a:rPr lang="en-US" sz="2800" b="1" dirty="0">
                <a:solidFill>
                  <a:srgbClr val="00144C"/>
                </a:solidFill>
                <a:latin typeface="Arial" pitchFamily="34" charset="0"/>
                <a:ea typeface="Arial" pitchFamily="34" charset="-122"/>
                <a:cs typeface="Arial" pitchFamily="34" charset="-120"/>
              </a:rPr>
              <a:t>Inspect phased resource rollouts</a:t>
            </a:r>
            <a:endParaRPr lang="en-US" sz="2800" dirty="0"/>
          </a:p>
        </p:txBody>
      </p:sp>
      <p:sp>
        <p:nvSpPr>
          <p:cNvPr id="3" name="Text 1"/>
          <p:cNvSpPr/>
          <p:nvPr/>
        </p:nvSpPr>
        <p:spPr>
          <a:xfrm>
            <a:off x="355550" y="1104900"/>
            <a:ext cx="4061371" cy="253752"/>
          </a:xfrm>
          <a:prstGeom prst="rect">
            <a:avLst/>
          </a:prstGeom>
          <a:solidFill>
            <a:srgbClr val="E3F6FF"/>
          </a:solidFill>
          <a:ln/>
        </p:spPr>
        <p:txBody>
          <a:bodyPr wrap="square" rtlCol="0" anchor="ctr"/>
          <a:lstStyle/>
          <a:p>
            <a:pPr indent="0" marL="0">
              <a:buNone/>
            </a:pPr>
            <a:endParaRPr lang="en-US" dirty="0"/>
          </a:p>
        </p:txBody>
      </p:sp>
      <p:sp>
        <p:nvSpPr>
          <p:cNvPr id="4" name="Text 2"/>
          <p:cNvSpPr/>
          <p:nvPr/>
        </p:nvSpPr>
        <p:spPr>
          <a:xfrm>
            <a:off x="469850" y="1168301"/>
            <a:ext cx="3909426" cy="126950"/>
          </a:xfrm>
          <a:prstGeom prst="rect">
            <a:avLst/>
          </a:prstGeom>
          <a:noFill/>
          <a:ln/>
        </p:spPr>
        <p:txBody>
          <a:bodyPr wrap="square" lIns="0" tIns="0" rIns="0" bIns="0" rtlCol="0" anchor="t"/>
          <a:lstStyle/>
          <a:p>
            <a:pPr algn="l" indent="0" marL="0">
              <a:lnSpc>
                <a:spcPts val="1000"/>
              </a:lnSpc>
              <a:buNone/>
            </a:pPr>
            <a:r>
              <a:rPr lang="en-US" sz="1000" b="1" dirty="0">
                <a:solidFill>
                  <a:srgbClr val="00144C"/>
                </a:solidFill>
                <a:latin typeface="Arial" pitchFamily="34" charset="0"/>
                <a:ea typeface="Arial" pitchFamily="34" charset="-122"/>
                <a:cs typeface="Arial" pitchFamily="34" charset="-120"/>
              </a:rPr>
              <a:t>IN ACTIVE DEVELOPMENT / CONTROLLED BY FEATURE-GATE</a:t>
            </a:r>
            <a:endParaRPr lang="en-US" sz="1000" dirty="0"/>
          </a:p>
        </p:txBody>
      </p:sp>
      <p:sp>
        <p:nvSpPr>
          <p:cNvPr id="5" name="Text 3"/>
          <p:cNvSpPr/>
          <p:nvPr/>
        </p:nvSpPr>
        <p:spPr>
          <a:xfrm>
            <a:off x="355550" y="1524000"/>
            <a:ext cx="3704793" cy="775097"/>
          </a:xfrm>
          <a:prstGeom prst="rect">
            <a:avLst/>
          </a:prstGeom>
          <a:noFill/>
          <a:ln/>
        </p:spPr>
        <p:txBody>
          <a:bodyPr wrap="square" lIns="0" tIns="0" rIns="0" bIns="0" rtlCol="0" anchor="t"/>
          <a:lstStyle/>
          <a:p>
            <a:pPr algn="l" indent="0" marL="0">
              <a:lnSpc>
                <a:spcPts val="2035"/>
              </a:lnSpc>
              <a:spcAft>
                <a:spcPts val="1100"/>
              </a:spcAft>
              <a:buNone/>
            </a:pPr>
            <a:r>
              <a:rPr lang="en-US" sz="1850" b="1" dirty="0">
                <a:solidFill>
                  <a:srgbClr val="052243"/>
                </a:solidFill>
                <a:latin typeface="Arial" pitchFamily="34" charset="0"/>
                <a:ea typeface="Arial" pitchFamily="34" charset="-122"/>
                <a:cs typeface="Arial" pitchFamily="34" charset="-120"/>
              </a:rPr>
              <a:t>Ordered phases expose resource application and readiness progress.</a:t>
            </a:r>
            <a:endParaRPr lang="en-US" sz="1850" dirty="0"/>
          </a:p>
        </p:txBody>
      </p:sp>
      <p:sp>
        <p:nvSpPr>
          <p:cNvPr id="6" name="Text 4"/>
          <p:cNvSpPr/>
          <p:nvPr/>
        </p:nvSpPr>
        <p:spPr>
          <a:xfrm>
            <a:off x="355550" y="2438698"/>
            <a:ext cx="3632150" cy="1120973"/>
          </a:xfrm>
          <a:prstGeom prst="rect">
            <a:avLst/>
          </a:prstGeom>
          <a:noFill/>
          <a:ln/>
        </p:spPr>
        <p:txBody>
          <a:bodyPr wrap="square" lIns="107950" tIns="0" rIns="0" bIns="0" rtlCol="0" anchor="t"/>
          <a:lstStyle/>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Apply resource groups in phase order</a:t>
            </a:r>
            <a:endParaRPr lang="en-US" sz="1600" dirty="0"/>
          </a:p>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Wait for applicable readiness checks</a:t>
            </a:r>
            <a:endParaRPr lang="en-US" sz="1600" dirty="0"/>
          </a:p>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Inspect revision content and ownership changes</a:t>
            </a:r>
            <a:endParaRPr lang="en-US" sz="1600" dirty="0"/>
          </a:p>
        </p:txBody>
      </p:sp>
      <p:pic>
        <p:nvPicPr>
          <p:cNvPr id="7" name="Image 0" descr="/Users/jordan/Documents/devel/breadcrumbs/2026-kubecon-wip/dry-run/theme/assets/s06.png">    </p:cNvPr>
          <p:cNvPicPr>
            <a:picLocks noChangeAspect="1"/>
          </p:cNvPicPr>
          <p:nvPr/>
        </p:nvPicPr>
        <p:blipFill>
          <a:blip r:embed="rId1"/>
          <a:stretch>
            <a:fillRect/>
          </a:stretch>
        </p:blipFill>
        <p:spPr>
          <a:xfrm>
            <a:off x="4292501" y="1460450"/>
            <a:ext cx="4495800" cy="2997101"/>
          </a:xfrm>
          <a:prstGeom prst="rect">
            <a:avLst/>
          </a:prstGeom>
        </p:spPr>
      </p:pic>
      <p:sp>
        <p:nvSpPr>
          <p:cNvPr id="8" name="Text 5"/>
          <p:cNvSpPr/>
          <p:nvPr/>
        </p:nvSpPr>
        <p:spPr>
          <a:xfrm>
            <a:off x="1968401" y="4711601"/>
            <a:ext cx="6217920" cy="304800"/>
          </a:xfrm>
          <a:prstGeom prst="rect">
            <a:avLst/>
          </a:prstGeom>
          <a:noFill/>
          <a:ln/>
        </p:spPr>
        <p:txBody>
          <a:bodyPr wrap="square" lIns="0" tIns="0" rIns="0" bIns="0" rtlCol="0" anchor="t"/>
          <a:lstStyle/>
          <a:p>
            <a:pPr algn="l" indent="0" marL="0">
              <a:lnSpc>
                <a:spcPts val="1176"/>
              </a:lnSpc>
              <a:buNone/>
            </a:pPr>
            <a:r>
              <a:rPr lang="en-US" sz="1050" i="1" dirty="0">
                <a:solidFill>
                  <a:srgbClr val="052243"/>
                </a:solidFill>
                <a:latin typeface="Arial" pitchFamily="34" charset="0"/>
                <a:ea typeface="Arial" pitchFamily="34" charset="-122"/>
                <a:cs typeface="Arial" pitchFamily="34" charset="-120"/>
              </a:rPr>
              <a:t>Readiness checks show which phase is waiting.</a:t>
            </a:r>
            <a:endParaRPr lang="en-US" sz="1050" dirty="0"/>
          </a:p>
        </p:txBody>
      </p:sp>
      <p:sp>
        <p:nvSpPr>
          <p:cNvPr id="9" name="Text 6"/>
          <p:cNvSpPr/>
          <p:nvPr/>
        </p:nvSpPr>
        <p:spPr>
          <a:xfrm>
            <a:off x="8244233" y="4940201"/>
            <a:ext cx="544068" cy="107900"/>
          </a:xfrm>
          <a:prstGeom prst="rect">
            <a:avLst/>
          </a:prstGeom>
          <a:noFill/>
          <a:ln/>
        </p:spPr>
        <p:txBody>
          <a:bodyPr wrap="square" lIns="0" tIns="0" rIns="0" bIns="0" rtlCol="0" anchor="t"/>
          <a:lstStyle/>
          <a:p>
            <a:pPr algn="r" indent="0" marL="0">
              <a:lnSpc>
                <a:spcPts val="850"/>
              </a:lnSpc>
              <a:buNone/>
            </a:pPr>
            <a:r>
              <a:rPr lang="en-US" sz="850" dirty="0">
                <a:solidFill>
                  <a:srgbClr val="052243"/>
                </a:solidFill>
                <a:latin typeface="Arial" pitchFamily="34" charset="0"/>
                <a:ea typeface="Arial" pitchFamily="34" charset="-122"/>
                <a:cs typeface="Arial" pitchFamily="34" charset="-120"/>
              </a:rPr>
              <a:t>6 / 25</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11646" y="444996"/>
            <a:ext cx="8601405" cy="507950"/>
          </a:xfrm>
          <a:prstGeom prst="rect">
            <a:avLst/>
          </a:prstGeom>
          <a:noFill/>
          <a:ln/>
        </p:spPr>
        <p:txBody>
          <a:bodyPr wrap="square" lIns="0" tIns="0" rIns="0" bIns="0" rtlCol="0" anchor="t"/>
          <a:lstStyle/>
          <a:p>
            <a:pPr algn="l" indent="0" marL="0">
              <a:lnSpc>
                <a:spcPts val="3192"/>
              </a:lnSpc>
              <a:buNone/>
            </a:pPr>
            <a:r>
              <a:rPr lang="en-US" sz="2800" b="1" dirty="0">
                <a:solidFill>
                  <a:srgbClr val="00144C"/>
                </a:solidFill>
                <a:latin typeface="Arial" pitchFamily="34" charset="0"/>
                <a:ea typeface="Arial" pitchFamily="34" charset="-122"/>
                <a:cs typeface="Arial" pitchFamily="34" charset="-120"/>
              </a:rPr>
              <a:t>User control of extension deployments</a:t>
            </a:r>
            <a:endParaRPr lang="en-US" sz="2800" dirty="0"/>
          </a:p>
        </p:txBody>
      </p:sp>
      <p:sp>
        <p:nvSpPr>
          <p:cNvPr id="3" name="Text 1"/>
          <p:cNvSpPr/>
          <p:nvPr/>
        </p:nvSpPr>
        <p:spPr>
          <a:xfrm>
            <a:off x="355550" y="1104900"/>
            <a:ext cx="4061371" cy="253752"/>
          </a:xfrm>
          <a:prstGeom prst="rect">
            <a:avLst/>
          </a:prstGeom>
          <a:solidFill>
            <a:srgbClr val="E3F6FF"/>
          </a:solidFill>
          <a:ln/>
        </p:spPr>
        <p:txBody>
          <a:bodyPr wrap="square" rtlCol="0" anchor="ctr"/>
          <a:lstStyle/>
          <a:p>
            <a:pPr indent="0" marL="0">
              <a:buNone/>
            </a:pPr>
            <a:endParaRPr lang="en-US" dirty="0"/>
          </a:p>
        </p:txBody>
      </p:sp>
      <p:sp>
        <p:nvSpPr>
          <p:cNvPr id="4" name="Text 2"/>
          <p:cNvSpPr/>
          <p:nvPr/>
        </p:nvSpPr>
        <p:spPr>
          <a:xfrm>
            <a:off x="469850" y="1168301"/>
            <a:ext cx="3909426" cy="126950"/>
          </a:xfrm>
          <a:prstGeom prst="rect">
            <a:avLst/>
          </a:prstGeom>
          <a:noFill/>
          <a:ln/>
        </p:spPr>
        <p:txBody>
          <a:bodyPr wrap="square" lIns="0" tIns="0" rIns="0" bIns="0" rtlCol="0" anchor="t"/>
          <a:lstStyle/>
          <a:p>
            <a:pPr algn="l" indent="0" marL="0">
              <a:lnSpc>
                <a:spcPts val="1000"/>
              </a:lnSpc>
              <a:buNone/>
            </a:pPr>
            <a:r>
              <a:rPr lang="en-US" sz="1000" b="1" dirty="0">
                <a:solidFill>
                  <a:srgbClr val="00144C"/>
                </a:solidFill>
                <a:latin typeface="Arial" pitchFamily="34" charset="0"/>
                <a:ea typeface="Arial" pitchFamily="34" charset="-122"/>
                <a:cs typeface="Arial" pitchFamily="34" charset="-120"/>
              </a:rPr>
              <a:t>IN ACTIVE DEVELOPMENT / CONTROLLED BY FEATURE-GATE</a:t>
            </a:r>
            <a:endParaRPr lang="en-US" sz="1000" dirty="0"/>
          </a:p>
        </p:txBody>
      </p:sp>
      <p:sp>
        <p:nvSpPr>
          <p:cNvPr id="5" name="Text 3"/>
          <p:cNvSpPr/>
          <p:nvPr/>
        </p:nvSpPr>
        <p:spPr>
          <a:xfrm>
            <a:off x="355550" y="1524000"/>
            <a:ext cx="3704793" cy="516731"/>
          </a:xfrm>
          <a:prstGeom prst="rect">
            <a:avLst/>
          </a:prstGeom>
          <a:noFill/>
          <a:ln/>
        </p:spPr>
        <p:txBody>
          <a:bodyPr wrap="square" lIns="0" tIns="0" rIns="0" bIns="0" rtlCol="0" anchor="t"/>
          <a:lstStyle/>
          <a:p>
            <a:pPr algn="l" indent="0" marL="0">
              <a:lnSpc>
                <a:spcPts val="2035"/>
              </a:lnSpc>
              <a:spcAft>
                <a:spcPts val="1100"/>
              </a:spcAft>
              <a:buNone/>
            </a:pPr>
            <a:r>
              <a:rPr lang="en-US" sz="1850" b="1" dirty="0">
                <a:solidFill>
                  <a:srgbClr val="052243"/>
                </a:solidFill>
                <a:latin typeface="Arial" pitchFamily="34" charset="0"/>
                <a:ea typeface="Arial" pitchFamily="34" charset="-122"/>
                <a:cs typeface="Arial" pitchFamily="34" charset="-120"/>
              </a:rPr>
              <a:t>Flexible user-defined deployment configuration.</a:t>
            </a:r>
            <a:endParaRPr lang="en-US" sz="1850" dirty="0"/>
          </a:p>
        </p:txBody>
      </p:sp>
      <p:sp>
        <p:nvSpPr>
          <p:cNvPr id="6" name="Text 4"/>
          <p:cNvSpPr/>
          <p:nvPr/>
        </p:nvSpPr>
        <p:spPr>
          <a:xfrm>
            <a:off x="355550" y="2180332"/>
            <a:ext cx="3632150" cy="1579959"/>
          </a:xfrm>
          <a:prstGeom prst="rect">
            <a:avLst/>
          </a:prstGeom>
          <a:noFill/>
          <a:ln/>
        </p:spPr>
        <p:txBody>
          <a:bodyPr wrap="square" lIns="107950" tIns="0" rIns="0" bIns="0" rtlCol="0" anchor="t"/>
          <a:lstStyle/>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Environment variables and resource settings</a:t>
            </a:r>
            <a:endParaRPr lang="en-US" sz="1600" dirty="0"/>
          </a:p>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Placement, volumes and deployment metadata</a:t>
            </a:r>
            <a:endParaRPr lang="en-US" sz="1600" dirty="0"/>
          </a:p>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Operator-provided configuration and schemas</a:t>
            </a:r>
            <a:endParaRPr lang="en-US" sz="1600" dirty="0"/>
          </a:p>
        </p:txBody>
      </p:sp>
      <p:pic>
        <p:nvPicPr>
          <p:cNvPr id="7" name="Image 0" descr="/Users/jordan/Documents/devel/breadcrumbs/2026-kubecon-wip/dry-run/theme/assets/s07.png">    </p:cNvPr>
          <p:cNvPicPr>
            <a:picLocks noChangeAspect="1"/>
          </p:cNvPicPr>
          <p:nvPr/>
        </p:nvPicPr>
        <p:blipFill>
          <a:blip r:embed="rId1"/>
          <a:stretch>
            <a:fillRect/>
          </a:stretch>
        </p:blipFill>
        <p:spPr>
          <a:xfrm>
            <a:off x="4292501" y="1460450"/>
            <a:ext cx="4495800" cy="2997101"/>
          </a:xfrm>
          <a:prstGeom prst="rect">
            <a:avLst/>
          </a:prstGeom>
        </p:spPr>
      </p:pic>
      <p:sp>
        <p:nvSpPr>
          <p:cNvPr id="8" name="Text 5"/>
          <p:cNvSpPr/>
          <p:nvPr/>
        </p:nvSpPr>
        <p:spPr>
          <a:xfrm>
            <a:off x="1968401" y="4711601"/>
            <a:ext cx="6217920" cy="304800"/>
          </a:xfrm>
          <a:prstGeom prst="rect">
            <a:avLst/>
          </a:prstGeom>
          <a:noFill/>
          <a:ln/>
        </p:spPr>
        <p:txBody>
          <a:bodyPr wrap="square" lIns="0" tIns="0" rIns="0" bIns="0" rtlCol="0" anchor="t"/>
          <a:lstStyle/>
          <a:p>
            <a:pPr algn="l" indent="0" marL="0">
              <a:lnSpc>
                <a:spcPts val="1176"/>
              </a:lnSpc>
              <a:buNone/>
            </a:pPr>
            <a:r>
              <a:rPr lang="en-US" sz="1050" i="1" dirty="0">
                <a:solidFill>
                  <a:srgbClr val="052243"/>
                </a:solidFill>
                <a:latin typeface="Arial" pitchFamily="34" charset="0"/>
                <a:ea typeface="Arial" pitchFamily="34" charset="-122"/>
                <a:cs typeface="Arial" pitchFamily="34" charset="-120"/>
              </a:rPr>
              <a:t>OLM applies user choices through operator configuration.</a:t>
            </a:r>
            <a:endParaRPr lang="en-US" sz="1050" dirty="0"/>
          </a:p>
        </p:txBody>
      </p:sp>
      <p:sp>
        <p:nvSpPr>
          <p:cNvPr id="9" name="Text 6"/>
          <p:cNvSpPr/>
          <p:nvPr/>
        </p:nvSpPr>
        <p:spPr>
          <a:xfrm>
            <a:off x="8244233" y="4940201"/>
            <a:ext cx="544068" cy="107900"/>
          </a:xfrm>
          <a:prstGeom prst="rect">
            <a:avLst/>
          </a:prstGeom>
          <a:noFill/>
          <a:ln/>
        </p:spPr>
        <p:txBody>
          <a:bodyPr wrap="square" lIns="0" tIns="0" rIns="0" bIns="0" rtlCol="0" anchor="t"/>
          <a:lstStyle/>
          <a:p>
            <a:pPr algn="r" indent="0" marL="0">
              <a:lnSpc>
                <a:spcPts val="850"/>
              </a:lnSpc>
              <a:buNone/>
            </a:pPr>
            <a:r>
              <a:rPr lang="en-US" sz="850" dirty="0">
                <a:solidFill>
                  <a:srgbClr val="052243"/>
                </a:solidFill>
                <a:latin typeface="Arial" pitchFamily="34" charset="0"/>
                <a:ea typeface="Arial" pitchFamily="34" charset="-122"/>
                <a:cs typeface="Arial" pitchFamily="34" charset="-120"/>
              </a:rPr>
              <a:t>7 / 25</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11646" y="444996"/>
            <a:ext cx="8601405" cy="507950"/>
          </a:xfrm>
          <a:prstGeom prst="rect">
            <a:avLst/>
          </a:prstGeom>
          <a:noFill/>
          <a:ln/>
        </p:spPr>
        <p:txBody>
          <a:bodyPr wrap="square" lIns="0" tIns="0" rIns="0" bIns="0" rtlCol="0" anchor="t"/>
          <a:lstStyle/>
          <a:p>
            <a:pPr algn="l" indent="0" marL="0">
              <a:lnSpc>
                <a:spcPts val="3192"/>
              </a:lnSpc>
              <a:buNone/>
            </a:pPr>
            <a:r>
              <a:rPr lang="en-US" sz="2800" b="1" dirty="0">
                <a:solidFill>
                  <a:srgbClr val="00144C"/>
                </a:solidFill>
                <a:latin typeface="Arial" pitchFamily="34" charset="0"/>
                <a:ea typeface="Arial" pitchFamily="34" charset="-122"/>
                <a:cs typeface="Arial" pitchFamily="34" charset="-120"/>
              </a:rPr>
              <a:t>OLMv0 → OLMv1 migration</a:t>
            </a:r>
            <a:endParaRPr lang="en-US" sz="2800" dirty="0"/>
          </a:p>
        </p:txBody>
      </p:sp>
      <p:sp>
        <p:nvSpPr>
          <p:cNvPr id="3" name="Text 1"/>
          <p:cNvSpPr/>
          <p:nvPr/>
        </p:nvSpPr>
        <p:spPr>
          <a:xfrm>
            <a:off x="355550" y="1104900"/>
            <a:ext cx="1853505" cy="253752"/>
          </a:xfrm>
          <a:prstGeom prst="rect">
            <a:avLst/>
          </a:prstGeom>
          <a:solidFill>
            <a:srgbClr val="E3F6FF"/>
          </a:solidFill>
          <a:ln/>
        </p:spPr>
        <p:txBody>
          <a:bodyPr wrap="square" rtlCol="0" anchor="ctr"/>
          <a:lstStyle/>
          <a:p>
            <a:pPr indent="0" marL="0">
              <a:buNone/>
            </a:pPr>
            <a:endParaRPr lang="en-US" dirty="0"/>
          </a:p>
        </p:txBody>
      </p:sp>
      <p:sp>
        <p:nvSpPr>
          <p:cNvPr id="4" name="Text 2"/>
          <p:cNvSpPr/>
          <p:nvPr/>
        </p:nvSpPr>
        <p:spPr>
          <a:xfrm>
            <a:off x="469850" y="1168301"/>
            <a:ext cx="1657404" cy="126950"/>
          </a:xfrm>
          <a:prstGeom prst="rect">
            <a:avLst/>
          </a:prstGeom>
          <a:noFill/>
          <a:ln/>
        </p:spPr>
        <p:txBody>
          <a:bodyPr wrap="square" lIns="0" tIns="0" rIns="0" bIns="0" rtlCol="0" anchor="t"/>
          <a:lstStyle/>
          <a:p>
            <a:pPr algn="l" indent="0" marL="0">
              <a:lnSpc>
                <a:spcPts val="1000"/>
              </a:lnSpc>
              <a:buNone/>
            </a:pPr>
            <a:r>
              <a:rPr lang="en-US" sz="1000" b="1" dirty="0">
                <a:solidFill>
                  <a:srgbClr val="00144C"/>
                </a:solidFill>
                <a:latin typeface="Arial" pitchFamily="34" charset="0"/>
                <a:ea typeface="Arial" pitchFamily="34" charset="-122"/>
                <a:cs typeface="Arial" pitchFamily="34" charset="-120"/>
              </a:rPr>
              <a:t>IN ACTIVE DEVELOPMENT</a:t>
            </a:r>
            <a:endParaRPr lang="en-US" sz="1000" dirty="0"/>
          </a:p>
        </p:txBody>
      </p:sp>
      <p:sp>
        <p:nvSpPr>
          <p:cNvPr id="5" name="Text 3"/>
          <p:cNvSpPr/>
          <p:nvPr/>
        </p:nvSpPr>
        <p:spPr>
          <a:xfrm>
            <a:off x="355550" y="1524000"/>
            <a:ext cx="3704793" cy="516731"/>
          </a:xfrm>
          <a:prstGeom prst="rect">
            <a:avLst/>
          </a:prstGeom>
          <a:noFill/>
          <a:ln/>
        </p:spPr>
        <p:txBody>
          <a:bodyPr wrap="square" lIns="0" tIns="0" rIns="0" bIns="0" rtlCol="0" anchor="t"/>
          <a:lstStyle/>
          <a:p>
            <a:pPr algn="l" indent="0" marL="0">
              <a:lnSpc>
                <a:spcPts val="2035"/>
              </a:lnSpc>
              <a:spcAft>
                <a:spcPts val="1100"/>
              </a:spcAft>
              <a:buNone/>
            </a:pPr>
            <a:r>
              <a:rPr lang="en-US" sz="1850" b="1" dirty="0">
                <a:solidFill>
                  <a:srgbClr val="052243"/>
                </a:solidFill>
                <a:latin typeface="Arial" pitchFamily="34" charset="0"/>
                <a:ea typeface="Arial" pitchFamily="34" charset="-122"/>
                <a:cs typeface="Arial" pitchFamily="34" charset="-120"/>
              </a:rPr>
              <a:t>Move operator management from OLMv0 to OLMv1.</a:t>
            </a:r>
            <a:endParaRPr lang="en-US" sz="1850" dirty="0"/>
          </a:p>
        </p:txBody>
      </p:sp>
      <p:sp>
        <p:nvSpPr>
          <p:cNvPr id="6" name="Text 4"/>
          <p:cNvSpPr/>
          <p:nvPr/>
        </p:nvSpPr>
        <p:spPr>
          <a:xfrm>
            <a:off x="355550" y="2180332"/>
            <a:ext cx="3632150" cy="1579959"/>
          </a:xfrm>
          <a:prstGeom prst="rect">
            <a:avLst/>
          </a:prstGeom>
          <a:noFill/>
          <a:ln/>
        </p:spPr>
        <p:txBody>
          <a:bodyPr wrap="square" lIns="107950" tIns="0" rIns="0" bIns="0" rtlCol="0" anchor="t"/>
          <a:lstStyle/>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Prepare v1 catalogs from v0 CatalogSources</a:t>
            </a:r>
            <a:endParaRPr lang="en-US" sz="1600" dirty="0"/>
          </a:p>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Check and preview operator migrations</a:t>
            </a:r>
            <a:endParaRPr lang="en-US" sz="1600" dirty="0"/>
          </a:p>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Migration library with example binaries</a:t>
            </a:r>
            <a:endParaRPr lang="en-US" sz="1600" dirty="0"/>
          </a:p>
        </p:txBody>
      </p:sp>
      <p:pic>
        <p:nvPicPr>
          <p:cNvPr id="7" name="Image 0" descr="/Users/jordan/Documents/devel/breadcrumbs/2026-kubecon-wip/dry-run/theme/assets/s08.png">    </p:cNvPr>
          <p:cNvPicPr>
            <a:picLocks noChangeAspect="1"/>
          </p:cNvPicPr>
          <p:nvPr/>
        </p:nvPicPr>
        <p:blipFill>
          <a:blip r:embed="rId1"/>
          <a:stretch>
            <a:fillRect/>
          </a:stretch>
        </p:blipFill>
        <p:spPr>
          <a:xfrm>
            <a:off x="4292501" y="1460450"/>
            <a:ext cx="4495800" cy="2997101"/>
          </a:xfrm>
          <a:prstGeom prst="rect">
            <a:avLst/>
          </a:prstGeom>
        </p:spPr>
      </p:pic>
      <p:sp>
        <p:nvSpPr>
          <p:cNvPr id="8" name="Text 5"/>
          <p:cNvSpPr/>
          <p:nvPr/>
        </p:nvSpPr>
        <p:spPr>
          <a:xfrm>
            <a:off x="1968401" y="4711601"/>
            <a:ext cx="6217920" cy="304800"/>
          </a:xfrm>
          <a:prstGeom prst="rect">
            <a:avLst/>
          </a:prstGeom>
          <a:noFill/>
          <a:ln/>
        </p:spPr>
        <p:txBody>
          <a:bodyPr wrap="square" lIns="0" tIns="0" rIns="0" bIns="0" rtlCol="0" anchor="t"/>
          <a:lstStyle/>
          <a:p>
            <a:pPr algn="l" indent="0" marL="0">
              <a:lnSpc>
                <a:spcPts val="1176"/>
              </a:lnSpc>
              <a:buNone/>
            </a:pPr>
            <a:r>
              <a:rPr lang="en-US" sz="1050" i="1" dirty="0">
                <a:solidFill>
                  <a:srgbClr val="052243"/>
                </a:solidFill>
                <a:latin typeface="Arial" pitchFamily="34" charset="0"/>
                <a:ea typeface="Arial" pitchFamily="34" charset="-122"/>
                <a:cs typeface="Arial" pitchFamily="34" charset="-120"/>
              </a:rPr>
              <a:t>Structured output supports automation and models.</a:t>
            </a:r>
            <a:endParaRPr lang="en-US" sz="1050" dirty="0"/>
          </a:p>
        </p:txBody>
      </p:sp>
      <p:sp>
        <p:nvSpPr>
          <p:cNvPr id="9" name="Text 6"/>
          <p:cNvSpPr/>
          <p:nvPr/>
        </p:nvSpPr>
        <p:spPr>
          <a:xfrm>
            <a:off x="8244233" y="4940201"/>
            <a:ext cx="544068" cy="107900"/>
          </a:xfrm>
          <a:prstGeom prst="rect">
            <a:avLst/>
          </a:prstGeom>
          <a:noFill/>
          <a:ln/>
        </p:spPr>
        <p:txBody>
          <a:bodyPr wrap="square" lIns="0" tIns="0" rIns="0" bIns="0" rtlCol="0" anchor="t"/>
          <a:lstStyle/>
          <a:p>
            <a:pPr algn="r" indent="0" marL="0">
              <a:lnSpc>
                <a:spcPts val="850"/>
              </a:lnSpc>
              <a:buNone/>
            </a:pPr>
            <a:r>
              <a:rPr lang="en-US" sz="850" dirty="0">
                <a:solidFill>
                  <a:srgbClr val="052243"/>
                </a:solidFill>
                <a:latin typeface="Arial" pitchFamily="34" charset="0"/>
                <a:ea typeface="Arial" pitchFamily="34" charset="-122"/>
                <a:cs typeface="Arial" pitchFamily="34" charset="-120"/>
              </a:rPr>
              <a:t>8 / 25</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11646" y="444996"/>
            <a:ext cx="8601405" cy="507950"/>
          </a:xfrm>
          <a:prstGeom prst="rect">
            <a:avLst/>
          </a:prstGeom>
          <a:noFill/>
          <a:ln/>
        </p:spPr>
        <p:txBody>
          <a:bodyPr wrap="square" lIns="0" tIns="0" rIns="0" bIns="0" rtlCol="0" anchor="t"/>
          <a:lstStyle/>
          <a:p>
            <a:pPr algn="l" indent="0" marL="0">
              <a:lnSpc>
                <a:spcPts val="3192"/>
              </a:lnSpc>
              <a:buNone/>
            </a:pPr>
            <a:r>
              <a:rPr lang="en-US" sz="2800" b="1" dirty="0">
                <a:solidFill>
                  <a:srgbClr val="00144C"/>
                </a:solidFill>
                <a:latin typeface="Arial" pitchFamily="34" charset="0"/>
                <a:ea typeface="Arial" pitchFamily="34" charset="-122"/>
                <a:cs typeface="Arial" pitchFamily="34" charset="-120"/>
              </a:rPr>
              <a:t>Shared lifecycle logic in library-olm</a:t>
            </a:r>
            <a:endParaRPr lang="en-US" sz="2800" dirty="0"/>
          </a:p>
        </p:txBody>
      </p:sp>
      <p:sp>
        <p:nvSpPr>
          <p:cNvPr id="3" name="Text 1"/>
          <p:cNvSpPr/>
          <p:nvPr/>
        </p:nvSpPr>
        <p:spPr>
          <a:xfrm>
            <a:off x="355550" y="1104900"/>
            <a:ext cx="1853505" cy="253752"/>
          </a:xfrm>
          <a:prstGeom prst="rect">
            <a:avLst/>
          </a:prstGeom>
          <a:solidFill>
            <a:srgbClr val="E3F6FF"/>
          </a:solidFill>
          <a:ln/>
        </p:spPr>
        <p:txBody>
          <a:bodyPr wrap="square" rtlCol="0" anchor="ctr"/>
          <a:lstStyle/>
          <a:p>
            <a:pPr indent="0" marL="0">
              <a:buNone/>
            </a:pPr>
            <a:endParaRPr lang="en-US" dirty="0"/>
          </a:p>
        </p:txBody>
      </p:sp>
      <p:sp>
        <p:nvSpPr>
          <p:cNvPr id="4" name="Text 2"/>
          <p:cNvSpPr/>
          <p:nvPr/>
        </p:nvSpPr>
        <p:spPr>
          <a:xfrm>
            <a:off x="469850" y="1168301"/>
            <a:ext cx="1657404" cy="126950"/>
          </a:xfrm>
          <a:prstGeom prst="rect">
            <a:avLst/>
          </a:prstGeom>
          <a:noFill/>
          <a:ln/>
        </p:spPr>
        <p:txBody>
          <a:bodyPr wrap="square" lIns="0" tIns="0" rIns="0" bIns="0" rtlCol="0" anchor="t"/>
          <a:lstStyle/>
          <a:p>
            <a:pPr algn="l" indent="0" marL="0">
              <a:lnSpc>
                <a:spcPts val="1000"/>
              </a:lnSpc>
              <a:buNone/>
            </a:pPr>
            <a:r>
              <a:rPr lang="en-US" sz="1000" b="1" dirty="0">
                <a:solidFill>
                  <a:srgbClr val="00144C"/>
                </a:solidFill>
                <a:latin typeface="Arial" pitchFamily="34" charset="0"/>
                <a:ea typeface="Arial" pitchFamily="34" charset="-122"/>
                <a:cs typeface="Arial" pitchFamily="34" charset="-120"/>
              </a:rPr>
              <a:t>IN ACTIVE DEVELOPMENT</a:t>
            </a:r>
            <a:endParaRPr lang="en-US" sz="1000" dirty="0"/>
          </a:p>
        </p:txBody>
      </p:sp>
      <p:sp>
        <p:nvSpPr>
          <p:cNvPr id="5" name="Text 3"/>
          <p:cNvSpPr/>
          <p:nvPr/>
        </p:nvSpPr>
        <p:spPr>
          <a:xfrm>
            <a:off x="355550" y="1524000"/>
            <a:ext cx="3704793" cy="516731"/>
          </a:xfrm>
          <a:prstGeom prst="rect">
            <a:avLst/>
          </a:prstGeom>
          <a:noFill/>
          <a:ln/>
        </p:spPr>
        <p:txBody>
          <a:bodyPr wrap="square" lIns="0" tIns="0" rIns="0" bIns="0" rtlCol="0" anchor="t"/>
          <a:lstStyle/>
          <a:p>
            <a:pPr algn="l" indent="0" marL="0">
              <a:lnSpc>
                <a:spcPts val="2035"/>
              </a:lnSpc>
              <a:spcAft>
                <a:spcPts val="1100"/>
              </a:spcAft>
              <a:buNone/>
            </a:pPr>
            <a:r>
              <a:rPr lang="en-US" sz="1850" b="1" dirty="0">
                <a:solidFill>
                  <a:srgbClr val="052243"/>
                </a:solidFill>
                <a:latin typeface="Arial" pitchFamily="34" charset="0"/>
                <a:ea typeface="Arial" pitchFamily="34" charset="-122"/>
                <a:cs typeface="Arial" pitchFamily="34" charset="-120"/>
              </a:rPr>
              <a:t>Reuse lifecycle logic through a library with explicit contracts.</a:t>
            </a:r>
            <a:endParaRPr lang="en-US" sz="1850" dirty="0"/>
          </a:p>
        </p:txBody>
      </p:sp>
      <p:sp>
        <p:nvSpPr>
          <p:cNvPr id="6" name="Text 4"/>
          <p:cNvSpPr/>
          <p:nvPr/>
        </p:nvSpPr>
        <p:spPr>
          <a:xfrm>
            <a:off x="355550" y="2180332"/>
            <a:ext cx="3632150" cy="1579959"/>
          </a:xfrm>
          <a:prstGeom prst="rect">
            <a:avLst/>
          </a:prstGeom>
          <a:noFill/>
          <a:ln/>
        </p:spPr>
        <p:txBody>
          <a:bodyPr wrap="square" lIns="107950" tIns="0" rIns="0" bIns="0" rtlCol="0" anchor="t"/>
          <a:lstStyle/>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Share migration checks and workflow logic</a:t>
            </a:r>
            <a:endParaRPr lang="en-US" sz="1600" dirty="0"/>
          </a:p>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Exercise current development examples</a:t>
            </a:r>
            <a:endParaRPr lang="en-US" sz="1600" dirty="0"/>
          </a:p>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Record expected results in reusable fixtures</a:t>
            </a:r>
            <a:endParaRPr lang="en-US" sz="1600" dirty="0"/>
          </a:p>
        </p:txBody>
      </p:sp>
      <p:pic>
        <p:nvPicPr>
          <p:cNvPr id="7" name="Image 0" descr="/Users/jordan/Documents/devel/breadcrumbs/2026-kubecon-wip/dry-run/theme/assets/s09.png">    </p:cNvPr>
          <p:cNvPicPr>
            <a:picLocks noChangeAspect="1"/>
          </p:cNvPicPr>
          <p:nvPr/>
        </p:nvPicPr>
        <p:blipFill>
          <a:blip r:embed="rId1"/>
          <a:stretch>
            <a:fillRect/>
          </a:stretch>
        </p:blipFill>
        <p:spPr>
          <a:xfrm>
            <a:off x="4292501" y="1460450"/>
            <a:ext cx="4495800" cy="2997101"/>
          </a:xfrm>
          <a:prstGeom prst="rect">
            <a:avLst/>
          </a:prstGeom>
        </p:spPr>
      </p:pic>
      <p:sp>
        <p:nvSpPr>
          <p:cNvPr id="8" name="Text 5"/>
          <p:cNvSpPr/>
          <p:nvPr/>
        </p:nvSpPr>
        <p:spPr>
          <a:xfrm>
            <a:off x="1968401" y="4711601"/>
            <a:ext cx="6217920" cy="304800"/>
          </a:xfrm>
          <a:prstGeom prst="rect">
            <a:avLst/>
          </a:prstGeom>
          <a:noFill/>
          <a:ln/>
        </p:spPr>
        <p:txBody>
          <a:bodyPr wrap="square" lIns="0" tIns="0" rIns="0" bIns="0" rtlCol="0" anchor="t"/>
          <a:lstStyle/>
          <a:p>
            <a:pPr algn="l" indent="0" marL="0">
              <a:lnSpc>
                <a:spcPts val="1176"/>
              </a:lnSpc>
              <a:buNone/>
            </a:pPr>
            <a:r>
              <a:rPr lang="en-US" sz="1050" i="1" dirty="0">
                <a:solidFill>
                  <a:srgbClr val="052243"/>
                </a:solidFill>
                <a:latin typeface="Arial" pitchFamily="34" charset="0"/>
                <a:ea typeface="Arial" pitchFamily="34" charset="-122"/>
                <a:cs typeface="Arial" pitchFamily="34" charset="-120"/>
              </a:rPr>
              <a:t>Examples and fixtures make supported behavior concrete.</a:t>
            </a:r>
            <a:endParaRPr lang="en-US" sz="1050" dirty="0"/>
          </a:p>
        </p:txBody>
      </p:sp>
      <p:sp>
        <p:nvSpPr>
          <p:cNvPr id="9" name="Text 6"/>
          <p:cNvSpPr/>
          <p:nvPr/>
        </p:nvSpPr>
        <p:spPr>
          <a:xfrm>
            <a:off x="8244233" y="4940201"/>
            <a:ext cx="544068" cy="107900"/>
          </a:xfrm>
          <a:prstGeom prst="rect">
            <a:avLst/>
          </a:prstGeom>
          <a:noFill/>
          <a:ln/>
        </p:spPr>
        <p:txBody>
          <a:bodyPr wrap="square" lIns="0" tIns="0" rIns="0" bIns="0" rtlCol="0" anchor="t"/>
          <a:lstStyle/>
          <a:p>
            <a:pPr algn="r" indent="0" marL="0">
              <a:lnSpc>
                <a:spcPts val="850"/>
              </a:lnSpc>
              <a:buNone/>
            </a:pPr>
            <a:r>
              <a:rPr lang="en-US" sz="850" dirty="0">
                <a:solidFill>
                  <a:srgbClr val="052243"/>
                </a:solidFill>
                <a:latin typeface="Arial" pitchFamily="34" charset="0"/>
                <a:ea typeface="Arial" pitchFamily="34" charset="-122"/>
                <a:cs typeface="Arial" pitchFamily="34" charset="-120"/>
              </a:rPr>
              <a:t>9 / 25</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11646" y="444996"/>
            <a:ext cx="8601405" cy="507950"/>
          </a:xfrm>
          <a:prstGeom prst="rect">
            <a:avLst/>
          </a:prstGeom>
          <a:noFill/>
          <a:ln/>
        </p:spPr>
        <p:txBody>
          <a:bodyPr wrap="square" lIns="0" tIns="0" rIns="0" bIns="0" rtlCol="0" anchor="t"/>
          <a:lstStyle/>
          <a:p>
            <a:pPr algn="l" indent="0" marL="0">
              <a:lnSpc>
                <a:spcPts val="3192"/>
              </a:lnSpc>
              <a:buNone/>
            </a:pPr>
            <a:r>
              <a:rPr lang="en-US" sz="2800" b="1" dirty="0">
                <a:solidFill>
                  <a:srgbClr val="00144C"/>
                </a:solidFill>
                <a:latin typeface="Arial" pitchFamily="34" charset="0"/>
                <a:ea typeface="Arial" pitchFamily="34" charset="-122"/>
                <a:cs typeface="Arial" pitchFamily="34" charset="-120"/>
              </a:rPr>
              <a:t>Planned Helm content support</a:t>
            </a:r>
            <a:endParaRPr lang="en-US" sz="2800" dirty="0"/>
          </a:p>
        </p:txBody>
      </p:sp>
      <p:sp>
        <p:nvSpPr>
          <p:cNvPr id="3" name="Text 1"/>
          <p:cNvSpPr/>
          <p:nvPr/>
        </p:nvSpPr>
        <p:spPr>
          <a:xfrm>
            <a:off x="355550" y="1104900"/>
            <a:ext cx="1459855" cy="253752"/>
          </a:xfrm>
          <a:prstGeom prst="rect">
            <a:avLst/>
          </a:prstGeom>
          <a:solidFill>
            <a:srgbClr val="E3F6FF"/>
          </a:solidFill>
          <a:ln/>
        </p:spPr>
        <p:txBody>
          <a:bodyPr wrap="square" rtlCol="0" anchor="ctr"/>
          <a:lstStyle/>
          <a:p>
            <a:pPr indent="0" marL="0">
              <a:buNone/>
            </a:pPr>
            <a:endParaRPr lang="en-US" dirty="0"/>
          </a:p>
        </p:txBody>
      </p:sp>
      <p:sp>
        <p:nvSpPr>
          <p:cNvPr id="4" name="Text 2"/>
          <p:cNvSpPr/>
          <p:nvPr/>
        </p:nvSpPr>
        <p:spPr>
          <a:xfrm>
            <a:off x="469850" y="1168301"/>
            <a:ext cx="1255880" cy="126950"/>
          </a:xfrm>
          <a:prstGeom prst="rect">
            <a:avLst/>
          </a:prstGeom>
          <a:noFill/>
          <a:ln/>
        </p:spPr>
        <p:txBody>
          <a:bodyPr wrap="square" lIns="0" tIns="0" rIns="0" bIns="0" rtlCol="0" anchor="t"/>
          <a:lstStyle/>
          <a:p>
            <a:pPr algn="l" indent="0" marL="0">
              <a:lnSpc>
                <a:spcPts val="1000"/>
              </a:lnSpc>
              <a:buNone/>
            </a:pPr>
            <a:r>
              <a:rPr lang="en-US" sz="1000" b="1" dirty="0">
                <a:solidFill>
                  <a:srgbClr val="00144C"/>
                </a:solidFill>
                <a:latin typeface="Arial" pitchFamily="34" charset="0"/>
                <a:ea typeface="Arial" pitchFamily="34" charset="-122"/>
                <a:cs typeface="Arial" pitchFamily="34" charset="-120"/>
              </a:rPr>
              <a:t>PLANNED / helm+v2</a:t>
            </a:r>
            <a:endParaRPr lang="en-US" sz="1000" dirty="0"/>
          </a:p>
        </p:txBody>
      </p:sp>
      <p:sp>
        <p:nvSpPr>
          <p:cNvPr id="5" name="Text 3"/>
          <p:cNvSpPr/>
          <p:nvPr/>
        </p:nvSpPr>
        <p:spPr>
          <a:xfrm>
            <a:off x="355550" y="1524000"/>
            <a:ext cx="3704793" cy="516731"/>
          </a:xfrm>
          <a:prstGeom prst="rect">
            <a:avLst/>
          </a:prstGeom>
          <a:noFill/>
          <a:ln/>
        </p:spPr>
        <p:txBody>
          <a:bodyPr wrap="square" lIns="0" tIns="0" rIns="0" bIns="0" rtlCol="0" anchor="t"/>
          <a:lstStyle/>
          <a:p>
            <a:pPr algn="l" indent="0" marL="0">
              <a:lnSpc>
                <a:spcPts val="2035"/>
              </a:lnSpc>
              <a:spcAft>
                <a:spcPts val="1100"/>
              </a:spcAft>
              <a:buNone/>
            </a:pPr>
            <a:r>
              <a:rPr lang="en-US" sz="1850" b="1" dirty="0">
                <a:solidFill>
                  <a:srgbClr val="052243"/>
                </a:solidFill>
                <a:latin typeface="Arial" pitchFamily="34" charset="0"/>
                <a:ea typeface="Arial" pitchFamily="34" charset="-122"/>
                <a:cs typeface="Arial" pitchFamily="34" charset="-120"/>
              </a:rPr>
              <a:t>The rendering contract targets deterministic chart behavior.</a:t>
            </a:r>
            <a:endParaRPr lang="en-US" sz="1850" dirty="0"/>
          </a:p>
        </p:txBody>
      </p:sp>
      <p:sp>
        <p:nvSpPr>
          <p:cNvPr id="6" name="Text 4"/>
          <p:cNvSpPr/>
          <p:nvPr/>
        </p:nvSpPr>
        <p:spPr>
          <a:xfrm>
            <a:off x="355550" y="2180332"/>
            <a:ext cx="3632150" cy="1579959"/>
          </a:xfrm>
          <a:prstGeom prst="rect">
            <a:avLst/>
          </a:prstGeom>
          <a:noFill/>
          <a:ln/>
        </p:spPr>
        <p:txBody>
          <a:bodyPr wrap="square" lIns="107950" tIns="0" rIns="0" bIns="0" rtlCol="0" anchor="t"/>
          <a:lstStyle/>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Chart and values produce managed manifests</a:t>
            </a:r>
            <a:endParaRPr lang="en-US" sz="1600" dirty="0"/>
          </a:p>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Allow-listed features support reproducible rendering</a:t>
            </a:r>
            <a:endParaRPr lang="en-US" sz="1600" dirty="0"/>
          </a:p>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helm+v2 identifies the content representation</a:t>
            </a:r>
            <a:endParaRPr lang="en-US" sz="1600" dirty="0"/>
          </a:p>
        </p:txBody>
      </p:sp>
      <p:pic>
        <p:nvPicPr>
          <p:cNvPr id="7" name="Image 0" descr="/Users/jordan/Documents/devel/breadcrumbs/2026-kubecon-wip/dry-run/theme/assets/s10.png">    </p:cNvPr>
          <p:cNvPicPr>
            <a:picLocks noChangeAspect="1"/>
          </p:cNvPicPr>
          <p:nvPr/>
        </p:nvPicPr>
        <p:blipFill>
          <a:blip r:embed="rId1"/>
          <a:stretch>
            <a:fillRect/>
          </a:stretch>
        </p:blipFill>
        <p:spPr>
          <a:xfrm>
            <a:off x="4292501" y="1460450"/>
            <a:ext cx="4495800" cy="2997101"/>
          </a:xfrm>
          <a:prstGeom prst="rect">
            <a:avLst/>
          </a:prstGeom>
        </p:spPr>
      </p:pic>
      <p:sp>
        <p:nvSpPr>
          <p:cNvPr id="8" name="Text 5"/>
          <p:cNvSpPr/>
          <p:nvPr/>
        </p:nvSpPr>
        <p:spPr>
          <a:xfrm>
            <a:off x="1968401" y="4711601"/>
            <a:ext cx="6217920" cy="304800"/>
          </a:xfrm>
          <a:prstGeom prst="rect">
            <a:avLst/>
          </a:prstGeom>
          <a:noFill/>
          <a:ln/>
        </p:spPr>
        <p:txBody>
          <a:bodyPr wrap="square" lIns="0" tIns="0" rIns="0" bIns="0" rtlCol="0" anchor="t"/>
          <a:lstStyle/>
          <a:p>
            <a:pPr algn="l" indent="0" marL="0">
              <a:lnSpc>
                <a:spcPts val="1176"/>
              </a:lnSpc>
              <a:buNone/>
            </a:pPr>
            <a:r>
              <a:rPr lang="en-US" sz="1050" i="1" dirty="0">
                <a:solidFill>
                  <a:srgbClr val="052243"/>
                </a:solidFill>
                <a:latin typeface="Arial" pitchFamily="34" charset="0"/>
                <a:ea typeface="Arial" pitchFamily="34" charset="-122"/>
                <a:cs typeface="Arial" pitchFamily="34" charset="-120"/>
              </a:rPr>
              <a:t>Standard chart artifacts use a defined rendering contract.</a:t>
            </a:r>
            <a:endParaRPr lang="en-US" sz="1050" dirty="0"/>
          </a:p>
        </p:txBody>
      </p:sp>
      <p:sp>
        <p:nvSpPr>
          <p:cNvPr id="9" name="Text 6"/>
          <p:cNvSpPr/>
          <p:nvPr/>
        </p:nvSpPr>
        <p:spPr>
          <a:xfrm>
            <a:off x="8244233" y="4940201"/>
            <a:ext cx="544068" cy="107900"/>
          </a:xfrm>
          <a:prstGeom prst="rect">
            <a:avLst/>
          </a:prstGeom>
          <a:noFill/>
          <a:ln/>
        </p:spPr>
        <p:txBody>
          <a:bodyPr wrap="square" lIns="0" tIns="0" rIns="0" bIns="0" rtlCol="0" anchor="t"/>
          <a:lstStyle/>
          <a:p>
            <a:pPr algn="r" indent="0" marL="0">
              <a:lnSpc>
                <a:spcPts val="850"/>
              </a:lnSpc>
              <a:buNone/>
            </a:pPr>
            <a:r>
              <a:rPr lang="en-US" sz="850" dirty="0">
                <a:solidFill>
                  <a:srgbClr val="052243"/>
                </a:solidFill>
                <a:latin typeface="Arial" pitchFamily="34" charset="0"/>
                <a:ea typeface="Arial" pitchFamily="34" charset="-122"/>
                <a:cs typeface="Arial" pitchFamily="34" charset="-120"/>
              </a:rPr>
              <a:t>10 / 25</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11646" y="444996"/>
            <a:ext cx="8601405" cy="507950"/>
          </a:xfrm>
          <a:prstGeom prst="rect">
            <a:avLst/>
          </a:prstGeom>
          <a:noFill/>
          <a:ln/>
        </p:spPr>
        <p:txBody>
          <a:bodyPr wrap="square" lIns="0" tIns="0" rIns="0" bIns="0" rtlCol="0" anchor="t"/>
          <a:lstStyle/>
          <a:p>
            <a:pPr algn="l" indent="0" marL="0">
              <a:lnSpc>
                <a:spcPts val="3192"/>
              </a:lnSpc>
              <a:buNone/>
            </a:pPr>
            <a:r>
              <a:rPr lang="en-US" sz="2800" b="1" dirty="0">
                <a:solidFill>
                  <a:srgbClr val="00144C"/>
                </a:solidFill>
                <a:latin typeface="Arial" pitchFamily="34" charset="0"/>
                <a:ea typeface="Arial" pitchFamily="34" charset="-122"/>
                <a:cs typeface="Arial" pitchFamily="34" charset="-120"/>
              </a:rPr>
              <a:t>Catalog performance and content types</a:t>
            </a:r>
            <a:endParaRPr lang="en-US" sz="2800" dirty="0"/>
          </a:p>
        </p:txBody>
      </p:sp>
      <p:sp>
        <p:nvSpPr>
          <p:cNvPr id="3" name="Text 1"/>
          <p:cNvSpPr/>
          <p:nvPr/>
        </p:nvSpPr>
        <p:spPr>
          <a:xfrm>
            <a:off x="355550" y="1104900"/>
            <a:ext cx="1900386" cy="253752"/>
          </a:xfrm>
          <a:prstGeom prst="rect">
            <a:avLst/>
          </a:prstGeom>
          <a:solidFill>
            <a:srgbClr val="E3F6FF"/>
          </a:solidFill>
          <a:ln/>
        </p:spPr>
        <p:txBody>
          <a:bodyPr wrap="square" rtlCol="0" anchor="ctr"/>
          <a:lstStyle/>
          <a:p>
            <a:pPr indent="0" marL="0">
              <a:buNone/>
            </a:pPr>
            <a:endParaRPr lang="en-US" dirty="0"/>
          </a:p>
        </p:txBody>
      </p:sp>
      <p:sp>
        <p:nvSpPr>
          <p:cNvPr id="4" name="Text 2"/>
          <p:cNvSpPr/>
          <p:nvPr/>
        </p:nvSpPr>
        <p:spPr>
          <a:xfrm>
            <a:off x="469850" y="1168301"/>
            <a:ext cx="1705222" cy="126950"/>
          </a:xfrm>
          <a:prstGeom prst="rect">
            <a:avLst/>
          </a:prstGeom>
          <a:noFill/>
          <a:ln/>
        </p:spPr>
        <p:txBody>
          <a:bodyPr wrap="square" lIns="0" tIns="0" rIns="0" bIns="0" rtlCol="0" anchor="t"/>
          <a:lstStyle/>
          <a:p>
            <a:pPr algn="l" indent="0" marL="0">
              <a:lnSpc>
                <a:spcPts val="1000"/>
              </a:lnSpc>
              <a:buNone/>
            </a:pPr>
            <a:r>
              <a:rPr lang="en-US" sz="1000" b="1" dirty="0">
                <a:solidFill>
                  <a:srgbClr val="00144C"/>
                </a:solidFill>
                <a:latin typeface="Arial" pitchFamily="34" charset="0"/>
                <a:ea typeface="Arial" pitchFamily="34" charset="-122"/>
                <a:cs typeface="Arial" pitchFamily="34" charset="-120"/>
              </a:rPr>
              <a:t>PLANNED / FUTURE WORK</a:t>
            </a:r>
            <a:endParaRPr lang="en-US" sz="1000" dirty="0"/>
          </a:p>
        </p:txBody>
      </p:sp>
      <p:sp>
        <p:nvSpPr>
          <p:cNvPr id="5" name="Text 3"/>
          <p:cNvSpPr/>
          <p:nvPr/>
        </p:nvSpPr>
        <p:spPr>
          <a:xfrm>
            <a:off x="355550" y="1524000"/>
            <a:ext cx="3704793" cy="775097"/>
          </a:xfrm>
          <a:prstGeom prst="rect">
            <a:avLst/>
          </a:prstGeom>
          <a:noFill/>
          <a:ln/>
        </p:spPr>
        <p:txBody>
          <a:bodyPr wrap="square" lIns="0" tIns="0" rIns="0" bIns="0" rtlCol="0" anchor="t"/>
          <a:lstStyle/>
          <a:p>
            <a:pPr algn="l" indent="0" marL="0">
              <a:lnSpc>
                <a:spcPts val="2035"/>
              </a:lnSpc>
              <a:spcAft>
                <a:spcPts val="1100"/>
              </a:spcAft>
              <a:buNone/>
            </a:pPr>
            <a:r>
              <a:rPr lang="en-US" sz="1850" b="1" dirty="0">
                <a:solidFill>
                  <a:srgbClr val="052243"/>
                </a:solidFill>
                <a:latin typeface="Arial" pitchFamily="34" charset="0"/>
                <a:ea typeface="Arial" pitchFamily="34" charset="-122"/>
                <a:cs typeface="Arial" pitchFamily="34" charset="-120"/>
              </a:rPr>
              <a:t>Design for lower catalog-processing cost and additional content types.</a:t>
            </a:r>
            <a:endParaRPr lang="en-US" sz="1850" dirty="0"/>
          </a:p>
        </p:txBody>
      </p:sp>
      <p:sp>
        <p:nvSpPr>
          <p:cNvPr id="6" name="Text 4"/>
          <p:cNvSpPr/>
          <p:nvPr/>
        </p:nvSpPr>
        <p:spPr>
          <a:xfrm>
            <a:off x="355550" y="2438698"/>
            <a:ext cx="3632150" cy="1350466"/>
          </a:xfrm>
          <a:prstGeom prst="rect">
            <a:avLst/>
          </a:prstGeom>
          <a:noFill/>
          <a:ln/>
        </p:spPr>
        <p:txBody>
          <a:bodyPr wrap="square" lIns="107950" tIns="0" rIns="0" bIns="0" rtlCol="0" anchor="t"/>
          <a:lstStyle/>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Lower duplicated CSV metadata</a:t>
            </a:r>
            <a:endParaRPr lang="en-US" sz="1600" dirty="0"/>
          </a:p>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Direct version fields reduce property traversal</a:t>
            </a:r>
            <a:endParaRPr lang="en-US" sz="1600" dirty="0"/>
          </a:p>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Typed registry+v1 and helm+v2 content</a:t>
            </a:r>
            <a:endParaRPr lang="en-US" sz="1600" dirty="0"/>
          </a:p>
        </p:txBody>
      </p:sp>
      <p:pic>
        <p:nvPicPr>
          <p:cNvPr id="7" name="Image 0" descr="/Users/jordan/Documents/devel/breadcrumbs/2026-kubecon-wip/dry-run/theme/assets/s11.png">    </p:cNvPr>
          <p:cNvPicPr>
            <a:picLocks noChangeAspect="1"/>
          </p:cNvPicPr>
          <p:nvPr/>
        </p:nvPicPr>
        <p:blipFill>
          <a:blip r:embed="rId1"/>
          <a:stretch>
            <a:fillRect/>
          </a:stretch>
        </p:blipFill>
        <p:spPr>
          <a:xfrm>
            <a:off x="4292501" y="1460450"/>
            <a:ext cx="4495800" cy="2997101"/>
          </a:xfrm>
          <a:prstGeom prst="rect">
            <a:avLst/>
          </a:prstGeom>
        </p:spPr>
      </p:pic>
      <p:sp>
        <p:nvSpPr>
          <p:cNvPr id="8" name="Text 5"/>
          <p:cNvSpPr/>
          <p:nvPr/>
        </p:nvSpPr>
        <p:spPr>
          <a:xfrm>
            <a:off x="1968401" y="4711601"/>
            <a:ext cx="6217920" cy="304800"/>
          </a:xfrm>
          <a:prstGeom prst="rect">
            <a:avLst/>
          </a:prstGeom>
          <a:noFill/>
          <a:ln/>
        </p:spPr>
        <p:txBody>
          <a:bodyPr wrap="square" lIns="0" tIns="0" rIns="0" bIns="0" rtlCol="0" anchor="t"/>
          <a:lstStyle/>
          <a:p>
            <a:pPr algn="l" indent="0" marL="0">
              <a:lnSpc>
                <a:spcPts val="1176"/>
              </a:lnSpc>
              <a:buNone/>
            </a:pPr>
            <a:r>
              <a:rPr lang="en-US" sz="1050" i="1" dirty="0">
                <a:solidFill>
                  <a:srgbClr val="052243"/>
                </a:solidFill>
                <a:latin typeface="Arial" pitchFamily="34" charset="0"/>
                <a:ea typeface="Arial" pitchFamily="34" charset="-122"/>
                <a:cs typeface="Arial" pitchFamily="34" charset="-120"/>
              </a:rPr>
              <a:t>File-based catalogs remain the established foundation.</a:t>
            </a:r>
            <a:endParaRPr lang="en-US" sz="1050" dirty="0"/>
          </a:p>
        </p:txBody>
      </p:sp>
      <p:sp>
        <p:nvSpPr>
          <p:cNvPr id="9" name="Text 6"/>
          <p:cNvSpPr/>
          <p:nvPr/>
        </p:nvSpPr>
        <p:spPr>
          <a:xfrm>
            <a:off x="8244233" y="4940201"/>
            <a:ext cx="544068" cy="107900"/>
          </a:xfrm>
          <a:prstGeom prst="rect">
            <a:avLst/>
          </a:prstGeom>
          <a:noFill/>
          <a:ln/>
        </p:spPr>
        <p:txBody>
          <a:bodyPr wrap="square" lIns="0" tIns="0" rIns="0" bIns="0" rtlCol="0" anchor="t"/>
          <a:lstStyle/>
          <a:p>
            <a:pPr algn="r" indent="0" marL="0">
              <a:lnSpc>
                <a:spcPts val="850"/>
              </a:lnSpc>
              <a:buNone/>
            </a:pPr>
            <a:r>
              <a:rPr lang="en-US" sz="850" dirty="0">
                <a:solidFill>
                  <a:srgbClr val="052243"/>
                </a:solidFill>
                <a:latin typeface="Arial" pitchFamily="34" charset="0"/>
                <a:ea typeface="Arial" pitchFamily="34" charset="-122"/>
                <a:cs typeface="Arial" pitchFamily="34" charset="-120"/>
              </a:rPr>
              <a:t>11 / 25</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11646" y="444996"/>
            <a:ext cx="8601405" cy="507950"/>
          </a:xfrm>
          <a:prstGeom prst="rect">
            <a:avLst/>
          </a:prstGeom>
          <a:noFill/>
          <a:ln/>
        </p:spPr>
        <p:txBody>
          <a:bodyPr wrap="square" lIns="0" tIns="0" rIns="0" bIns="0" rtlCol="0" anchor="t"/>
          <a:lstStyle/>
          <a:p>
            <a:pPr algn="l" indent="0" marL="0">
              <a:lnSpc>
                <a:spcPts val="3192"/>
              </a:lnSpc>
              <a:buNone/>
            </a:pPr>
            <a:r>
              <a:rPr lang="en-US" sz="2800" b="1" dirty="0">
                <a:solidFill>
                  <a:srgbClr val="00144C"/>
                </a:solidFill>
                <a:latin typeface="Arial" pitchFamily="34" charset="0"/>
                <a:ea typeface="Arial" pitchFamily="34" charset="-122"/>
                <a:cs typeface="Arial" pitchFamily="34" charset="-120"/>
              </a:rPr>
              <a:t>Contribute to Operator Framework</a:t>
            </a:r>
            <a:endParaRPr lang="en-US" sz="2800" dirty="0"/>
          </a:p>
        </p:txBody>
      </p:sp>
      <p:sp>
        <p:nvSpPr>
          <p:cNvPr id="3" name="Text 1"/>
          <p:cNvSpPr/>
          <p:nvPr/>
        </p:nvSpPr>
        <p:spPr>
          <a:xfrm>
            <a:off x="355550" y="1104900"/>
            <a:ext cx="1830139" cy="253752"/>
          </a:xfrm>
          <a:prstGeom prst="rect">
            <a:avLst/>
          </a:prstGeom>
          <a:solidFill>
            <a:srgbClr val="E3F6FF"/>
          </a:solidFill>
          <a:ln/>
        </p:spPr>
        <p:txBody>
          <a:bodyPr wrap="square" rtlCol="0" anchor="ctr"/>
          <a:lstStyle/>
          <a:p>
            <a:pPr indent="0" marL="0">
              <a:buNone/>
            </a:pPr>
            <a:endParaRPr lang="en-US" dirty="0"/>
          </a:p>
        </p:txBody>
      </p:sp>
      <p:sp>
        <p:nvSpPr>
          <p:cNvPr id="4" name="Text 2"/>
          <p:cNvSpPr/>
          <p:nvPr/>
        </p:nvSpPr>
        <p:spPr>
          <a:xfrm>
            <a:off x="469850" y="1168301"/>
            <a:ext cx="1633570" cy="126950"/>
          </a:xfrm>
          <a:prstGeom prst="rect">
            <a:avLst/>
          </a:prstGeom>
          <a:noFill/>
          <a:ln/>
        </p:spPr>
        <p:txBody>
          <a:bodyPr wrap="square" lIns="0" tIns="0" rIns="0" bIns="0" rtlCol="0" anchor="t"/>
          <a:lstStyle/>
          <a:p>
            <a:pPr algn="l" indent="0" marL="0">
              <a:lnSpc>
                <a:spcPts val="1000"/>
              </a:lnSpc>
              <a:buNone/>
            </a:pPr>
            <a:r>
              <a:rPr lang="en-US" sz="1000" b="1" dirty="0">
                <a:solidFill>
                  <a:srgbClr val="00144C"/>
                </a:solidFill>
                <a:latin typeface="Arial" pitchFamily="34" charset="0"/>
                <a:ea typeface="Arial" pitchFamily="34" charset="-122"/>
                <a:cs typeface="Arial" pitchFamily="34" charset="-120"/>
              </a:rPr>
              <a:t>PROJECT DEVELOPMENT</a:t>
            </a:r>
            <a:endParaRPr lang="en-US" sz="1000" dirty="0"/>
          </a:p>
        </p:txBody>
      </p:sp>
      <p:sp>
        <p:nvSpPr>
          <p:cNvPr id="5" name="Text 3"/>
          <p:cNvSpPr/>
          <p:nvPr/>
        </p:nvSpPr>
        <p:spPr>
          <a:xfrm>
            <a:off x="355550" y="1524000"/>
            <a:ext cx="3704793" cy="775097"/>
          </a:xfrm>
          <a:prstGeom prst="rect">
            <a:avLst/>
          </a:prstGeom>
          <a:noFill/>
          <a:ln/>
        </p:spPr>
        <p:txBody>
          <a:bodyPr wrap="square" lIns="0" tIns="0" rIns="0" bIns="0" rtlCol="0" anchor="t"/>
          <a:lstStyle/>
          <a:p>
            <a:pPr algn="l" indent="0" marL="0">
              <a:lnSpc>
                <a:spcPts val="2035"/>
              </a:lnSpc>
              <a:spcAft>
                <a:spcPts val="1100"/>
              </a:spcAft>
              <a:buNone/>
            </a:pPr>
            <a:r>
              <a:rPr lang="en-US" sz="1850" b="1" dirty="0">
                <a:solidFill>
                  <a:srgbClr val="052243"/>
                </a:solidFill>
                <a:latin typeface="Arial" pitchFamily="34" charset="0"/>
                <a:ea typeface="Arial" pitchFamily="34" charset="-122"/>
                <a:cs typeface="Arial" pitchFamily="34" charset="-120"/>
              </a:rPr>
              <a:t>Help develop the project through documentation, code and test cases.</a:t>
            </a:r>
            <a:endParaRPr lang="en-US" sz="1850" dirty="0"/>
          </a:p>
        </p:txBody>
      </p:sp>
      <p:sp>
        <p:nvSpPr>
          <p:cNvPr id="6" name="Text 4"/>
          <p:cNvSpPr/>
          <p:nvPr/>
        </p:nvSpPr>
        <p:spPr>
          <a:xfrm>
            <a:off x="355550" y="2438698"/>
            <a:ext cx="3632150" cy="1350466"/>
          </a:xfrm>
          <a:prstGeom prst="rect">
            <a:avLst/>
          </a:prstGeom>
          <a:noFill/>
          <a:ln/>
        </p:spPr>
        <p:txBody>
          <a:bodyPr wrap="square" lIns="107950" tIns="0" rIns="0" bIns="0" rtlCol="0" anchor="t"/>
          <a:lstStyle/>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Improve documentation and examples</a:t>
            </a:r>
            <a:endParaRPr lang="en-US" sz="1600" dirty="0"/>
          </a:p>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Contribute code and focused tests</a:t>
            </a:r>
            <a:endParaRPr lang="en-US" sz="1600" dirty="0"/>
          </a:p>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Add migration, chart and schema fixtures</a:t>
            </a:r>
            <a:endParaRPr lang="en-US" sz="1600" dirty="0"/>
          </a:p>
        </p:txBody>
      </p:sp>
      <p:pic>
        <p:nvPicPr>
          <p:cNvPr id="7" name="Image 0" descr="/Users/jordan/Documents/devel/breadcrumbs/2026-kubecon-wip/dry-run/theme/assets/s12.png">    </p:cNvPr>
          <p:cNvPicPr>
            <a:picLocks noChangeAspect="1"/>
          </p:cNvPicPr>
          <p:nvPr/>
        </p:nvPicPr>
        <p:blipFill>
          <a:blip r:embed="rId1"/>
          <a:stretch>
            <a:fillRect/>
          </a:stretch>
        </p:blipFill>
        <p:spPr>
          <a:xfrm>
            <a:off x="4292501" y="1460450"/>
            <a:ext cx="4495800" cy="2997101"/>
          </a:xfrm>
          <a:prstGeom prst="rect">
            <a:avLst/>
          </a:prstGeom>
        </p:spPr>
      </p:pic>
      <p:sp>
        <p:nvSpPr>
          <p:cNvPr id="8" name="Text 5"/>
          <p:cNvSpPr/>
          <p:nvPr/>
        </p:nvSpPr>
        <p:spPr>
          <a:xfrm>
            <a:off x="1968401" y="4711601"/>
            <a:ext cx="6217920" cy="304800"/>
          </a:xfrm>
          <a:prstGeom prst="rect">
            <a:avLst/>
          </a:prstGeom>
          <a:noFill/>
          <a:ln/>
        </p:spPr>
        <p:txBody>
          <a:bodyPr wrap="square" lIns="0" tIns="0" rIns="0" bIns="0" rtlCol="0" anchor="t"/>
          <a:lstStyle/>
          <a:p>
            <a:pPr algn="l" indent="0" marL="0">
              <a:lnSpc>
                <a:spcPts val="1176"/>
              </a:lnSpc>
              <a:buNone/>
            </a:pPr>
            <a:r>
              <a:rPr lang="en-US" sz="1050" i="1" dirty="0">
                <a:solidFill>
                  <a:srgbClr val="052243"/>
                </a:solidFill>
                <a:latin typeface="Arial" pitchFamily="34" charset="0"/>
                <a:ea typeface="Arial" pitchFamily="34" charset="-122"/>
                <a:cs typeface="Arial" pitchFamily="34" charset="-120"/>
              </a:rPr>
              <a:t>Start with a reproducible case and a clear expected result.</a:t>
            </a:r>
            <a:endParaRPr lang="en-US" sz="1050" dirty="0"/>
          </a:p>
        </p:txBody>
      </p:sp>
      <p:sp>
        <p:nvSpPr>
          <p:cNvPr id="9" name="Text 6"/>
          <p:cNvSpPr/>
          <p:nvPr/>
        </p:nvSpPr>
        <p:spPr>
          <a:xfrm>
            <a:off x="8244233" y="4940201"/>
            <a:ext cx="544068" cy="107900"/>
          </a:xfrm>
          <a:prstGeom prst="rect">
            <a:avLst/>
          </a:prstGeom>
          <a:noFill/>
          <a:ln/>
        </p:spPr>
        <p:txBody>
          <a:bodyPr wrap="square" lIns="0" tIns="0" rIns="0" bIns="0" rtlCol="0" anchor="t"/>
          <a:lstStyle/>
          <a:p>
            <a:pPr algn="r" indent="0" marL="0">
              <a:lnSpc>
                <a:spcPts val="850"/>
              </a:lnSpc>
              <a:buNone/>
            </a:pPr>
            <a:r>
              <a:rPr lang="en-US" sz="850" dirty="0">
                <a:solidFill>
                  <a:srgbClr val="052243"/>
                </a:solidFill>
                <a:latin typeface="Arial" pitchFamily="34" charset="0"/>
                <a:ea typeface="Arial" pitchFamily="34" charset="-122"/>
                <a:cs typeface="Arial" pitchFamily="34" charset="-120"/>
              </a:rPr>
              <a:t>12 / 25</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44782" y="1739801"/>
            <a:ext cx="7254139" cy="992981"/>
          </a:xfrm>
          <a:prstGeom prst="rect">
            <a:avLst/>
          </a:prstGeom>
          <a:noFill/>
          <a:ln/>
        </p:spPr>
        <p:txBody>
          <a:bodyPr wrap="square" lIns="0" tIns="0" rIns="0" bIns="0" rtlCol="0" anchor="t"/>
          <a:lstStyle/>
          <a:p>
            <a:pPr algn="ctr" indent="0" marL="0">
              <a:lnSpc>
                <a:spcPts val="3910"/>
              </a:lnSpc>
              <a:buNone/>
            </a:pPr>
            <a:r>
              <a:rPr lang="en-US" sz="3400" b="1" dirty="0">
                <a:solidFill>
                  <a:srgbClr val="00144C"/>
                </a:solidFill>
                <a:latin typeface="Arial" pitchFamily="34" charset="0"/>
                <a:ea typeface="Arial" pitchFamily="34" charset="-122"/>
                <a:cs typeface="Arial" pitchFamily="34" charset="-120"/>
              </a:rPr>
              <a:t>Operator Framework: Java Operator SDK</a:t>
            </a:r>
            <a:endParaRPr lang="en-US" sz="3400" dirty="0"/>
          </a:p>
        </p:txBody>
      </p:sp>
      <p:sp>
        <p:nvSpPr>
          <p:cNvPr id="3" name="Text 1"/>
          <p:cNvSpPr/>
          <p:nvPr/>
        </p:nvSpPr>
        <p:spPr>
          <a:xfrm>
            <a:off x="8244233" y="4940201"/>
            <a:ext cx="544068" cy="114300"/>
          </a:xfrm>
          <a:prstGeom prst="rect">
            <a:avLst/>
          </a:prstGeom>
          <a:noFill/>
          <a:ln/>
        </p:spPr>
        <p:txBody>
          <a:bodyPr wrap="square" lIns="0" tIns="0" rIns="0" bIns="0" rtlCol="0" anchor="t"/>
          <a:lstStyle/>
          <a:p>
            <a:pPr algn="r" indent="0" marL="0">
              <a:buNone/>
            </a:pPr>
            <a:r>
              <a:rPr lang="en-US" sz="850" dirty="0">
                <a:solidFill>
                  <a:srgbClr val="052243"/>
                </a:solidFill>
                <a:latin typeface="Arial" pitchFamily="34" charset="0"/>
                <a:ea typeface="Arial" pitchFamily="34" charset="-122"/>
                <a:cs typeface="Arial" pitchFamily="34" charset="-120"/>
              </a:rPr>
              <a:t>13 / 25</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11646" y="444996"/>
            <a:ext cx="8601405" cy="507950"/>
          </a:xfrm>
          <a:prstGeom prst="rect">
            <a:avLst/>
          </a:prstGeom>
          <a:noFill/>
          <a:ln/>
        </p:spPr>
        <p:txBody>
          <a:bodyPr wrap="square" lIns="0" tIns="0" rIns="0" bIns="0" rtlCol="0" anchor="t"/>
          <a:lstStyle/>
          <a:p>
            <a:pPr algn="l" indent="0" marL="0">
              <a:lnSpc>
                <a:spcPts val="3192"/>
              </a:lnSpc>
              <a:buNone/>
            </a:pPr>
            <a:r>
              <a:rPr lang="en-US" sz="2800" b="1" dirty="0">
                <a:solidFill>
                  <a:srgbClr val="00144C"/>
                </a:solidFill>
                <a:latin typeface="Arial" pitchFamily="34" charset="0"/>
                <a:ea typeface="Arial" pitchFamily="34" charset="-122"/>
                <a:cs typeface="Arial" pitchFamily="34" charset="-120"/>
              </a:rPr>
              <a:t>Resources and contribution steps</a:t>
            </a:r>
            <a:endParaRPr lang="en-US" sz="2800" dirty="0"/>
          </a:p>
        </p:txBody>
      </p:sp>
      <p:sp>
        <p:nvSpPr>
          <p:cNvPr id="3" name="Text 1"/>
          <p:cNvSpPr/>
          <p:nvPr/>
        </p:nvSpPr>
        <p:spPr>
          <a:xfrm>
            <a:off x="355550" y="1104900"/>
            <a:ext cx="2458045" cy="253752"/>
          </a:xfrm>
          <a:prstGeom prst="rect">
            <a:avLst/>
          </a:prstGeom>
          <a:solidFill>
            <a:srgbClr val="E3F6FF"/>
          </a:solidFill>
          <a:ln/>
        </p:spPr>
        <p:txBody>
          <a:bodyPr wrap="square" rtlCol="0" anchor="ctr"/>
          <a:lstStyle/>
          <a:p>
            <a:pPr indent="0" marL="0">
              <a:buNone/>
            </a:pPr>
            <a:endParaRPr lang="en-US" dirty="0"/>
          </a:p>
        </p:txBody>
      </p:sp>
      <p:sp>
        <p:nvSpPr>
          <p:cNvPr id="4" name="Text 2"/>
          <p:cNvSpPr/>
          <p:nvPr/>
        </p:nvSpPr>
        <p:spPr>
          <a:xfrm>
            <a:off x="469850" y="1168301"/>
            <a:ext cx="2274034" cy="126950"/>
          </a:xfrm>
          <a:prstGeom prst="rect">
            <a:avLst/>
          </a:prstGeom>
          <a:noFill/>
          <a:ln/>
        </p:spPr>
        <p:txBody>
          <a:bodyPr wrap="square" lIns="0" tIns="0" rIns="0" bIns="0" rtlCol="0" anchor="t"/>
          <a:lstStyle/>
          <a:p>
            <a:pPr algn="l" indent="0" marL="0">
              <a:lnSpc>
                <a:spcPts val="1000"/>
              </a:lnSpc>
              <a:buNone/>
            </a:pPr>
            <a:r>
              <a:rPr lang="en-US" sz="1000" b="1" dirty="0">
                <a:solidFill>
                  <a:srgbClr val="00144C"/>
                </a:solidFill>
                <a:latin typeface="Arial" pitchFamily="34" charset="0"/>
                <a:ea typeface="Arial" pitchFamily="34" charset="-122"/>
                <a:cs typeface="Arial" pitchFamily="34" charset="-120"/>
              </a:rPr>
              <a:t>RESOURCE PACKAGE TO PREPARE</a:t>
            </a:r>
            <a:endParaRPr lang="en-US" sz="1000" dirty="0"/>
          </a:p>
        </p:txBody>
      </p:sp>
      <p:sp>
        <p:nvSpPr>
          <p:cNvPr id="5" name="Text 3"/>
          <p:cNvSpPr/>
          <p:nvPr/>
        </p:nvSpPr>
        <p:spPr>
          <a:xfrm>
            <a:off x="355550" y="1524000"/>
            <a:ext cx="3704793" cy="775097"/>
          </a:xfrm>
          <a:prstGeom prst="rect">
            <a:avLst/>
          </a:prstGeom>
          <a:noFill/>
          <a:ln/>
        </p:spPr>
        <p:txBody>
          <a:bodyPr wrap="square" lIns="0" tIns="0" rIns="0" bIns="0" rtlCol="0" anchor="t"/>
          <a:lstStyle/>
          <a:p>
            <a:pPr algn="l" indent="0" marL="0">
              <a:lnSpc>
                <a:spcPts val="2035"/>
              </a:lnSpc>
              <a:spcAft>
                <a:spcPts val="1100"/>
              </a:spcAft>
              <a:buNone/>
            </a:pPr>
            <a:r>
              <a:rPr lang="en-US" sz="1850" b="1" dirty="0">
                <a:solidFill>
                  <a:srgbClr val="052243"/>
                </a:solidFill>
                <a:latin typeface="Arial" pitchFamily="34" charset="0"/>
                <a:ea typeface="Arial" pitchFamily="34" charset="-122"/>
                <a:cs typeface="Arial" pitchFamily="34" charset="-120"/>
              </a:rPr>
              <a:t>Use documented contracts and reproducible cases to guide contributions.</a:t>
            </a:r>
            <a:endParaRPr lang="en-US" sz="1850" dirty="0"/>
          </a:p>
        </p:txBody>
      </p:sp>
      <p:sp>
        <p:nvSpPr>
          <p:cNvPr id="6" name="Text 4"/>
          <p:cNvSpPr/>
          <p:nvPr/>
        </p:nvSpPr>
        <p:spPr>
          <a:xfrm>
            <a:off x="355550" y="2438698"/>
            <a:ext cx="3632150" cy="1350466"/>
          </a:xfrm>
          <a:prstGeom prst="rect">
            <a:avLst/>
          </a:prstGeom>
          <a:noFill/>
          <a:ln/>
        </p:spPr>
        <p:txBody>
          <a:bodyPr wrap="square" lIns="107950" tIns="0" rIns="0" bIns="0" rtlCol="0" anchor="t"/>
          <a:lstStyle/>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Check content against a documented contract</a:t>
            </a:r>
            <a:endParaRPr lang="en-US" sz="1600" dirty="0"/>
          </a:p>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Share a reproducible case or fixture</a:t>
            </a:r>
            <a:endParaRPr lang="en-US" sz="1600" dirty="0"/>
          </a:p>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Select a maintainer-scoped contribution</a:t>
            </a:r>
            <a:endParaRPr lang="en-US" sz="1600" dirty="0"/>
          </a:p>
        </p:txBody>
      </p:sp>
      <p:pic>
        <p:nvPicPr>
          <p:cNvPr id="7" name="Image 0" descr="/Users/jordan/Documents/devel/breadcrumbs/2026-kubecon-wip/dry-run/theme/assets/s19.png">    </p:cNvPr>
          <p:cNvPicPr>
            <a:picLocks noChangeAspect="1"/>
          </p:cNvPicPr>
          <p:nvPr/>
        </p:nvPicPr>
        <p:blipFill>
          <a:blip r:embed="rId1"/>
          <a:stretch>
            <a:fillRect/>
          </a:stretch>
        </p:blipFill>
        <p:spPr>
          <a:xfrm>
            <a:off x="4292501" y="1460450"/>
            <a:ext cx="4495800" cy="2997101"/>
          </a:xfrm>
          <a:prstGeom prst="rect">
            <a:avLst/>
          </a:prstGeom>
        </p:spPr>
      </p:pic>
      <p:sp>
        <p:nvSpPr>
          <p:cNvPr id="8" name="Text 5"/>
          <p:cNvSpPr/>
          <p:nvPr/>
        </p:nvSpPr>
        <p:spPr>
          <a:xfrm>
            <a:off x="1968401" y="4711601"/>
            <a:ext cx="6217920" cy="304800"/>
          </a:xfrm>
          <a:prstGeom prst="rect">
            <a:avLst/>
          </a:prstGeom>
          <a:noFill/>
          <a:ln/>
        </p:spPr>
        <p:txBody>
          <a:bodyPr wrap="square" lIns="0" tIns="0" rIns="0" bIns="0" rtlCol="0" anchor="t"/>
          <a:lstStyle/>
          <a:p>
            <a:pPr algn="l" indent="0" marL="0">
              <a:lnSpc>
                <a:spcPts val="1176"/>
              </a:lnSpc>
              <a:buNone/>
            </a:pPr>
            <a:r>
              <a:rPr lang="en-US" sz="1050" i="1" dirty="0">
                <a:solidFill>
                  <a:srgbClr val="052243"/>
                </a:solidFill>
                <a:latin typeface="Arial" pitchFamily="34" charset="0"/>
                <a:ea typeface="Arial" pitchFamily="34" charset="-122"/>
                <a:cs typeface="Arial" pitchFamily="34" charset="-120"/>
              </a:rPr>
              <a:t>Companion examples and task links are being prepared.</a:t>
            </a:r>
            <a:endParaRPr lang="en-US" sz="1050" dirty="0"/>
          </a:p>
        </p:txBody>
      </p:sp>
      <p:sp>
        <p:nvSpPr>
          <p:cNvPr id="9" name="Text 6"/>
          <p:cNvSpPr/>
          <p:nvPr/>
        </p:nvSpPr>
        <p:spPr>
          <a:xfrm>
            <a:off x="8244233" y="4940201"/>
            <a:ext cx="544068" cy="107900"/>
          </a:xfrm>
          <a:prstGeom prst="rect">
            <a:avLst/>
          </a:prstGeom>
          <a:noFill/>
          <a:ln/>
        </p:spPr>
        <p:txBody>
          <a:bodyPr wrap="square" lIns="0" tIns="0" rIns="0" bIns="0" rtlCol="0" anchor="t"/>
          <a:lstStyle/>
          <a:p>
            <a:pPr algn="r" indent="0" marL="0">
              <a:lnSpc>
                <a:spcPts val="850"/>
              </a:lnSpc>
              <a:buNone/>
            </a:pPr>
            <a:r>
              <a:rPr lang="en-US" sz="850" dirty="0">
                <a:solidFill>
                  <a:srgbClr val="052243"/>
                </a:solidFill>
                <a:latin typeface="Arial" pitchFamily="34" charset="0"/>
                <a:ea typeface="Arial" pitchFamily="34" charset="-122"/>
                <a:cs typeface="Arial" pitchFamily="34" charset="-120"/>
              </a:rPr>
              <a:t>24 / 25</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11646" y="444996"/>
            <a:ext cx="8601405" cy="507950"/>
          </a:xfrm>
          <a:prstGeom prst="rect">
            <a:avLst/>
          </a:prstGeom>
          <a:noFill/>
          <a:ln/>
        </p:spPr>
        <p:txBody>
          <a:bodyPr wrap="square" lIns="0" tIns="0" rIns="0" bIns="0" rtlCol="0" anchor="t"/>
          <a:lstStyle/>
          <a:p>
            <a:pPr algn="l" indent="0" marL="0">
              <a:lnSpc>
                <a:spcPts val="3192"/>
              </a:lnSpc>
              <a:buNone/>
            </a:pPr>
            <a:r>
              <a:rPr lang="en-US" sz="2800" b="1" dirty="0">
                <a:solidFill>
                  <a:srgbClr val="00144C"/>
                </a:solidFill>
                <a:latin typeface="Arial" pitchFamily="34" charset="0"/>
                <a:ea typeface="Arial" pitchFamily="34" charset="-122"/>
                <a:cs typeface="Arial" pitchFamily="34" charset="-120"/>
              </a:rPr>
              <a:t>Questions?</a:t>
            </a:r>
            <a:endParaRPr lang="en-US" sz="2800" dirty="0"/>
          </a:p>
        </p:txBody>
      </p:sp>
      <p:sp>
        <p:nvSpPr>
          <p:cNvPr id="3" name="Text 1"/>
          <p:cNvSpPr/>
          <p:nvPr/>
        </p:nvSpPr>
        <p:spPr>
          <a:xfrm>
            <a:off x="355550" y="1524000"/>
            <a:ext cx="3704793" cy="775097"/>
          </a:xfrm>
          <a:prstGeom prst="rect">
            <a:avLst/>
          </a:prstGeom>
          <a:noFill/>
          <a:ln/>
        </p:spPr>
        <p:txBody>
          <a:bodyPr wrap="square" lIns="0" tIns="0" rIns="0" bIns="0" rtlCol="0" anchor="t"/>
          <a:lstStyle/>
          <a:p>
            <a:pPr algn="l" indent="0" marL="0">
              <a:lnSpc>
                <a:spcPts val="2035"/>
              </a:lnSpc>
              <a:spcAft>
                <a:spcPts val="1100"/>
              </a:spcAft>
              <a:buNone/>
            </a:pPr>
            <a:r>
              <a:rPr lang="en-US" sz="1850" b="1" dirty="0">
                <a:solidFill>
                  <a:srgbClr val="052243"/>
                </a:solidFill>
                <a:latin typeface="Arial" pitchFamily="34" charset="0"/>
                <a:ea typeface="Arial" pitchFamily="34" charset="-122"/>
                <a:cs typeface="Arial" pitchFamily="34" charset="-120"/>
              </a:rPr>
              <a:t>Questions about lifecycle APIs, packaging or controller behavior?</a:t>
            </a:r>
            <a:endParaRPr lang="en-US" sz="1850" dirty="0"/>
          </a:p>
        </p:txBody>
      </p:sp>
      <p:sp>
        <p:nvSpPr>
          <p:cNvPr id="4" name="Text 2"/>
          <p:cNvSpPr/>
          <p:nvPr/>
        </p:nvSpPr>
        <p:spPr>
          <a:xfrm>
            <a:off x="355550" y="2438698"/>
            <a:ext cx="3632150" cy="891480"/>
          </a:xfrm>
          <a:prstGeom prst="rect">
            <a:avLst/>
          </a:prstGeom>
          <a:noFill/>
          <a:ln/>
        </p:spPr>
        <p:txBody>
          <a:bodyPr wrap="square" lIns="107950" tIns="0" rIns="0" bIns="0" rtlCol="0" anchor="t"/>
          <a:lstStyle/>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OLM configuration and migration</a:t>
            </a:r>
            <a:endParaRPr lang="en-US" sz="1600" dirty="0"/>
          </a:p>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Helm content and catalog schemas</a:t>
            </a:r>
            <a:endParaRPr lang="en-US" sz="1600" dirty="0"/>
          </a:p>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Java Operator SDK reconciliation</a:t>
            </a:r>
            <a:endParaRPr lang="en-US" sz="1600" dirty="0"/>
          </a:p>
        </p:txBody>
      </p:sp>
      <p:pic>
        <p:nvPicPr>
          <p:cNvPr id="5" name="Image 0" descr="/Users/jordan/Documents/devel/breadcrumbs/2026-kubecon-wip/dry-run/theme/assets/s20.png">    </p:cNvPr>
          <p:cNvPicPr>
            <a:picLocks noChangeAspect="1"/>
          </p:cNvPicPr>
          <p:nvPr/>
        </p:nvPicPr>
        <p:blipFill>
          <a:blip r:embed="rId1"/>
          <a:stretch>
            <a:fillRect/>
          </a:stretch>
        </p:blipFill>
        <p:spPr>
          <a:xfrm>
            <a:off x="4292501" y="1460450"/>
            <a:ext cx="4495800" cy="2997101"/>
          </a:xfrm>
          <a:prstGeom prst="rect">
            <a:avLst/>
          </a:prstGeom>
        </p:spPr>
      </p:pic>
      <p:sp>
        <p:nvSpPr>
          <p:cNvPr id="6" name="Text 3"/>
          <p:cNvSpPr/>
          <p:nvPr/>
        </p:nvSpPr>
        <p:spPr>
          <a:xfrm>
            <a:off x="1968401" y="4711601"/>
            <a:ext cx="6217920" cy="304800"/>
          </a:xfrm>
          <a:prstGeom prst="rect">
            <a:avLst/>
          </a:prstGeom>
          <a:noFill/>
          <a:ln/>
        </p:spPr>
        <p:txBody>
          <a:bodyPr wrap="square" lIns="0" tIns="0" rIns="0" bIns="0" rtlCol="0" anchor="t"/>
          <a:lstStyle/>
          <a:p>
            <a:pPr algn="l" indent="0" marL="0">
              <a:lnSpc>
                <a:spcPts val="1176"/>
              </a:lnSpc>
              <a:buNone/>
            </a:pPr>
            <a:r>
              <a:rPr lang="en-US" sz="1050" i="1" dirty="0">
                <a:solidFill>
                  <a:srgbClr val="052243"/>
                </a:solidFill>
                <a:latin typeface="Arial" pitchFamily="34" charset="0"/>
                <a:ea typeface="Arial" pitchFamily="34" charset="-122"/>
                <a:cs typeface="Arial" pitchFamily="34" charset="-120"/>
              </a:rPr>
              <a:t>Discussion of capabilities and proposed work.</a:t>
            </a:r>
            <a:endParaRPr lang="en-US" sz="1050" dirty="0"/>
          </a:p>
        </p:txBody>
      </p:sp>
      <p:sp>
        <p:nvSpPr>
          <p:cNvPr id="7" name="Text 4"/>
          <p:cNvSpPr/>
          <p:nvPr/>
        </p:nvSpPr>
        <p:spPr>
          <a:xfrm>
            <a:off x="8244233" y="4940201"/>
            <a:ext cx="544068" cy="107900"/>
          </a:xfrm>
          <a:prstGeom prst="rect">
            <a:avLst/>
          </a:prstGeom>
          <a:noFill/>
          <a:ln/>
        </p:spPr>
        <p:txBody>
          <a:bodyPr wrap="square" lIns="0" tIns="0" rIns="0" bIns="0" rtlCol="0" anchor="t"/>
          <a:lstStyle/>
          <a:p>
            <a:pPr algn="r" indent="0" marL="0">
              <a:lnSpc>
                <a:spcPts val="850"/>
              </a:lnSpc>
              <a:buNone/>
            </a:pPr>
            <a:r>
              <a:rPr lang="en-US" sz="850" dirty="0">
                <a:solidFill>
                  <a:srgbClr val="052243"/>
                </a:solidFill>
                <a:latin typeface="Arial" pitchFamily="34" charset="0"/>
                <a:ea typeface="Arial" pitchFamily="34" charset="-122"/>
                <a:cs typeface="Arial" pitchFamily="34" charset="-120"/>
              </a:rPr>
              <a:t>25 / 25</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Operator Framework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Next Era of Kubernetes Operator Lifecycle Management</dc:title>
  <dc:subject>Kubernetes operator lifecycle management and Java Operator SDK</dc:subject>
  <dc:creator>Operator Framework</dc:creator>
  <cp:lastModifiedBy>Operator Framework</cp:lastModifiedBy>
  <cp:revision>1</cp:revision>
  <dcterms:created xsi:type="dcterms:W3CDTF">2026-10-23T20:57:20Z</dcterms:created>
  <dcterms:modified xsi:type="dcterms:W3CDTF">2026-10-23T20:57:20Z</dcterms:modified>
</cp:coreProperties>
</file>

<file path=sdk/_rels/.rels><?xml version="1.0" encoding="UTF-8" standalone="yes"?><Relationships xmlns="http://schemas.openxmlformats.org/package/2006/relationships"><Relationship Id="rId1" Type="http://schemas.openxmlformats.org/officeDocument/2006/relationships/officeDocument" Target="ppt/presentation.xml"/></Relationships>
</file>

<file path=sdk/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sdk/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sdk/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sdk/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sdk/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sdk/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sdk/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sdk/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sdk/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sdk/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sdk/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sdk/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sdk/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sdk/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sdk/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sdk/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sdk/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sdk/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h32b5fa44330d55aa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h32b5fa44330d55aa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sdk/ppt/notesSlides/notesSlide3.xml><?xml version="1.0" encoding="utf-8"?>
<p:notes xmlns:a="http://schemas.openxmlformats.org/drawingml/2006/main" xmlns:p="http://schemas.openxmlformats.org/presentationml/2006/main" xmlns:r="http://schemas.openxmlformats.org/officeDocument/2006/relationship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h32b5fa44330d55aa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h32b5fa44330d55aa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r>
              <a:t>[SDK import: speaker=Attila; section=SDK; sourceSlide3; duration=60 seconds; start=17:00; end=18:00]</a:t>
            </a:r>
          </a:p>
        </p:txBody>
      </p:sp>
    </p:spTree>
  </p:cSld>
  <p:clrMapOvr>
    <a:masterClrMapping/>
  </p:clrMapOvr>
</p:notes>
</file>

<file path=sdk/ppt/notesSlides/notesSlide4.xml><?xml version="1.0" encoding="utf-8"?>
<p:notes xmlns:a="http://schemas.openxmlformats.org/drawingml/2006/main" xmlns:p="http://schemas.openxmlformats.org/presentationml/2006/main" xmlns:r="http://schemas.openxmlformats.org/officeDocument/2006/relationship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h32b5fa44330d55aa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h32b5fa44330d55aa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r>
              <a:t>[SDK import: speaker=Attila; section=SDK; sourceSlide4; duration=60 seconds; start=18:00; end=19:00]</a:t>
            </a:r>
          </a:p>
        </p:txBody>
      </p:sp>
    </p:spTree>
  </p:cSld>
  <p:clrMapOvr>
    <a:masterClrMapping/>
  </p:clrMapOvr>
</p:notes>
</file>

<file path=sdk/ppt/notesSlides/notesSlide5.xml><?xml version="1.0" encoding="utf-8"?>
<p:notes xmlns:a="http://schemas.openxmlformats.org/drawingml/2006/main" xmlns:p="http://schemas.openxmlformats.org/presentationml/2006/main" xmlns:r="http://schemas.openxmlformats.org/officeDocument/2006/relationship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h32b5fa44330d55aa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h32b5fa44330d55aa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r>
              <a:t>[SDK import: speaker=Attila; section=SDK; sourceSlide5; duration=60 seconds; start=19:00; end=20:00]</a:t>
            </a:r>
          </a:p>
        </p:txBody>
      </p:sp>
    </p:spTree>
  </p:cSld>
  <p:clrMapOvr>
    <a:masterClrMapping/>
  </p:clrMapOvr>
</p:notes>
</file>

<file path=sdk/ppt/notesSlides/notesSlide6.xml><?xml version="1.0" encoding="utf-8"?>
<p:notes xmlns:a="http://schemas.openxmlformats.org/drawingml/2006/main" xmlns:p="http://schemas.openxmlformats.org/presentationml/2006/main" xmlns:r="http://schemas.openxmlformats.org/officeDocument/2006/relationship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h32b5fa44330d55aa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h32b5fa44330d55aa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r>
              <a:t>[SDK import: speaker=Attila; section=SDK; sourceSlide6; duration=60 seconds; start=20:00; end=21:00]</a:t>
            </a:r>
          </a:p>
        </p:txBody>
      </p:sp>
    </p:spTree>
  </p:cSld>
  <p:clrMapOvr>
    <a:masterClrMapping/>
  </p:clrMapOvr>
</p:notes>
</file>

<file path=sdk/ppt/notesSlides/notesSlide7.xml><?xml version="1.0" encoding="utf-8"?>
<p:notes xmlns:a="http://schemas.openxmlformats.org/drawingml/2006/main" xmlns:p="http://schemas.openxmlformats.org/presentationml/2006/main" xmlns:r="http://schemas.openxmlformats.org/officeDocument/2006/relationship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h32b5fa44330d55aa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h32b5fa44330d55aa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r>
              <a:t>[SDK import: speaker=Attila; section=SDK; sourceSlide7; duration=60 seconds; start=21:00; end=22:00]</a:t>
            </a:r>
          </a:p>
        </p:txBody>
      </p:sp>
    </p:spTree>
  </p:cSld>
  <p:clrMapOvr>
    <a:masterClrMapping/>
  </p:clrMapOvr>
</p:notes>
</file>

<file path=sdk/ppt/notesSlides/notesSlide8.xml><?xml version="1.0" encoding="utf-8"?>
<p:notes xmlns:a="http://schemas.openxmlformats.org/drawingml/2006/main" xmlns:p="http://schemas.openxmlformats.org/presentationml/2006/main" xmlns:r="http://schemas.openxmlformats.org/officeDocument/2006/relationship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h32b5fa44330d55aa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h32b5fa44330d55aa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r>
              <a:t>[SDK import: speaker=Attila; section=SDK; sourceSlide8; duration=60 seconds; start=22:00; end=23:00]</a:t>
            </a:r>
          </a:p>
        </p:txBody>
      </p:sp>
    </p:spTree>
  </p:cSld>
  <p:clrMapOvr>
    <a:masterClrMapping/>
  </p:clrMapOvr>
</p:notes>
</file>

<file path=sdk/ppt/notesSlides/notesSlide9.xml><?xml version="1.0" encoding="utf-8"?>
<p:notes xmlns:a="http://schemas.openxmlformats.org/drawingml/2006/main" xmlns:p="http://schemas.openxmlformats.org/presentationml/2006/main" xmlns:r="http://schemas.openxmlformats.org/officeDocument/2006/relationship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h32b5fa44330d55aa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h32b5fa44330d55aa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r>
              <a:t>[SDK import: speaker=Attila; section=SDK; sourceSlide9; duration=60 seconds; start=23:00; end=24:00]</a:t>
            </a:r>
          </a:p>
        </p:txBody>
      </p:sp>
    </p:spTree>
  </p:cSld>
  <p:clrMapOvr>
    <a:masterClrMapping/>
  </p:clrMapOvr>
</p:notes>
</file>

<file path=sdk/ppt/notesSlides/notesSlide10.xml><?xml version="1.0" encoding="utf-8"?>
<p:notes xmlns:a="http://schemas.openxmlformats.org/drawingml/2006/main" xmlns:p="http://schemas.openxmlformats.org/presentationml/2006/main" xmlns:r="http://schemas.openxmlformats.org/officeDocument/2006/relationship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h32b5fa44330d55aa_12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h32b5fa44330d55aa_12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r>
              <a:t>[SDK import: speaker=Attila; section=SDK; sourceSlide10; duration=60 seconds; start=24:00; end=25:00]</a:t>
            </a:r>
          </a:p>
        </p:txBody>
      </p:sp>
    </p:spTree>
  </p:cSld>
  <p:clrMapOvr>
    <a:masterClrMapping/>
  </p:clrMapOvr>
</p:notes>
</file>

<file path=sdk/ppt/notesSlides/notesSlide11.xml><?xml version="1.0" encoding="utf-8"?>
<p:notes xmlns:a="http://schemas.openxmlformats.org/drawingml/2006/main" xmlns:p="http://schemas.openxmlformats.org/presentationml/2006/main" xmlns:r="http://schemas.openxmlformats.org/officeDocument/2006/relationship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h32b5fa44330d55aa_1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h32b5fa44330d55aa_1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r>
              <a:t>[SDK import: speaker=Attila; section=SDK; sourceSlide11; duration=60 seconds; start=25:00; end=26:00]</a:t>
            </a:r>
          </a:p>
        </p:txBody>
      </p:sp>
    </p:spTree>
  </p:cSld>
  <p:clrMapOvr>
    <a:masterClrMapping/>
  </p:clrMapOvr>
</p:notes>
</file>

<file path=sdk/ppt/notesSlides/notesSlide12.xml><?xml version="1.0" encoding="utf-8"?>
<p:notes xmlns:a="http://schemas.openxmlformats.org/drawingml/2006/main" xmlns:p="http://schemas.openxmlformats.org/presentationml/2006/main" xmlns:r="http://schemas.openxmlformats.org/officeDocument/2006/relationship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h32b5fa44330d55aa_12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h32b5fa44330d55aa_12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r>
              <a:t>[SDK import: speaker=Attila; section=SDK; sourceSlide12; duration=60 seconds; start=26:00; end=27:00]</a:t>
            </a:r>
          </a:p>
        </p:txBody>
      </p:sp>
    </p:spTree>
  </p:cSld>
  <p:clrMapOvr>
    <a:masterClrMapping/>
  </p:clrMapOvr>
</p:notes>
</file>

<file path=sdk/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h32b5fa44330d55aa_12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h32b5fa44330d55aa_12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sdk/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sdk/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sdk/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s>
</file>

<file path=sdk/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s>
</file>

<file path=sdk/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2.png"/></Relationships>
</file>

<file path=sdk/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2.png"/></Relationships>
</file>

<file path=sdk/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sdk/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sdk/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sdk/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sdk/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0" l="0" r="15741" t="0"/>
          <a:stretch/>
        </p:blipFill>
        <p:spPr>
          <a:xfrm>
            <a:off x="0" y="2252133"/>
            <a:ext cx="9144000" cy="2891367"/>
          </a:xfrm>
          <a:prstGeom prst="rect">
            <a:avLst/>
          </a:prstGeom>
          <a:noFill/>
          <a:ln>
            <a:noFill/>
          </a:ln>
        </p:spPr>
      </p:pic>
      <p:grpSp>
        <p:nvGrpSpPr>
          <p:cNvPr id="11" name="Google Shape;11;p2"/>
          <p:cNvGrpSpPr/>
          <p:nvPr/>
        </p:nvGrpSpPr>
        <p:grpSpPr>
          <a:xfrm>
            <a:off x="177800" y="1278466"/>
            <a:ext cx="8966100" cy="2277600"/>
            <a:chOff x="177800" y="1278466"/>
            <a:chExt cx="8966100" cy="2277600"/>
          </a:xfrm>
        </p:grpSpPr>
        <p:sp>
          <p:nvSpPr>
            <p:cNvPr id="12" name="Google Shape;12;p2"/>
            <p:cNvSpPr/>
            <p:nvPr/>
          </p:nvSpPr>
          <p:spPr>
            <a:xfrm>
              <a:off x="177800" y="1701800"/>
              <a:ext cx="8966100" cy="13632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3" name="Google Shape;13;p2"/>
            <p:cNvSpPr/>
            <p:nvPr/>
          </p:nvSpPr>
          <p:spPr>
            <a:xfrm>
              <a:off x="6045200" y="1278466"/>
              <a:ext cx="2404500" cy="19785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4" name="Google Shape;14;p2"/>
            <p:cNvSpPr/>
            <p:nvPr/>
          </p:nvSpPr>
          <p:spPr>
            <a:xfrm>
              <a:off x="1642534" y="1278466"/>
              <a:ext cx="2404500" cy="22776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sp>
        <p:nvSpPr>
          <p:cNvPr id="15" name="Google Shape;15;p2"/>
          <p:cNvSpPr txBox="1"/>
          <p:nvPr>
            <p:ph type="ctrTitle"/>
          </p:nvPr>
        </p:nvSpPr>
        <p:spPr>
          <a:xfrm>
            <a:off x="311215" y="1251446"/>
            <a:ext cx="8010300" cy="14553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4800"/>
              <a:buNone/>
              <a:defRPr b="1" i="0" sz="4800">
                <a:solidFill>
                  <a:schemeClr val="lt1"/>
                </a:solidFill>
                <a:latin typeface="Arial"/>
                <a:ea typeface="Arial"/>
                <a:cs typeface="Arial"/>
                <a:sym typeface="Arial"/>
              </a:defRPr>
            </a:lvl1pPr>
            <a:lvl2pPr lvl="1" algn="ctr">
              <a:lnSpc>
                <a:spcPct val="100000"/>
              </a:lnSpc>
              <a:spcBef>
                <a:spcPts val="0"/>
              </a:spcBef>
              <a:spcAft>
                <a:spcPts val="0"/>
              </a:spcAft>
              <a:buClr>
                <a:schemeClr val="lt1"/>
              </a:buClr>
              <a:buSzPts val="4800"/>
              <a:buNone/>
              <a:defRPr sz="4800">
                <a:solidFill>
                  <a:schemeClr val="lt1"/>
                </a:solidFill>
              </a:defRPr>
            </a:lvl2pPr>
            <a:lvl3pPr lvl="2" algn="ctr">
              <a:lnSpc>
                <a:spcPct val="100000"/>
              </a:lnSpc>
              <a:spcBef>
                <a:spcPts val="0"/>
              </a:spcBef>
              <a:spcAft>
                <a:spcPts val="0"/>
              </a:spcAft>
              <a:buClr>
                <a:schemeClr val="lt1"/>
              </a:buClr>
              <a:buSzPts val="4800"/>
              <a:buNone/>
              <a:defRPr sz="4800">
                <a:solidFill>
                  <a:schemeClr val="lt1"/>
                </a:solidFill>
              </a:defRPr>
            </a:lvl3pPr>
            <a:lvl4pPr lvl="3" algn="ctr">
              <a:lnSpc>
                <a:spcPct val="100000"/>
              </a:lnSpc>
              <a:spcBef>
                <a:spcPts val="0"/>
              </a:spcBef>
              <a:spcAft>
                <a:spcPts val="0"/>
              </a:spcAft>
              <a:buClr>
                <a:schemeClr val="lt1"/>
              </a:buClr>
              <a:buSzPts val="4800"/>
              <a:buNone/>
              <a:defRPr sz="4800">
                <a:solidFill>
                  <a:schemeClr val="lt1"/>
                </a:solidFill>
              </a:defRPr>
            </a:lvl4pPr>
            <a:lvl5pPr lvl="4" algn="ctr">
              <a:lnSpc>
                <a:spcPct val="100000"/>
              </a:lnSpc>
              <a:spcBef>
                <a:spcPts val="0"/>
              </a:spcBef>
              <a:spcAft>
                <a:spcPts val="0"/>
              </a:spcAft>
              <a:buClr>
                <a:schemeClr val="lt1"/>
              </a:buClr>
              <a:buSzPts val="4800"/>
              <a:buNone/>
              <a:defRPr sz="4800">
                <a:solidFill>
                  <a:schemeClr val="lt1"/>
                </a:solidFill>
              </a:defRPr>
            </a:lvl5pPr>
            <a:lvl6pPr lvl="5" algn="ctr">
              <a:lnSpc>
                <a:spcPct val="100000"/>
              </a:lnSpc>
              <a:spcBef>
                <a:spcPts val="0"/>
              </a:spcBef>
              <a:spcAft>
                <a:spcPts val="0"/>
              </a:spcAft>
              <a:buClr>
                <a:schemeClr val="lt1"/>
              </a:buClr>
              <a:buSzPts val="4800"/>
              <a:buNone/>
              <a:defRPr sz="4800">
                <a:solidFill>
                  <a:schemeClr val="lt1"/>
                </a:solidFill>
              </a:defRPr>
            </a:lvl6pPr>
            <a:lvl7pPr lvl="6" algn="ctr">
              <a:lnSpc>
                <a:spcPct val="100000"/>
              </a:lnSpc>
              <a:spcBef>
                <a:spcPts val="0"/>
              </a:spcBef>
              <a:spcAft>
                <a:spcPts val="0"/>
              </a:spcAft>
              <a:buClr>
                <a:schemeClr val="lt1"/>
              </a:buClr>
              <a:buSzPts val="4800"/>
              <a:buNone/>
              <a:defRPr sz="4800">
                <a:solidFill>
                  <a:schemeClr val="lt1"/>
                </a:solidFill>
              </a:defRPr>
            </a:lvl7pPr>
            <a:lvl8pPr lvl="7" algn="ctr">
              <a:lnSpc>
                <a:spcPct val="100000"/>
              </a:lnSpc>
              <a:spcBef>
                <a:spcPts val="0"/>
              </a:spcBef>
              <a:spcAft>
                <a:spcPts val="0"/>
              </a:spcAft>
              <a:buClr>
                <a:schemeClr val="lt1"/>
              </a:buClr>
              <a:buSzPts val="4800"/>
              <a:buNone/>
              <a:defRPr sz="4800">
                <a:solidFill>
                  <a:schemeClr val="lt1"/>
                </a:solidFill>
              </a:defRPr>
            </a:lvl8pPr>
            <a:lvl9pPr lvl="8" algn="ctr">
              <a:lnSpc>
                <a:spcPct val="100000"/>
              </a:lnSpc>
              <a:spcBef>
                <a:spcPts val="0"/>
              </a:spcBef>
              <a:spcAft>
                <a:spcPts val="0"/>
              </a:spcAft>
              <a:buClr>
                <a:schemeClr val="lt1"/>
              </a:buClr>
              <a:buSzPts val="4800"/>
              <a:buNone/>
              <a:defRPr sz="4800">
                <a:solidFill>
                  <a:schemeClr val="lt1"/>
                </a:solidFill>
              </a:defRPr>
            </a:lvl9pPr>
          </a:lstStyle>
          <a:p/>
        </p:txBody>
      </p:sp>
      <p:sp>
        <p:nvSpPr>
          <p:cNvPr id="16" name="Google Shape;16;p2"/>
          <p:cNvSpPr txBox="1"/>
          <p:nvPr>
            <p:ph idx="1" type="subTitle"/>
          </p:nvPr>
        </p:nvSpPr>
        <p:spPr>
          <a:xfrm>
            <a:off x="311214" y="2706624"/>
            <a:ext cx="8010300" cy="6093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800"/>
              <a:buNone/>
              <a:defRPr b="1" i="0" sz="2800">
                <a:solidFill>
                  <a:schemeClr val="accent6"/>
                </a:solidFill>
                <a:latin typeface="Arial"/>
                <a:ea typeface="Arial"/>
                <a:cs typeface="Arial"/>
                <a:sym typeface="Arial"/>
              </a:defRPr>
            </a:lvl1pPr>
            <a:lvl2pPr lvl="1" algn="ctr">
              <a:lnSpc>
                <a:spcPct val="100000"/>
              </a:lnSpc>
              <a:spcBef>
                <a:spcPts val="0"/>
              </a:spcBef>
              <a:spcAft>
                <a:spcPts val="0"/>
              </a:spcAft>
              <a:buClr>
                <a:schemeClr val="lt1"/>
              </a:buClr>
              <a:buSzPts val="2800"/>
              <a:buNone/>
              <a:defRPr sz="2800">
                <a:solidFill>
                  <a:schemeClr val="lt1"/>
                </a:solidFill>
              </a:defRPr>
            </a:lvl2pPr>
            <a:lvl3pPr lvl="2" algn="ctr">
              <a:lnSpc>
                <a:spcPct val="100000"/>
              </a:lnSpc>
              <a:spcBef>
                <a:spcPts val="0"/>
              </a:spcBef>
              <a:spcAft>
                <a:spcPts val="0"/>
              </a:spcAft>
              <a:buClr>
                <a:schemeClr val="lt1"/>
              </a:buClr>
              <a:buSzPts val="2800"/>
              <a:buNone/>
              <a:defRPr sz="2800">
                <a:solidFill>
                  <a:schemeClr val="lt1"/>
                </a:solidFill>
              </a:defRPr>
            </a:lvl3pPr>
            <a:lvl4pPr lvl="3" algn="ctr">
              <a:lnSpc>
                <a:spcPct val="100000"/>
              </a:lnSpc>
              <a:spcBef>
                <a:spcPts val="0"/>
              </a:spcBef>
              <a:spcAft>
                <a:spcPts val="0"/>
              </a:spcAft>
              <a:buClr>
                <a:schemeClr val="lt1"/>
              </a:buClr>
              <a:buSzPts val="2800"/>
              <a:buNone/>
              <a:defRPr sz="2800">
                <a:solidFill>
                  <a:schemeClr val="lt1"/>
                </a:solidFill>
              </a:defRPr>
            </a:lvl4pPr>
            <a:lvl5pPr lvl="4" algn="ctr">
              <a:lnSpc>
                <a:spcPct val="100000"/>
              </a:lnSpc>
              <a:spcBef>
                <a:spcPts val="0"/>
              </a:spcBef>
              <a:spcAft>
                <a:spcPts val="0"/>
              </a:spcAft>
              <a:buClr>
                <a:schemeClr val="lt1"/>
              </a:buClr>
              <a:buSzPts val="2800"/>
              <a:buNone/>
              <a:defRPr sz="2800">
                <a:solidFill>
                  <a:schemeClr val="lt1"/>
                </a:solidFill>
              </a:defRPr>
            </a:lvl5pPr>
            <a:lvl6pPr lvl="5" algn="ctr">
              <a:lnSpc>
                <a:spcPct val="100000"/>
              </a:lnSpc>
              <a:spcBef>
                <a:spcPts val="0"/>
              </a:spcBef>
              <a:spcAft>
                <a:spcPts val="0"/>
              </a:spcAft>
              <a:buClr>
                <a:schemeClr val="lt1"/>
              </a:buClr>
              <a:buSzPts val="2800"/>
              <a:buNone/>
              <a:defRPr sz="2800">
                <a:solidFill>
                  <a:schemeClr val="lt1"/>
                </a:solidFill>
              </a:defRPr>
            </a:lvl6pPr>
            <a:lvl7pPr lvl="6" algn="ctr">
              <a:lnSpc>
                <a:spcPct val="100000"/>
              </a:lnSpc>
              <a:spcBef>
                <a:spcPts val="0"/>
              </a:spcBef>
              <a:spcAft>
                <a:spcPts val="0"/>
              </a:spcAft>
              <a:buClr>
                <a:schemeClr val="lt1"/>
              </a:buClr>
              <a:buSzPts val="2800"/>
              <a:buNone/>
              <a:defRPr sz="2800">
                <a:solidFill>
                  <a:schemeClr val="lt1"/>
                </a:solidFill>
              </a:defRPr>
            </a:lvl7pPr>
            <a:lvl8pPr lvl="7" algn="ctr">
              <a:lnSpc>
                <a:spcPct val="100000"/>
              </a:lnSpc>
              <a:spcBef>
                <a:spcPts val="0"/>
              </a:spcBef>
              <a:spcAft>
                <a:spcPts val="0"/>
              </a:spcAft>
              <a:buClr>
                <a:schemeClr val="lt1"/>
              </a:buClr>
              <a:buSzPts val="2800"/>
              <a:buNone/>
              <a:defRPr sz="2800">
                <a:solidFill>
                  <a:schemeClr val="lt1"/>
                </a:solidFill>
              </a:defRPr>
            </a:lvl8pPr>
            <a:lvl9pPr lvl="8" algn="ctr">
              <a:lnSpc>
                <a:spcPct val="100000"/>
              </a:lnSpc>
              <a:spcBef>
                <a:spcPts val="0"/>
              </a:spcBef>
              <a:spcAft>
                <a:spcPts val="0"/>
              </a:spcAft>
              <a:buClr>
                <a:schemeClr val="lt1"/>
              </a:buClr>
              <a:buSzPts val="2800"/>
              <a:buNone/>
              <a:defRPr sz="2800">
                <a:solidFill>
                  <a:schemeClr val="lt1"/>
                </a:solidFill>
              </a:defRPr>
            </a:lvl9pPr>
          </a:lstStyle>
          <a:p/>
        </p:txBody>
      </p:sp>
      <p:sp>
        <p:nvSpPr>
          <p:cNvPr id="17" name="Google Shape;17;p2"/>
          <p:cNvSpPr txBox="1"/>
          <p:nvPr/>
        </p:nvSpPr>
        <p:spPr>
          <a:xfrm>
            <a:off x="5715812" y="178532"/>
            <a:ext cx="3111300" cy="3078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Arial"/>
              <a:buNone/>
            </a:pPr>
            <a:r>
              <a:rPr b="0" i="0" lang="en-GB" sz="1400" u="none" cap="none" strike="noStrike">
                <a:solidFill>
                  <a:schemeClr val="lt1"/>
                </a:solidFill>
                <a:latin typeface="Arial"/>
                <a:ea typeface="Arial"/>
                <a:cs typeface="Arial"/>
                <a:sym typeface="Arial"/>
              </a:rPr>
              <a:t>#KubeCon #CloudNativeCon</a:t>
            </a:r>
            <a:endParaRPr b="0" i="0" sz="1400" u="none" cap="none" strike="noStrike">
              <a:solidFill>
                <a:schemeClr val="lt1"/>
              </a:solidFill>
              <a:latin typeface="Arial"/>
              <a:ea typeface="Arial"/>
              <a:cs typeface="Arial"/>
              <a:sym typeface="Arial"/>
            </a:endParaRPr>
          </a:p>
        </p:txBody>
      </p:sp>
      <p:pic>
        <p:nvPicPr>
          <p:cNvPr id="18" name="Google Shape;18;p2"/>
          <p:cNvPicPr preferRelativeResize="0"/>
          <p:nvPr/>
        </p:nvPicPr>
        <p:blipFill rotWithShape="1">
          <a:blip r:embed="rId3">
            <a:alphaModFix/>
          </a:blip>
          <a:srcRect b="0" l="0" r="0" t="0"/>
          <a:stretch/>
        </p:blipFill>
        <p:spPr>
          <a:xfrm>
            <a:off x="311214" y="181507"/>
            <a:ext cx="2062800" cy="866974"/>
          </a:xfrm>
          <a:prstGeom prst="rect">
            <a:avLst/>
          </a:prstGeom>
          <a:noFill/>
          <a:ln>
            <a:noFill/>
          </a:ln>
        </p:spPr>
      </p:pic>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sdk/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lt2"/>
        </a:solidFill>
      </p:bgPr>
    </p:bg>
    <p:spTree>
      <p:nvGrpSpPr>
        <p:cNvPr id="19" name="Shape 19"/>
        <p:cNvGrpSpPr/>
        <p:nvPr/>
      </p:nvGrpSpPr>
      <p:grpSpPr>
        <a:xfrm>
          <a:off x="0" y="0"/>
          <a:ext cx="0" cy="0"/>
          <a:chOff x="0" y="0"/>
          <a:chExt cx="0" cy="0"/>
        </a:xfrm>
      </p:grpSpPr>
      <p:pic>
        <p:nvPicPr>
          <p:cNvPr id="20" name="Google Shape;20;p3"/>
          <p:cNvPicPr preferRelativeResize="0"/>
          <p:nvPr/>
        </p:nvPicPr>
        <p:blipFill rotWithShape="1">
          <a:blip r:embed="rId2">
            <a:alphaModFix/>
          </a:blip>
          <a:srcRect b="0" l="0" r="15741" t="0"/>
          <a:stretch/>
        </p:blipFill>
        <p:spPr>
          <a:xfrm>
            <a:off x="0" y="2252133"/>
            <a:ext cx="9144000" cy="2891367"/>
          </a:xfrm>
          <a:prstGeom prst="rect">
            <a:avLst/>
          </a:prstGeom>
          <a:noFill/>
          <a:ln>
            <a:noFill/>
          </a:ln>
        </p:spPr>
      </p:pic>
      <p:grpSp>
        <p:nvGrpSpPr>
          <p:cNvPr id="21" name="Google Shape;21;p3"/>
          <p:cNvGrpSpPr/>
          <p:nvPr/>
        </p:nvGrpSpPr>
        <p:grpSpPr>
          <a:xfrm>
            <a:off x="177800" y="1278466"/>
            <a:ext cx="8966100" cy="2277600"/>
            <a:chOff x="177800" y="1278466"/>
            <a:chExt cx="8966100" cy="2277600"/>
          </a:xfrm>
        </p:grpSpPr>
        <p:sp>
          <p:nvSpPr>
            <p:cNvPr id="22" name="Google Shape;22;p3"/>
            <p:cNvSpPr/>
            <p:nvPr/>
          </p:nvSpPr>
          <p:spPr>
            <a:xfrm>
              <a:off x="177800" y="1701800"/>
              <a:ext cx="8966100" cy="13632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3" name="Google Shape;23;p3"/>
            <p:cNvSpPr/>
            <p:nvPr/>
          </p:nvSpPr>
          <p:spPr>
            <a:xfrm>
              <a:off x="6045200" y="1278466"/>
              <a:ext cx="2404500" cy="19785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4" name="Google Shape;24;p3"/>
            <p:cNvSpPr/>
            <p:nvPr/>
          </p:nvSpPr>
          <p:spPr>
            <a:xfrm>
              <a:off x="1642534" y="1278466"/>
              <a:ext cx="2404500" cy="22776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sp>
        <p:nvSpPr>
          <p:cNvPr id="25" name="Google Shape;25;p3"/>
          <p:cNvSpPr txBox="1"/>
          <p:nvPr>
            <p:ph type="title"/>
          </p:nvPr>
        </p:nvSpPr>
        <p:spPr>
          <a:xfrm>
            <a:off x="311700" y="1940538"/>
            <a:ext cx="8520600" cy="841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ctr">
              <a:lnSpc>
                <a:spcPct val="100000"/>
              </a:lnSpc>
              <a:spcBef>
                <a:spcPts val="0"/>
              </a:spcBef>
              <a:spcAft>
                <a:spcPts val="0"/>
              </a:spcAft>
              <a:buClr>
                <a:schemeClr val="lt1"/>
              </a:buClr>
              <a:buSzPts val="3600"/>
              <a:buNone/>
              <a:defRPr sz="3600">
                <a:solidFill>
                  <a:schemeClr val="lt1"/>
                </a:solidFill>
              </a:defRPr>
            </a:lvl2pPr>
            <a:lvl3pPr lvl="2" algn="ctr">
              <a:lnSpc>
                <a:spcPct val="100000"/>
              </a:lnSpc>
              <a:spcBef>
                <a:spcPts val="0"/>
              </a:spcBef>
              <a:spcAft>
                <a:spcPts val="0"/>
              </a:spcAft>
              <a:buClr>
                <a:schemeClr val="lt1"/>
              </a:buClr>
              <a:buSzPts val="3600"/>
              <a:buNone/>
              <a:defRPr sz="3600">
                <a:solidFill>
                  <a:schemeClr val="lt1"/>
                </a:solidFill>
              </a:defRPr>
            </a:lvl3pPr>
            <a:lvl4pPr lvl="3" algn="ctr">
              <a:lnSpc>
                <a:spcPct val="100000"/>
              </a:lnSpc>
              <a:spcBef>
                <a:spcPts val="0"/>
              </a:spcBef>
              <a:spcAft>
                <a:spcPts val="0"/>
              </a:spcAft>
              <a:buClr>
                <a:schemeClr val="lt1"/>
              </a:buClr>
              <a:buSzPts val="3600"/>
              <a:buNone/>
              <a:defRPr sz="3600">
                <a:solidFill>
                  <a:schemeClr val="lt1"/>
                </a:solidFill>
              </a:defRPr>
            </a:lvl4pPr>
            <a:lvl5pPr lvl="4" algn="ctr">
              <a:lnSpc>
                <a:spcPct val="100000"/>
              </a:lnSpc>
              <a:spcBef>
                <a:spcPts val="0"/>
              </a:spcBef>
              <a:spcAft>
                <a:spcPts val="0"/>
              </a:spcAft>
              <a:buClr>
                <a:schemeClr val="lt1"/>
              </a:buClr>
              <a:buSzPts val="3600"/>
              <a:buNone/>
              <a:defRPr sz="3600">
                <a:solidFill>
                  <a:schemeClr val="lt1"/>
                </a:solidFill>
              </a:defRPr>
            </a:lvl5pPr>
            <a:lvl6pPr lvl="5" algn="ctr">
              <a:lnSpc>
                <a:spcPct val="100000"/>
              </a:lnSpc>
              <a:spcBef>
                <a:spcPts val="0"/>
              </a:spcBef>
              <a:spcAft>
                <a:spcPts val="0"/>
              </a:spcAft>
              <a:buClr>
                <a:schemeClr val="lt1"/>
              </a:buClr>
              <a:buSzPts val="3600"/>
              <a:buNone/>
              <a:defRPr sz="3600">
                <a:solidFill>
                  <a:schemeClr val="lt1"/>
                </a:solidFill>
              </a:defRPr>
            </a:lvl6pPr>
            <a:lvl7pPr lvl="6" algn="ctr">
              <a:lnSpc>
                <a:spcPct val="100000"/>
              </a:lnSpc>
              <a:spcBef>
                <a:spcPts val="0"/>
              </a:spcBef>
              <a:spcAft>
                <a:spcPts val="0"/>
              </a:spcAft>
              <a:buClr>
                <a:schemeClr val="lt1"/>
              </a:buClr>
              <a:buSzPts val="3600"/>
              <a:buNone/>
              <a:defRPr sz="3600">
                <a:solidFill>
                  <a:schemeClr val="lt1"/>
                </a:solidFill>
              </a:defRPr>
            </a:lvl7pPr>
            <a:lvl8pPr lvl="7" algn="ctr">
              <a:lnSpc>
                <a:spcPct val="100000"/>
              </a:lnSpc>
              <a:spcBef>
                <a:spcPts val="0"/>
              </a:spcBef>
              <a:spcAft>
                <a:spcPts val="0"/>
              </a:spcAft>
              <a:buClr>
                <a:schemeClr val="lt1"/>
              </a:buClr>
              <a:buSzPts val="3600"/>
              <a:buNone/>
              <a:defRPr sz="3600">
                <a:solidFill>
                  <a:schemeClr val="lt1"/>
                </a:solidFill>
              </a:defRPr>
            </a:lvl8pPr>
            <a:lvl9pPr lvl="8" algn="ctr">
              <a:lnSpc>
                <a:spcPct val="100000"/>
              </a:lnSpc>
              <a:spcBef>
                <a:spcPts val="0"/>
              </a:spcBef>
              <a:spcAft>
                <a:spcPts val="0"/>
              </a:spcAft>
              <a:buClr>
                <a:schemeClr val="lt1"/>
              </a:buClr>
              <a:buSzPts val="3600"/>
              <a:buNone/>
              <a:defRPr sz="3600">
                <a:solidFill>
                  <a:schemeClr val="lt1"/>
                </a:solidFill>
              </a:defRPr>
            </a:lvl9pPr>
          </a:lstStyle>
          <a:p/>
        </p:txBody>
      </p:sp>
      <p:pic>
        <p:nvPicPr>
          <p:cNvPr id="26" name="Google Shape;26;p3"/>
          <p:cNvPicPr preferRelativeResize="0"/>
          <p:nvPr/>
        </p:nvPicPr>
        <p:blipFill rotWithShape="1">
          <a:blip r:embed="rId3">
            <a:alphaModFix/>
          </a:blip>
          <a:srcRect b="0" l="0" r="0" t="0"/>
          <a:stretch/>
        </p:blipFill>
        <p:spPr>
          <a:xfrm>
            <a:off x="311214" y="181507"/>
            <a:ext cx="2062800" cy="866974"/>
          </a:xfrm>
          <a:prstGeom prst="rect">
            <a:avLst/>
          </a:prstGeom>
          <a:noFill/>
          <a:ln>
            <a:noFill/>
          </a:ln>
        </p:spPr>
      </p:pic>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sdk/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1_Section header">
    <p:bg>
      <p:bgPr>
        <a:solidFill>
          <a:schemeClr val="lt2"/>
        </a:solidFill>
      </p:bgPr>
    </p:bg>
    <p:spTree>
      <p:nvGrpSpPr>
        <p:cNvPr id="27" name="Shape 27"/>
        <p:cNvGrpSpPr/>
        <p:nvPr/>
      </p:nvGrpSpPr>
      <p:grpSpPr>
        <a:xfrm>
          <a:off x="0" y="0"/>
          <a:ext cx="0" cy="0"/>
          <a:chOff x="0" y="0"/>
          <a:chExt cx="0" cy="0"/>
        </a:xfrm>
      </p:grpSpPr>
      <p:grpSp>
        <p:nvGrpSpPr>
          <p:cNvPr id="28" name="Google Shape;28;p4"/>
          <p:cNvGrpSpPr/>
          <p:nvPr/>
        </p:nvGrpSpPr>
        <p:grpSpPr>
          <a:xfrm>
            <a:off x="-35" y="4475798"/>
            <a:ext cx="9143866" cy="667628"/>
            <a:chOff x="2374014" y="4484308"/>
            <a:chExt cx="9028304" cy="659191"/>
          </a:xfrm>
        </p:grpSpPr>
        <p:pic>
          <p:nvPicPr>
            <p:cNvPr id="29" name="Google Shape;29;p4"/>
            <p:cNvPicPr preferRelativeResize="0"/>
            <p:nvPr/>
          </p:nvPicPr>
          <p:blipFill rotWithShape="1">
            <a:blip r:embed="rId2">
              <a:alphaModFix/>
            </a:blip>
            <a:srcRect b="0" l="0" r="0" t="0"/>
            <a:stretch/>
          </p:blipFill>
          <p:spPr>
            <a:xfrm>
              <a:off x="6817945" y="4484308"/>
              <a:ext cx="4584373" cy="659191"/>
            </a:xfrm>
            <a:prstGeom prst="rect">
              <a:avLst/>
            </a:prstGeom>
            <a:noFill/>
            <a:ln>
              <a:noFill/>
            </a:ln>
          </p:spPr>
        </p:pic>
        <p:pic>
          <p:nvPicPr>
            <p:cNvPr id="30" name="Google Shape;30;p4"/>
            <p:cNvPicPr preferRelativeResize="0"/>
            <p:nvPr/>
          </p:nvPicPr>
          <p:blipFill rotWithShape="1">
            <a:blip r:embed="rId2">
              <a:alphaModFix/>
            </a:blip>
            <a:srcRect b="0" l="0" r="0" t="0"/>
            <a:stretch/>
          </p:blipFill>
          <p:spPr>
            <a:xfrm>
              <a:off x="2374014" y="4484308"/>
              <a:ext cx="4584373" cy="659191"/>
            </a:xfrm>
            <a:prstGeom prst="rect">
              <a:avLst/>
            </a:prstGeom>
            <a:noFill/>
            <a:ln>
              <a:noFill/>
            </a:ln>
          </p:spPr>
        </p:pic>
      </p:grpSp>
      <p:pic>
        <p:nvPicPr>
          <p:cNvPr id="31" name="Google Shape;31;p4"/>
          <p:cNvPicPr preferRelativeResize="0"/>
          <p:nvPr/>
        </p:nvPicPr>
        <p:blipFill rotWithShape="1">
          <a:blip r:embed="rId3">
            <a:alphaModFix/>
          </a:blip>
          <a:srcRect b="0" l="0" r="0" t="0"/>
          <a:stretch/>
        </p:blipFill>
        <p:spPr>
          <a:xfrm>
            <a:off x="6241724" y="615950"/>
            <a:ext cx="2902276" cy="4527550"/>
          </a:xfrm>
          <a:prstGeom prst="rect">
            <a:avLst/>
          </a:prstGeom>
          <a:noFill/>
          <a:ln>
            <a:noFill/>
          </a:ln>
        </p:spPr>
      </p:pic>
      <p:pic>
        <p:nvPicPr>
          <p:cNvPr id="32" name="Google Shape;32;p4"/>
          <p:cNvPicPr preferRelativeResize="0"/>
          <p:nvPr/>
        </p:nvPicPr>
        <p:blipFill rotWithShape="1">
          <a:blip r:embed="rId4">
            <a:alphaModFix/>
          </a:blip>
          <a:srcRect b="23715" l="12113" r="0" t="0"/>
          <a:stretch/>
        </p:blipFill>
        <p:spPr>
          <a:xfrm>
            <a:off x="-1" y="4174681"/>
            <a:ext cx="2745768" cy="968819"/>
          </a:xfrm>
          <a:prstGeom prst="rect">
            <a:avLst/>
          </a:prstGeom>
          <a:noFill/>
          <a:ln>
            <a:noFill/>
          </a:ln>
        </p:spPr>
      </p:pic>
      <p:pic>
        <p:nvPicPr>
          <p:cNvPr id="33" name="Google Shape;33;p4"/>
          <p:cNvPicPr preferRelativeResize="0"/>
          <p:nvPr/>
        </p:nvPicPr>
        <p:blipFill rotWithShape="1">
          <a:blip r:embed="rId5">
            <a:alphaModFix/>
          </a:blip>
          <a:srcRect b="1" l="0" r="0" t="6472"/>
          <a:stretch/>
        </p:blipFill>
        <p:spPr>
          <a:xfrm>
            <a:off x="4975012" y="0"/>
            <a:ext cx="1946881" cy="826052"/>
          </a:xfrm>
          <a:prstGeom prst="rect">
            <a:avLst/>
          </a:prstGeom>
          <a:noFill/>
          <a:ln>
            <a:noFill/>
          </a:ln>
        </p:spPr>
      </p:pic>
      <p:sp>
        <p:nvSpPr>
          <p:cNvPr id="34" name="Google Shape;34;p4"/>
          <p:cNvSpPr txBox="1"/>
          <p:nvPr>
            <p:ph type="title"/>
          </p:nvPr>
        </p:nvSpPr>
        <p:spPr>
          <a:xfrm>
            <a:off x="311700" y="1940538"/>
            <a:ext cx="8520600" cy="841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ctr">
              <a:lnSpc>
                <a:spcPct val="100000"/>
              </a:lnSpc>
              <a:spcBef>
                <a:spcPts val="0"/>
              </a:spcBef>
              <a:spcAft>
                <a:spcPts val="0"/>
              </a:spcAft>
              <a:buClr>
                <a:schemeClr val="lt1"/>
              </a:buClr>
              <a:buSzPts val="3600"/>
              <a:buNone/>
              <a:defRPr sz="3600">
                <a:solidFill>
                  <a:schemeClr val="lt1"/>
                </a:solidFill>
              </a:defRPr>
            </a:lvl2pPr>
            <a:lvl3pPr lvl="2" algn="ctr">
              <a:lnSpc>
                <a:spcPct val="100000"/>
              </a:lnSpc>
              <a:spcBef>
                <a:spcPts val="0"/>
              </a:spcBef>
              <a:spcAft>
                <a:spcPts val="0"/>
              </a:spcAft>
              <a:buClr>
                <a:schemeClr val="lt1"/>
              </a:buClr>
              <a:buSzPts val="3600"/>
              <a:buNone/>
              <a:defRPr sz="3600">
                <a:solidFill>
                  <a:schemeClr val="lt1"/>
                </a:solidFill>
              </a:defRPr>
            </a:lvl3pPr>
            <a:lvl4pPr lvl="3" algn="ctr">
              <a:lnSpc>
                <a:spcPct val="100000"/>
              </a:lnSpc>
              <a:spcBef>
                <a:spcPts val="0"/>
              </a:spcBef>
              <a:spcAft>
                <a:spcPts val="0"/>
              </a:spcAft>
              <a:buClr>
                <a:schemeClr val="lt1"/>
              </a:buClr>
              <a:buSzPts val="3600"/>
              <a:buNone/>
              <a:defRPr sz="3600">
                <a:solidFill>
                  <a:schemeClr val="lt1"/>
                </a:solidFill>
              </a:defRPr>
            </a:lvl4pPr>
            <a:lvl5pPr lvl="4" algn="ctr">
              <a:lnSpc>
                <a:spcPct val="100000"/>
              </a:lnSpc>
              <a:spcBef>
                <a:spcPts val="0"/>
              </a:spcBef>
              <a:spcAft>
                <a:spcPts val="0"/>
              </a:spcAft>
              <a:buClr>
                <a:schemeClr val="lt1"/>
              </a:buClr>
              <a:buSzPts val="3600"/>
              <a:buNone/>
              <a:defRPr sz="3600">
                <a:solidFill>
                  <a:schemeClr val="lt1"/>
                </a:solidFill>
              </a:defRPr>
            </a:lvl5pPr>
            <a:lvl6pPr lvl="5" algn="ctr">
              <a:lnSpc>
                <a:spcPct val="100000"/>
              </a:lnSpc>
              <a:spcBef>
                <a:spcPts val="0"/>
              </a:spcBef>
              <a:spcAft>
                <a:spcPts val="0"/>
              </a:spcAft>
              <a:buClr>
                <a:schemeClr val="lt1"/>
              </a:buClr>
              <a:buSzPts val="3600"/>
              <a:buNone/>
              <a:defRPr sz="3600">
                <a:solidFill>
                  <a:schemeClr val="lt1"/>
                </a:solidFill>
              </a:defRPr>
            </a:lvl6pPr>
            <a:lvl7pPr lvl="6" algn="ctr">
              <a:lnSpc>
                <a:spcPct val="100000"/>
              </a:lnSpc>
              <a:spcBef>
                <a:spcPts val="0"/>
              </a:spcBef>
              <a:spcAft>
                <a:spcPts val="0"/>
              </a:spcAft>
              <a:buClr>
                <a:schemeClr val="lt1"/>
              </a:buClr>
              <a:buSzPts val="3600"/>
              <a:buNone/>
              <a:defRPr sz="3600">
                <a:solidFill>
                  <a:schemeClr val="lt1"/>
                </a:solidFill>
              </a:defRPr>
            </a:lvl7pPr>
            <a:lvl8pPr lvl="7" algn="ctr">
              <a:lnSpc>
                <a:spcPct val="100000"/>
              </a:lnSpc>
              <a:spcBef>
                <a:spcPts val="0"/>
              </a:spcBef>
              <a:spcAft>
                <a:spcPts val="0"/>
              </a:spcAft>
              <a:buClr>
                <a:schemeClr val="lt1"/>
              </a:buClr>
              <a:buSzPts val="3600"/>
              <a:buNone/>
              <a:defRPr sz="3600">
                <a:solidFill>
                  <a:schemeClr val="lt1"/>
                </a:solidFill>
              </a:defRPr>
            </a:lvl8pPr>
            <a:lvl9pPr lvl="8" algn="ctr">
              <a:lnSpc>
                <a:spcPct val="100000"/>
              </a:lnSpc>
              <a:spcBef>
                <a:spcPts val="0"/>
              </a:spcBef>
              <a:spcAft>
                <a:spcPts val="0"/>
              </a:spcAft>
              <a:buClr>
                <a:schemeClr val="lt1"/>
              </a:buClr>
              <a:buSzPts val="3600"/>
              <a:buNone/>
              <a:defRPr sz="3600">
                <a:solidFill>
                  <a:schemeClr val="lt1"/>
                </a:solidFill>
              </a:defRPr>
            </a:lvl9pPr>
          </a:lstStyle>
          <a:p/>
        </p:txBody>
      </p:sp>
      <p:pic>
        <p:nvPicPr>
          <p:cNvPr id="35" name="Google Shape;35;p4"/>
          <p:cNvPicPr preferRelativeResize="0"/>
          <p:nvPr/>
        </p:nvPicPr>
        <p:blipFill rotWithShape="1">
          <a:blip r:embed="rId6">
            <a:alphaModFix/>
          </a:blip>
          <a:srcRect b="0" l="0" r="0" t="0"/>
          <a:stretch/>
        </p:blipFill>
        <p:spPr>
          <a:xfrm>
            <a:off x="311214" y="181507"/>
            <a:ext cx="2062800" cy="866974"/>
          </a:xfrm>
          <a:prstGeom prst="rect">
            <a:avLst/>
          </a:prstGeom>
          <a:noFill/>
          <a:ln>
            <a:noFill/>
          </a:ln>
        </p:spPr>
      </p:pic>
    </p:spTree>
  </p:cSld>
  <p:clrMapOvr>
    <a:masterClrMapping/>
  </p:clrMapOvr>
</p:sldLayout>
</file>

<file path=sdk/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1_Section header 2">
    <p:bg>
      <p:bgPr>
        <a:solidFill>
          <a:schemeClr val="lt2"/>
        </a:solidFill>
      </p:bgPr>
    </p:bg>
    <p:spTree>
      <p:nvGrpSpPr>
        <p:cNvPr id="36" name="Shape 36"/>
        <p:cNvGrpSpPr/>
        <p:nvPr/>
      </p:nvGrpSpPr>
      <p:grpSpPr>
        <a:xfrm>
          <a:off x="0" y="0"/>
          <a:ext cx="0" cy="0"/>
          <a:chOff x="0" y="0"/>
          <a:chExt cx="0" cy="0"/>
        </a:xfrm>
      </p:grpSpPr>
      <p:grpSp>
        <p:nvGrpSpPr>
          <p:cNvPr id="37" name="Google Shape;37;p5"/>
          <p:cNvGrpSpPr/>
          <p:nvPr/>
        </p:nvGrpSpPr>
        <p:grpSpPr>
          <a:xfrm>
            <a:off x="-35" y="4475798"/>
            <a:ext cx="9143866" cy="667628"/>
            <a:chOff x="2374014" y="4484308"/>
            <a:chExt cx="9028304" cy="659191"/>
          </a:xfrm>
        </p:grpSpPr>
        <p:pic>
          <p:nvPicPr>
            <p:cNvPr id="38" name="Google Shape;38;p5"/>
            <p:cNvPicPr preferRelativeResize="0"/>
            <p:nvPr/>
          </p:nvPicPr>
          <p:blipFill rotWithShape="1">
            <a:blip r:embed="rId2">
              <a:alphaModFix/>
            </a:blip>
            <a:srcRect b="0" l="0" r="0" t="0"/>
            <a:stretch/>
          </p:blipFill>
          <p:spPr>
            <a:xfrm>
              <a:off x="6817945" y="4484308"/>
              <a:ext cx="4584373" cy="659191"/>
            </a:xfrm>
            <a:prstGeom prst="rect">
              <a:avLst/>
            </a:prstGeom>
            <a:noFill/>
            <a:ln>
              <a:noFill/>
            </a:ln>
          </p:spPr>
        </p:pic>
        <p:pic>
          <p:nvPicPr>
            <p:cNvPr id="39" name="Google Shape;39;p5"/>
            <p:cNvPicPr preferRelativeResize="0"/>
            <p:nvPr/>
          </p:nvPicPr>
          <p:blipFill rotWithShape="1">
            <a:blip r:embed="rId2">
              <a:alphaModFix/>
            </a:blip>
            <a:srcRect b="0" l="0" r="0" t="0"/>
            <a:stretch/>
          </p:blipFill>
          <p:spPr>
            <a:xfrm>
              <a:off x="2374014" y="4484308"/>
              <a:ext cx="4584373" cy="659191"/>
            </a:xfrm>
            <a:prstGeom prst="rect">
              <a:avLst/>
            </a:prstGeom>
            <a:noFill/>
            <a:ln>
              <a:noFill/>
            </a:ln>
          </p:spPr>
        </p:pic>
      </p:grpSp>
      <p:pic>
        <p:nvPicPr>
          <p:cNvPr id="40" name="Google Shape;40;p5"/>
          <p:cNvPicPr preferRelativeResize="0"/>
          <p:nvPr/>
        </p:nvPicPr>
        <p:blipFill rotWithShape="1">
          <a:blip r:embed="rId3">
            <a:alphaModFix/>
          </a:blip>
          <a:srcRect b="0" l="0" r="0" t="0"/>
          <a:stretch/>
        </p:blipFill>
        <p:spPr>
          <a:xfrm>
            <a:off x="6241724" y="615950"/>
            <a:ext cx="2902276" cy="4527550"/>
          </a:xfrm>
          <a:prstGeom prst="rect">
            <a:avLst/>
          </a:prstGeom>
          <a:noFill/>
          <a:ln>
            <a:noFill/>
          </a:ln>
        </p:spPr>
      </p:pic>
      <p:sp>
        <p:nvSpPr>
          <p:cNvPr id="41" name="Google Shape;41;p5"/>
          <p:cNvSpPr txBox="1"/>
          <p:nvPr>
            <p:ph type="ctrTitle"/>
          </p:nvPr>
        </p:nvSpPr>
        <p:spPr>
          <a:xfrm>
            <a:off x="398302" y="1373367"/>
            <a:ext cx="8010300" cy="2024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ctr">
              <a:lnSpc>
                <a:spcPct val="100000"/>
              </a:lnSpc>
              <a:spcBef>
                <a:spcPts val="0"/>
              </a:spcBef>
              <a:spcAft>
                <a:spcPts val="0"/>
              </a:spcAft>
              <a:buClr>
                <a:schemeClr val="lt1"/>
              </a:buClr>
              <a:buSzPts val="4800"/>
              <a:buNone/>
              <a:defRPr sz="4800">
                <a:solidFill>
                  <a:schemeClr val="lt1"/>
                </a:solidFill>
              </a:defRPr>
            </a:lvl2pPr>
            <a:lvl3pPr lvl="2" algn="ctr">
              <a:lnSpc>
                <a:spcPct val="100000"/>
              </a:lnSpc>
              <a:spcBef>
                <a:spcPts val="0"/>
              </a:spcBef>
              <a:spcAft>
                <a:spcPts val="0"/>
              </a:spcAft>
              <a:buClr>
                <a:schemeClr val="lt1"/>
              </a:buClr>
              <a:buSzPts val="4800"/>
              <a:buNone/>
              <a:defRPr sz="4800">
                <a:solidFill>
                  <a:schemeClr val="lt1"/>
                </a:solidFill>
              </a:defRPr>
            </a:lvl3pPr>
            <a:lvl4pPr lvl="3" algn="ctr">
              <a:lnSpc>
                <a:spcPct val="100000"/>
              </a:lnSpc>
              <a:spcBef>
                <a:spcPts val="0"/>
              </a:spcBef>
              <a:spcAft>
                <a:spcPts val="0"/>
              </a:spcAft>
              <a:buClr>
                <a:schemeClr val="lt1"/>
              </a:buClr>
              <a:buSzPts val="4800"/>
              <a:buNone/>
              <a:defRPr sz="4800">
                <a:solidFill>
                  <a:schemeClr val="lt1"/>
                </a:solidFill>
              </a:defRPr>
            </a:lvl4pPr>
            <a:lvl5pPr lvl="4" algn="ctr">
              <a:lnSpc>
                <a:spcPct val="100000"/>
              </a:lnSpc>
              <a:spcBef>
                <a:spcPts val="0"/>
              </a:spcBef>
              <a:spcAft>
                <a:spcPts val="0"/>
              </a:spcAft>
              <a:buClr>
                <a:schemeClr val="lt1"/>
              </a:buClr>
              <a:buSzPts val="4800"/>
              <a:buNone/>
              <a:defRPr sz="4800">
                <a:solidFill>
                  <a:schemeClr val="lt1"/>
                </a:solidFill>
              </a:defRPr>
            </a:lvl5pPr>
            <a:lvl6pPr lvl="5" algn="ctr">
              <a:lnSpc>
                <a:spcPct val="100000"/>
              </a:lnSpc>
              <a:spcBef>
                <a:spcPts val="0"/>
              </a:spcBef>
              <a:spcAft>
                <a:spcPts val="0"/>
              </a:spcAft>
              <a:buClr>
                <a:schemeClr val="lt1"/>
              </a:buClr>
              <a:buSzPts val="4800"/>
              <a:buNone/>
              <a:defRPr sz="4800">
                <a:solidFill>
                  <a:schemeClr val="lt1"/>
                </a:solidFill>
              </a:defRPr>
            </a:lvl6pPr>
            <a:lvl7pPr lvl="6" algn="ctr">
              <a:lnSpc>
                <a:spcPct val="100000"/>
              </a:lnSpc>
              <a:spcBef>
                <a:spcPts val="0"/>
              </a:spcBef>
              <a:spcAft>
                <a:spcPts val="0"/>
              </a:spcAft>
              <a:buClr>
                <a:schemeClr val="lt1"/>
              </a:buClr>
              <a:buSzPts val="4800"/>
              <a:buNone/>
              <a:defRPr sz="4800">
                <a:solidFill>
                  <a:schemeClr val="lt1"/>
                </a:solidFill>
              </a:defRPr>
            </a:lvl7pPr>
            <a:lvl8pPr lvl="7" algn="ctr">
              <a:lnSpc>
                <a:spcPct val="100000"/>
              </a:lnSpc>
              <a:spcBef>
                <a:spcPts val="0"/>
              </a:spcBef>
              <a:spcAft>
                <a:spcPts val="0"/>
              </a:spcAft>
              <a:buClr>
                <a:schemeClr val="lt1"/>
              </a:buClr>
              <a:buSzPts val="4800"/>
              <a:buNone/>
              <a:defRPr sz="4800">
                <a:solidFill>
                  <a:schemeClr val="lt1"/>
                </a:solidFill>
              </a:defRPr>
            </a:lvl8pPr>
            <a:lvl9pPr lvl="8" algn="ctr">
              <a:lnSpc>
                <a:spcPct val="100000"/>
              </a:lnSpc>
              <a:spcBef>
                <a:spcPts val="0"/>
              </a:spcBef>
              <a:spcAft>
                <a:spcPts val="0"/>
              </a:spcAft>
              <a:buClr>
                <a:schemeClr val="lt1"/>
              </a:buClr>
              <a:buSzPts val="4800"/>
              <a:buNone/>
              <a:defRPr sz="4800">
                <a:solidFill>
                  <a:schemeClr val="lt1"/>
                </a:solidFill>
              </a:defRPr>
            </a:lvl9pPr>
          </a:lstStyle>
          <a:p/>
        </p:txBody>
      </p:sp>
      <p:sp>
        <p:nvSpPr>
          <p:cNvPr id="42" name="Google Shape;42;p5"/>
          <p:cNvSpPr txBox="1"/>
          <p:nvPr>
            <p:ph idx="1" type="subTitle"/>
          </p:nvPr>
        </p:nvSpPr>
        <p:spPr>
          <a:xfrm>
            <a:off x="398301" y="3397805"/>
            <a:ext cx="8010300" cy="6702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800"/>
              <a:buNone/>
              <a:defRPr b="1" sz="2800">
                <a:solidFill>
                  <a:schemeClr val="accent6"/>
                </a:solidFill>
              </a:defRPr>
            </a:lvl1pPr>
            <a:lvl2pPr lvl="1" algn="ctr">
              <a:lnSpc>
                <a:spcPct val="100000"/>
              </a:lnSpc>
              <a:spcBef>
                <a:spcPts val="0"/>
              </a:spcBef>
              <a:spcAft>
                <a:spcPts val="0"/>
              </a:spcAft>
              <a:buClr>
                <a:schemeClr val="lt1"/>
              </a:buClr>
              <a:buSzPts val="2800"/>
              <a:buNone/>
              <a:defRPr sz="2800">
                <a:solidFill>
                  <a:schemeClr val="lt1"/>
                </a:solidFill>
              </a:defRPr>
            </a:lvl2pPr>
            <a:lvl3pPr lvl="2" algn="ctr">
              <a:lnSpc>
                <a:spcPct val="100000"/>
              </a:lnSpc>
              <a:spcBef>
                <a:spcPts val="0"/>
              </a:spcBef>
              <a:spcAft>
                <a:spcPts val="0"/>
              </a:spcAft>
              <a:buClr>
                <a:schemeClr val="lt1"/>
              </a:buClr>
              <a:buSzPts val="2800"/>
              <a:buNone/>
              <a:defRPr sz="2800">
                <a:solidFill>
                  <a:schemeClr val="lt1"/>
                </a:solidFill>
              </a:defRPr>
            </a:lvl3pPr>
            <a:lvl4pPr lvl="3" algn="ctr">
              <a:lnSpc>
                <a:spcPct val="100000"/>
              </a:lnSpc>
              <a:spcBef>
                <a:spcPts val="0"/>
              </a:spcBef>
              <a:spcAft>
                <a:spcPts val="0"/>
              </a:spcAft>
              <a:buClr>
                <a:schemeClr val="lt1"/>
              </a:buClr>
              <a:buSzPts val="2800"/>
              <a:buNone/>
              <a:defRPr sz="2800">
                <a:solidFill>
                  <a:schemeClr val="lt1"/>
                </a:solidFill>
              </a:defRPr>
            </a:lvl4pPr>
            <a:lvl5pPr lvl="4" algn="ctr">
              <a:lnSpc>
                <a:spcPct val="100000"/>
              </a:lnSpc>
              <a:spcBef>
                <a:spcPts val="0"/>
              </a:spcBef>
              <a:spcAft>
                <a:spcPts val="0"/>
              </a:spcAft>
              <a:buClr>
                <a:schemeClr val="lt1"/>
              </a:buClr>
              <a:buSzPts val="2800"/>
              <a:buNone/>
              <a:defRPr sz="2800">
                <a:solidFill>
                  <a:schemeClr val="lt1"/>
                </a:solidFill>
              </a:defRPr>
            </a:lvl5pPr>
            <a:lvl6pPr lvl="5" algn="ctr">
              <a:lnSpc>
                <a:spcPct val="100000"/>
              </a:lnSpc>
              <a:spcBef>
                <a:spcPts val="0"/>
              </a:spcBef>
              <a:spcAft>
                <a:spcPts val="0"/>
              </a:spcAft>
              <a:buClr>
                <a:schemeClr val="lt1"/>
              </a:buClr>
              <a:buSzPts val="2800"/>
              <a:buNone/>
              <a:defRPr sz="2800">
                <a:solidFill>
                  <a:schemeClr val="lt1"/>
                </a:solidFill>
              </a:defRPr>
            </a:lvl6pPr>
            <a:lvl7pPr lvl="6" algn="ctr">
              <a:lnSpc>
                <a:spcPct val="100000"/>
              </a:lnSpc>
              <a:spcBef>
                <a:spcPts val="0"/>
              </a:spcBef>
              <a:spcAft>
                <a:spcPts val="0"/>
              </a:spcAft>
              <a:buClr>
                <a:schemeClr val="lt1"/>
              </a:buClr>
              <a:buSzPts val="2800"/>
              <a:buNone/>
              <a:defRPr sz="2800">
                <a:solidFill>
                  <a:schemeClr val="lt1"/>
                </a:solidFill>
              </a:defRPr>
            </a:lvl7pPr>
            <a:lvl8pPr lvl="7" algn="ctr">
              <a:lnSpc>
                <a:spcPct val="100000"/>
              </a:lnSpc>
              <a:spcBef>
                <a:spcPts val="0"/>
              </a:spcBef>
              <a:spcAft>
                <a:spcPts val="0"/>
              </a:spcAft>
              <a:buClr>
                <a:schemeClr val="lt1"/>
              </a:buClr>
              <a:buSzPts val="2800"/>
              <a:buNone/>
              <a:defRPr sz="2800">
                <a:solidFill>
                  <a:schemeClr val="lt1"/>
                </a:solidFill>
              </a:defRPr>
            </a:lvl8pPr>
            <a:lvl9pPr lvl="8" algn="ctr">
              <a:lnSpc>
                <a:spcPct val="100000"/>
              </a:lnSpc>
              <a:spcBef>
                <a:spcPts val="0"/>
              </a:spcBef>
              <a:spcAft>
                <a:spcPts val="0"/>
              </a:spcAft>
              <a:buClr>
                <a:schemeClr val="lt1"/>
              </a:buClr>
              <a:buSzPts val="2800"/>
              <a:buNone/>
              <a:defRPr sz="2800">
                <a:solidFill>
                  <a:schemeClr val="lt1"/>
                </a:solidFill>
              </a:defRPr>
            </a:lvl9pPr>
          </a:lstStyle>
          <a:p/>
        </p:txBody>
      </p:sp>
      <p:pic>
        <p:nvPicPr>
          <p:cNvPr id="43" name="Google Shape;43;p5"/>
          <p:cNvPicPr preferRelativeResize="0"/>
          <p:nvPr/>
        </p:nvPicPr>
        <p:blipFill rotWithShape="1">
          <a:blip r:embed="rId4">
            <a:alphaModFix/>
          </a:blip>
          <a:srcRect b="0" l="0" r="0" t="0"/>
          <a:stretch/>
        </p:blipFill>
        <p:spPr>
          <a:xfrm>
            <a:off x="311214" y="181507"/>
            <a:ext cx="2062800" cy="866974"/>
          </a:xfrm>
          <a:prstGeom prst="rect">
            <a:avLst/>
          </a:prstGeom>
          <a:noFill/>
          <a:ln>
            <a:noFill/>
          </a:ln>
        </p:spPr>
      </p:pic>
    </p:spTree>
  </p:cSld>
  <p:clrMapOvr>
    <a:masterClrMapping/>
  </p:clrMapOvr>
</p:sldLayout>
</file>

<file path=sdk/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lt1"/>
        </a:solidFill>
      </p:bgPr>
    </p:bg>
    <p:spTree>
      <p:nvGrpSpPr>
        <p:cNvPr id="44" name="Shape 44"/>
        <p:cNvGrpSpPr/>
        <p:nvPr/>
      </p:nvGrpSpPr>
      <p:grpSpPr>
        <a:xfrm>
          <a:off x="0" y="0"/>
          <a:ext cx="0" cy="0"/>
          <a:chOff x="0" y="0"/>
          <a:chExt cx="0" cy="0"/>
        </a:xfrm>
      </p:grpSpPr>
      <p:sp>
        <p:nvSpPr>
          <p:cNvPr id="45" name="Google Shape;45;p6"/>
          <p:cNvSpPr txBox="1"/>
          <p:nvPr>
            <p:ph type="title"/>
          </p:nvPr>
        </p:nvSpPr>
        <p:spPr>
          <a:xfrm>
            <a:off x="311700" y="445025"/>
            <a:ext cx="8520600" cy="572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solidFill>
                  <a:srgbClr val="00144C"/>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6" name="Google Shape;46;p6"/>
          <p:cNvSpPr txBox="1"/>
          <p:nvPr>
            <p:ph idx="1" type="body"/>
          </p:nvPr>
        </p:nvSpPr>
        <p:spPr>
          <a:xfrm>
            <a:off x="311700" y="1152475"/>
            <a:ext cx="8520600" cy="3317400"/>
          </a:xfrm>
          <a:prstGeom prst="rect">
            <a:avLst/>
          </a:prstGeom>
          <a:noFill/>
          <a:ln>
            <a:noFill/>
          </a:ln>
        </p:spPr>
        <p:txBody>
          <a:bodyPr anchorCtr="0" anchor="t" bIns="0" lIns="0" spcFirstLastPara="1" rIns="0" wrap="square" tIns="0">
            <a:noAutofit/>
          </a:bodyPr>
          <a:lstStyle>
            <a:lvl1pPr indent="-342900" lvl="0" marL="457200" algn="l">
              <a:lnSpc>
                <a:spcPct val="115000"/>
              </a:lnSpc>
              <a:spcBef>
                <a:spcPts val="0"/>
              </a:spcBef>
              <a:spcAft>
                <a:spcPts val="0"/>
              </a:spcAft>
              <a:buSzPts val="1800"/>
              <a:buChar char="●"/>
              <a:defRPr sz="1200"/>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7" name="Google Shape;47;p6"/>
          <p:cNvSpPr txBox="1"/>
          <p:nvPr>
            <p:ph idx="12" type="sldNum"/>
          </p:nvPr>
        </p:nvSpPr>
        <p:spPr>
          <a:xfrm>
            <a:off x="8283600" y="4663217"/>
            <a:ext cx="548700" cy="3936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pic>
        <p:nvPicPr>
          <p:cNvPr id="48" name="Google Shape;48;p6"/>
          <p:cNvPicPr preferRelativeResize="0"/>
          <p:nvPr/>
        </p:nvPicPr>
        <p:blipFill rotWithShape="1">
          <a:blip r:embed="rId2">
            <a:alphaModFix/>
          </a:blip>
          <a:srcRect b="0" l="0" r="0" t="0"/>
          <a:stretch/>
        </p:blipFill>
        <p:spPr>
          <a:xfrm>
            <a:off x="311700" y="4591416"/>
            <a:ext cx="1112400" cy="467531"/>
          </a:xfrm>
          <a:prstGeom prst="rect">
            <a:avLst/>
          </a:prstGeom>
          <a:noFill/>
          <a:ln>
            <a:noFill/>
          </a:ln>
        </p:spPr>
      </p:pic>
    </p:spTree>
  </p:cSld>
  <p:clrMapOvr>
    <a:masterClrMapping/>
  </p:clrMapOvr>
</p:sldLayout>
</file>

<file path=sdk/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1_Title and body">
    <p:bg>
      <p:bgPr>
        <a:solidFill>
          <a:schemeClr val="lt1"/>
        </a:solidFill>
      </p:bgPr>
    </p:bg>
    <p:spTree>
      <p:nvGrpSpPr>
        <p:cNvPr id="49" name="Shape 49"/>
        <p:cNvGrpSpPr/>
        <p:nvPr/>
      </p:nvGrpSpPr>
      <p:grpSpPr>
        <a:xfrm>
          <a:off x="0" y="0"/>
          <a:ext cx="0" cy="0"/>
          <a:chOff x="0" y="0"/>
          <a:chExt cx="0" cy="0"/>
        </a:xfrm>
      </p:grpSpPr>
      <p:sp>
        <p:nvSpPr>
          <p:cNvPr id="50" name="Google Shape;50;p7"/>
          <p:cNvSpPr/>
          <p:nvPr/>
        </p:nvSpPr>
        <p:spPr>
          <a:xfrm>
            <a:off x="7100" y="5625"/>
            <a:ext cx="9136800" cy="10479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7"/>
          <p:cNvSpPr txBox="1"/>
          <p:nvPr>
            <p:ph type="title"/>
          </p:nvPr>
        </p:nvSpPr>
        <p:spPr>
          <a:xfrm>
            <a:off x="311700" y="0"/>
            <a:ext cx="6949800" cy="1047900"/>
          </a:xfrm>
          <a:prstGeom prst="rect">
            <a:avLst/>
          </a:prstGeom>
          <a:noFill/>
          <a:ln>
            <a:noFill/>
          </a:ln>
        </p:spPr>
        <p:txBody>
          <a:bodyPr anchorCtr="0" anchor="ctr" bIns="0" lIns="0" spcFirstLastPara="1" rIns="0" wrap="square" tIns="0">
            <a:normAutofit/>
          </a:bodyPr>
          <a:lstStyle>
            <a:lvl1pPr lvl="0" algn="l">
              <a:lnSpc>
                <a:spcPct val="100000"/>
              </a:lnSpc>
              <a:spcBef>
                <a:spcPts val="0"/>
              </a:spcBef>
              <a:spcAft>
                <a:spcPts val="0"/>
              </a:spcAft>
              <a:buSzPts val="2800"/>
              <a:buNone/>
              <a:defRPr>
                <a:solidFill>
                  <a:schemeClr val="lt1"/>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2" name="Google Shape;52;p7"/>
          <p:cNvSpPr txBox="1"/>
          <p:nvPr>
            <p:ph idx="1" type="body"/>
          </p:nvPr>
        </p:nvSpPr>
        <p:spPr>
          <a:xfrm>
            <a:off x="311700" y="1152475"/>
            <a:ext cx="8520600" cy="3317400"/>
          </a:xfrm>
          <a:prstGeom prst="rect">
            <a:avLst/>
          </a:prstGeom>
          <a:noFill/>
          <a:ln>
            <a:noFill/>
          </a:ln>
        </p:spPr>
        <p:txBody>
          <a:bodyPr anchorCtr="0" anchor="t" bIns="0" lIns="0" spcFirstLastPara="1" rIns="0" wrap="square" tIns="0">
            <a:noAutofit/>
          </a:bodyPr>
          <a:lstStyle>
            <a:lvl1pPr indent="-342900" lvl="0" marL="457200" algn="l">
              <a:lnSpc>
                <a:spcPct val="115000"/>
              </a:lnSpc>
              <a:spcBef>
                <a:spcPts val="0"/>
              </a:spcBef>
              <a:spcAft>
                <a:spcPts val="0"/>
              </a:spcAft>
              <a:buSzPts val="1800"/>
              <a:buChar char="●"/>
              <a:defRPr sz="1200"/>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53" name="Google Shape;53;p7"/>
          <p:cNvSpPr txBox="1"/>
          <p:nvPr>
            <p:ph idx="12" type="sldNum"/>
          </p:nvPr>
        </p:nvSpPr>
        <p:spPr>
          <a:xfrm>
            <a:off x="8283600" y="4663217"/>
            <a:ext cx="548700" cy="3936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pic>
        <p:nvPicPr>
          <p:cNvPr id="54" name="Google Shape;54;p7"/>
          <p:cNvPicPr preferRelativeResize="0"/>
          <p:nvPr/>
        </p:nvPicPr>
        <p:blipFill rotWithShape="1">
          <a:blip r:embed="rId2">
            <a:alphaModFix/>
          </a:blip>
          <a:srcRect b="0" l="0" r="0" t="0"/>
          <a:stretch/>
        </p:blipFill>
        <p:spPr>
          <a:xfrm>
            <a:off x="7577624" y="253871"/>
            <a:ext cx="1285200" cy="540157"/>
          </a:xfrm>
          <a:prstGeom prst="rect">
            <a:avLst/>
          </a:prstGeom>
          <a:noFill/>
          <a:ln>
            <a:noFill/>
          </a:ln>
        </p:spPr>
      </p:pic>
    </p:spTree>
  </p:cSld>
  <p:clrMapOvr>
    <a:masterClrMapping/>
  </p:clrMapOvr>
</p:sldLayout>
</file>

<file path=sdk/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lt1"/>
        </a:solidFill>
      </p:bgPr>
    </p:bg>
    <p:spTree>
      <p:nvGrpSpPr>
        <p:cNvPr id="55" name="Shape 55"/>
        <p:cNvGrpSpPr/>
        <p:nvPr/>
      </p:nvGrpSpPr>
      <p:grpSpPr>
        <a:xfrm>
          <a:off x="0" y="0"/>
          <a:ext cx="0" cy="0"/>
          <a:chOff x="0" y="0"/>
          <a:chExt cx="0" cy="0"/>
        </a:xfrm>
      </p:grpSpPr>
      <p:sp>
        <p:nvSpPr>
          <p:cNvPr id="56" name="Google Shape;56;p8"/>
          <p:cNvSpPr txBox="1"/>
          <p:nvPr>
            <p:ph type="title"/>
          </p:nvPr>
        </p:nvSpPr>
        <p:spPr>
          <a:xfrm>
            <a:off x="311700" y="445025"/>
            <a:ext cx="8520600" cy="572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solidFill>
                  <a:srgbClr val="00144C"/>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7" name="Google Shape;57;p8"/>
          <p:cNvSpPr txBox="1"/>
          <p:nvPr>
            <p:ph idx="1" type="body"/>
          </p:nvPr>
        </p:nvSpPr>
        <p:spPr>
          <a:xfrm>
            <a:off x="311700" y="1152475"/>
            <a:ext cx="3999900" cy="3317400"/>
          </a:xfrm>
          <a:prstGeom prst="rect">
            <a:avLst/>
          </a:prstGeom>
          <a:noFill/>
          <a:ln>
            <a:noFill/>
          </a:ln>
        </p:spPr>
        <p:txBody>
          <a:bodyPr anchorCtr="0" anchor="t" bIns="0" lIns="0" spcFirstLastPara="1" rIns="0" wrap="square" tIns="0">
            <a:noAutofit/>
          </a:bodyPr>
          <a:lstStyle>
            <a:lvl1pPr indent="-317500" lvl="0" marL="457200" algn="l">
              <a:lnSpc>
                <a:spcPct val="115000"/>
              </a:lnSpc>
              <a:spcBef>
                <a:spcPts val="0"/>
              </a:spcBef>
              <a:spcAft>
                <a:spcPts val="0"/>
              </a:spcAft>
              <a:buSzPts val="14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8" name="Google Shape;58;p8"/>
          <p:cNvSpPr txBox="1"/>
          <p:nvPr>
            <p:ph idx="2" type="body"/>
          </p:nvPr>
        </p:nvSpPr>
        <p:spPr>
          <a:xfrm>
            <a:off x="4832400" y="1152475"/>
            <a:ext cx="3999900" cy="3317400"/>
          </a:xfrm>
          <a:prstGeom prst="rect">
            <a:avLst/>
          </a:prstGeom>
          <a:noFill/>
          <a:ln>
            <a:noFill/>
          </a:ln>
        </p:spPr>
        <p:txBody>
          <a:bodyPr anchorCtr="0" anchor="t" bIns="0" lIns="0" spcFirstLastPara="1" rIns="0" wrap="square" tIns="0">
            <a:noAutofit/>
          </a:bodyPr>
          <a:lstStyle>
            <a:lvl1pPr indent="-317500" lvl="0" marL="457200" algn="l">
              <a:lnSpc>
                <a:spcPct val="115000"/>
              </a:lnSpc>
              <a:spcBef>
                <a:spcPts val="0"/>
              </a:spcBef>
              <a:spcAft>
                <a:spcPts val="0"/>
              </a:spcAft>
              <a:buSzPts val="14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9" name="Google Shape;59;p8"/>
          <p:cNvSpPr txBox="1"/>
          <p:nvPr>
            <p:ph idx="12" type="sldNum"/>
          </p:nvPr>
        </p:nvSpPr>
        <p:spPr>
          <a:xfrm>
            <a:off x="8283600" y="4663217"/>
            <a:ext cx="548700" cy="3936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pic>
        <p:nvPicPr>
          <p:cNvPr id="60" name="Google Shape;60;p8"/>
          <p:cNvPicPr preferRelativeResize="0"/>
          <p:nvPr/>
        </p:nvPicPr>
        <p:blipFill rotWithShape="1">
          <a:blip r:embed="rId2">
            <a:alphaModFix/>
          </a:blip>
          <a:srcRect b="0" l="0" r="0" t="0"/>
          <a:stretch/>
        </p:blipFill>
        <p:spPr>
          <a:xfrm>
            <a:off x="311700" y="4591416"/>
            <a:ext cx="1112400" cy="467531"/>
          </a:xfrm>
          <a:prstGeom prst="rect">
            <a:avLst/>
          </a:prstGeom>
          <a:noFill/>
          <a:ln>
            <a:noFill/>
          </a:ln>
        </p:spPr>
      </p:pic>
    </p:spTree>
  </p:cSld>
  <p:clrMapOvr>
    <a:masterClrMapping/>
  </p:clrMapOvr>
</p:sldLayout>
</file>

<file path=sdk/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lt1"/>
        </a:solidFill>
      </p:bgPr>
    </p:bg>
    <p:spTree>
      <p:nvGrpSpPr>
        <p:cNvPr id="61" name="Shape 61"/>
        <p:cNvGrpSpPr/>
        <p:nvPr/>
      </p:nvGrpSpPr>
      <p:grpSpPr>
        <a:xfrm>
          <a:off x="0" y="0"/>
          <a:ext cx="0" cy="0"/>
          <a:chOff x="0" y="0"/>
          <a:chExt cx="0" cy="0"/>
        </a:xfrm>
      </p:grpSpPr>
      <p:sp>
        <p:nvSpPr>
          <p:cNvPr id="62" name="Google Shape;62;p9"/>
          <p:cNvSpPr txBox="1"/>
          <p:nvPr>
            <p:ph type="title"/>
          </p:nvPr>
        </p:nvSpPr>
        <p:spPr>
          <a:xfrm>
            <a:off x="311700" y="445025"/>
            <a:ext cx="8520600" cy="572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solidFill>
                  <a:srgbClr val="00144C"/>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3" name="Google Shape;63;p9"/>
          <p:cNvSpPr txBox="1"/>
          <p:nvPr>
            <p:ph idx="12" type="sldNum"/>
          </p:nvPr>
        </p:nvSpPr>
        <p:spPr>
          <a:xfrm>
            <a:off x="8283600" y="4663217"/>
            <a:ext cx="548700" cy="3936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pic>
        <p:nvPicPr>
          <p:cNvPr id="64" name="Google Shape;64;p9"/>
          <p:cNvPicPr preferRelativeResize="0"/>
          <p:nvPr/>
        </p:nvPicPr>
        <p:blipFill rotWithShape="1">
          <a:blip r:embed="rId2">
            <a:alphaModFix/>
          </a:blip>
          <a:srcRect b="0" l="0" r="0" t="0"/>
          <a:stretch/>
        </p:blipFill>
        <p:spPr>
          <a:xfrm>
            <a:off x="311700" y="4591416"/>
            <a:ext cx="1112400" cy="467531"/>
          </a:xfrm>
          <a:prstGeom prst="rect">
            <a:avLst/>
          </a:prstGeom>
          <a:noFill/>
          <a:ln>
            <a:noFill/>
          </a:ln>
        </p:spPr>
      </p:pic>
    </p:spTree>
  </p:cSld>
  <p:clrMapOvr>
    <a:masterClrMapping/>
  </p:clrMapOvr>
</p:sldLayout>
</file>

<file path=sdk/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sdk/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Clr>
                <a:schemeClr val="accent1"/>
              </a:buClr>
              <a:buSzPts val="2800"/>
              <a:buFont typeface="Arial"/>
              <a:buNone/>
              <a:defRPr b="1" i="0" sz="2800" u="none" cap="none" strike="noStrike">
                <a:solidFill>
                  <a:schemeClr val="accent1"/>
                </a:solidFill>
                <a:latin typeface="Arial"/>
                <a:ea typeface="Arial"/>
                <a:cs typeface="Arial"/>
                <a:sym typeface="Arial"/>
              </a:defRPr>
            </a:lvl1pPr>
            <a:lvl2pPr lvl="1" marR="0" rtl="0" algn="l">
              <a:lnSpc>
                <a:spcPct val="100000"/>
              </a:lnSpc>
              <a:spcBef>
                <a:spcPts val="0"/>
              </a:spcBef>
              <a:spcAft>
                <a:spcPts val="0"/>
              </a:spcAft>
              <a:buClr>
                <a:schemeClr val="accent1"/>
              </a:buClr>
              <a:buSzPts val="2800"/>
              <a:buFont typeface="Arial"/>
              <a:buNone/>
              <a:defRPr b="0" i="0" sz="2800" u="none" cap="none" strike="noStrike">
                <a:solidFill>
                  <a:schemeClr val="accent1"/>
                </a:solidFill>
                <a:latin typeface="Arial"/>
                <a:ea typeface="Arial"/>
                <a:cs typeface="Arial"/>
                <a:sym typeface="Arial"/>
              </a:defRPr>
            </a:lvl2pPr>
            <a:lvl3pPr lvl="2" marR="0" rtl="0" algn="l">
              <a:lnSpc>
                <a:spcPct val="100000"/>
              </a:lnSpc>
              <a:spcBef>
                <a:spcPts val="0"/>
              </a:spcBef>
              <a:spcAft>
                <a:spcPts val="0"/>
              </a:spcAft>
              <a:buClr>
                <a:schemeClr val="accent1"/>
              </a:buClr>
              <a:buSzPts val="2800"/>
              <a:buFont typeface="Arial"/>
              <a:buNone/>
              <a:defRPr b="0" i="0" sz="2800" u="none" cap="none" strike="noStrike">
                <a:solidFill>
                  <a:schemeClr val="accent1"/>
                </a:solidFill>
                <a:latin typeface="Arial"/>
                <a:ea typeface="Arial"/>
                <a:cs typeface="Arial"/>
                <a:sym typeface="Arial"/>
              </a:defRPr>
            </a:lvl3pPr>
            <a:lvl4pPr lvl="3" marR="0" rtl="0" algn="l">
              <a:lnSpc>
                <a:spcPct val="100000"/>
              </a:lnSpc>
              <a:spcBef>
                <a:spcPts val="0"/>
              </a:spcBef>
              <a:spcAft>
                <a:spcPts val="0"/>
              </a:spcAft>
              <a:buClr>
                <a:schemeClr val="accent1"/>
              </a:buClr>
              <a:buSzPts val="2800"/>
              <a:buFont typeface="Arial"/>
              <a:buNone/>
              <a:defRPr b="0" i="0" sz="2800" u="none" cap="none" strike="noStrike">
                <a:solidFill>
                  <a:schemeClr val="accent1"/>
                </a:solidFill>
                <a:latin typeface="Arial"/>
                <a:ea typeface="Arial"/>
                <a:cs typeface="Arial"/>
                <a:sym typeface="Arial"/>
              </a:defRPr>
            </a:lvl4pPr>
            <a:lvl5pPr lvl="4" marR="0" rtl="0" algn="l">
              <a:lnSpc>
                <a:spcPct val="100000"/>
              </a:lnSpc>
              <a:spcBef>
                <a:spcPts val="0"/>
              </a:spcBef>
              <a:spcAft>
                <a:spcPts val="0"/>
              </a:spcAft>
              <a:buClr>
                <a:schemeClr val="accent1"/>
              </a:buClr>
              <a:buSzPts val="2800"/>
              <a:buFont typeface="Arial"/>
              <a:buNone/>
              <a:defRPr b="0" i="0" sz="2800" u="none" cap="none" strike="noStrike">
                <a:solidFill>
                  <a:schemeClr val="accent1"/>
                </a:solidFill>
                <a:latin typeface="Arial"/>
                <a:ea typeface="Arial"/>
                <a:cs typeface="Arial"/>
                <a:sym typeface="Arial"/>
              </a:defRPr>
            </a:lvl5pPr>
            <a:lvl6pPr lvl="5" marR="0" rtl="0" algn="l">
              <a:lnSpc>
                <a:spcPct val="100000"/>
              </a:lnSpc>
              <a:spcBef>
                <a:spcPts val="0"/>
              </a:spcBef>
              <a:spcAft>
                <a:spcPts val="0"/>
              </a:spcAft>
              <a:buClr>
                <a:schemeClr val="accent1"/>
              </a:buClr>
              <a:buSzPts val="2800"/>
              <a:buFont typeface="Arial"/>
              <a:buNone/>
              <a:defRPr b="0" i="0" sz="2800" u="none" cap="none" strike="noStrike">
                <a:solidFill>
                  <a:schemeClr val="accent1"/>
                </a:solidFill>
                <a:latin typeface="Arial"/>
                <a:ea typeface="Arial"/>
                <a:cs typeface="Arial"/>
                <a:sym typeface="Arial"/>
              </a:defRPr>
            </a:lvl6pPr>
            <a:lvl7pPr lvl="6" marR="0" rtl="0" algn="l">
              <a:lnSpc>
                <a:spcPct val="100000"/>
              </a:lnSpc>
              <a:spcBef>
                <a:spcPts val="0"/>
              </a:spcBef>
              <a:spcAft>
                <a:spcPts val="0"/>
              </a:spcAft>
              <a:buClr>
                <a:schemeClr val="accent1"/>
              </a:buClr>
              <a:buSzPts val="2800"/>
              <a:buFont typeface="Arial"/>
              <a:buNone/>
              <a:defRPr b="0" i="0" sz="2800" u="none" cap="none" strike="noStrike">
                <a:solidFill>
                  <a:schemeClr val="accent1"/>
                </a:solidFill>
                <a:latin typeface="Arial"/>
                <a:ea typeface="Arial"/>
                <a:cs typeface="Arial"/>
                <a:sym typeface="Arial"/>
              </a:defRPr>
            </a:lvl7pPr>
            <a:lvl8pPr lvl="7" marR="0" rtl="0" algn="l">
              <a:lnSpc>
                <a:spcPct val="100000"/>
              </a:lnSpc>
              <a:spcBef>
                <a:spcPts val="0"/>
              </a:spcBef>
              <a:spcAft>
                <a:spcPts val="0"/>
              </a:spcAft>
              <a:buClr>
                <a:schemeClr val="accent1"/>
              </a:buClr>
              <a:buSzPts val="2800"/>
              <a:buFont typeface="Arial"/>
              <a:buNone/>
              <a:defRPr b="0" i="0" sz="2800" u="none" cap="none" strike="noStrike">
                <a:solidFill>
                  <a:schemeClr val="accent1"/>
                </a:solidFill>
                <a:latin typeface="Arial"/>
                <a:ea typeface="Arial"/>
                <a:cs typeface="Arial"/>
                <a:sym typeface="Arial"/>
              </a:defRPr>
            </a:lvl8pPr>
            <a:lvl9pPr lvl="8" marR="0" rtl="0" algn="l">
              <a:lnSpc>
                <a:spcPct val="100000"/>
              </a:lnSpc>
              <a:spcBef>
                <a:spcPts val="0"/>
              </a:spcBef>
              <a:spcAft>
                <a:spcPts val="0"/>
              </a:spcAft>
              <a:buClr>
                <a:schemeClr val="accent1"/>
              </a:buClr>
              <a:buSzPts val="2800"/>
              <a:buFont typeface="Arial"/>
              <a:buNone/>
              <a:defRPr b="0" i="0" sz="2800" u="none" cap="none" strike="noStrike">
                <a:solidFill>
                  <a:schemeClr val="accent1"/>
                </a:solidFill>
                <a:latin typeface="Arial"/>
                <a:ea typeface="Arial"/>
                <a:cs typeface="Arial"/>
                <a:sym typeface="Aria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0" lIns="0" spcFirstLastPara="1" rIns="0" wrap="square" tIns="0">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8283600" y="4663217"/>
            <a:ext cx="548700" cy="393600"/>
          </a:xfrm>
          <a:prstGeom prst="rect">
            <a:avLst/>
          </a:prstGeom>
          <a:noFill/>
          <a:ln>
            <a:noFill/>
          </a:ln>
        </p:spPr>
        <p:txBody>
          <a:bodyPr anchorCtr="0" anchor="ctr" bIns="0" lIns="0" spcFirstLastPara="1" rIns="0" wrap="square" tIns="0">
            <a:noAutofit/>
          </a:bodyPr>
          <a:lstStyle>
            <a:lvl1pPr indent="0" lvl="0" marL="0" marR="0" rtl="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sdk/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sdk/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hyperlink" Target="https://github.com/operator-framework/java-operator-sdk" TargetMode="External"/></Relationships>
</file>

<file path=sdk/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hyperlink" Target="https://github.com/kubernetes/enhancements/tree/master/keps/sig-api-machinery/5504-comparable-resource-version" TargetMode="External"/><Relationship Id="rId4" Type="http://schemas.openxmlformats.org/officeDocument/2006/relationships/hyperlink" Target="https://javaoperatorsdk.io/blog/2026/03/13/welcome-read-cache-after-write-consistency/" TargetMode="External"/></Relationships>
</file>

<file path=sdk/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 Id="rId3" Type="http://schemas.openxmlformats.org/officeDocument/2006/relationships/image" Target="../media/image9.png"/></Relationships>
</file>

<file path=sdk/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sdk/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1.png"/></Relationships>
</file>

<file path=sdk/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hyperlink" Target="https://github.com/operator-framework/java-operator-sdk/blob/main/operator-framework-core/src/main/java/io/javaoperatorsdk/operator/processing/event/source/informer/pool/InformerClassifier.java#L56-L64" TargetMode="External"/></Relationships>
</file>

<file path=sdk/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11.png"/></Relationships>
</file>

<file path=sdk/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sdk/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sdk/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10.png"/></Relationships>
</file>

<file path=sdk/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sdk/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sdk/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0"/>
          <p:cNvSpPr txBox="1"/>
          <p:nvPr>
            <p:ph type="ctrTitle"/>
          </p:nvPr>
        </p:nvSpPr>
        <p:spPr>
          <a:xfrm>
            <a:off x="311225" y="1251450"/>
            <a:ext cx="8063400" cy="15714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sz="3800"/>
              <a:t>The Next Era of Kubernetes Operator Lifecycle Management</a:t>
            </a:r>
            <a:endParaRPr sz="3800"/>
          </a:p>
        </p:txBody>
      </p:sp>
      <p:sp>
        <p:nvSpPr>
          <p:cNvPr id="70" name="Google Shape;70;p10"/>
          <p:cNvSpPr txBox="1"/>
          <p:nvPr/>
        </p:nvSpPr>
        <p:spPr>
          <a:xfrm>
            <a:off x="311225" y="2790950"/>
            <a:ext cx="3245700" cy="652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GB" sz="1600">
                <a:solidFill>
                  <a:schemeClr val="lt1"/>
                </a:solidFill>
              </a:rPr>
              <a:t>Attila Mészáros @ Apple </a:t>
            </a:r>
            <a:br>
              <a:rPr b="1" lang="en-GB" sz="1600">
                <a:solidFill>
                  <a:schemeClr val="lt1"/>
                </a:solidFill>
              </a:rPr>
            </a:br>
            <a:r>
              <a:rPr b="1" lang="en-GB" sz="1200">
                <a:solidFill>
                  <a:schemeClr val="lt1"/>
                </a:solidFill>
              </a:rPr>
              <a:t>Not a contribution</a:t>
            </a:r>
            <a:endParaRPr b="1" sz="1200">
              <a:solidFill>
                <a:schemeClr val="lt1"/>
              </a:solidFill>
            </a:endParaRPr>
          </a:p>
        </p:txBody>
      </p:sp>
    </p:spTree>
  </p:cSld>
  <p:clrMapOvr>
    <a:masterClrMapping/>
  </p:clrMapOvr>
</p:sld>
</file>

<file path=sdk/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1"/>
          <p:cNvSpPr txBox="1"/>
          <p:nvPr>
            <p:ph type="title"/>
          </p:nvPr>
        </p:nvSpPr>
        <p:spPr>
          <a:xfrm>
            <a:off x="311700" y="445025"/>
            <a:ext cx="8520600" cy="572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Attila who?</a:t>
            </a:r>
            <a:endParaRPr/>
          </a:p>
        </p:txBody>
      </p:sp>
      <p:sp>
        <p:nvSpPr>
          <p:cNvPr id="76" name="Google Shape;76;p11"/>
          <p:cNvSpPr txBox="1"/>
          <p:nvPr>
            <p:ph idx="1" type="body"/>
          </p:nvPr>
        </p:nvSpPr>
        <p:spPr>
          <a:xfrm>
            <a:off x="311700" y="1152475"/>
            <a:ext cx="8520600" cy="33174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Char char="●"/>
            </a:pPr>
            <a:r>
              <a:rPr lang="en-GB"/>
              <a:t>Maintainer of</a:t>
            </a:r>
            <a:r>
              <a:rPr lang="en-GB" u="sng">
                <a:solidFill>
                  <a:schemeClr val="hlink"/>
                </a:solidFill>
                <a:hlinkClick r:id="rId3"/>
              </a:rPr>
              <a:t> Java Operator SDK</a:t>
            </a:r>
            <a:endParaRPr/>
          </a:p>
          <a:p>
            <a:pPr indent="-342900" lvl="0" marL="457200" rtl="0" algn="l">
              <a:spcBef>
                <a:spcPts val="0"/>
              </a:spcBef>
              <a:spcAft>
                <a:spcPts val="0"/>
              </a:spcAft>
              <a:buSzPts val="1800"/>
              <a:buChar char="●"/>
            </a:pPr>
            <a:r>
              <a:rPr lang="en-GB"/>
              <a:t>Member of Operator Framework steering committee</a:t>
            </a:r>
            <a:endParaRPr/>
          </a:p>
          <a:p>
            <a:pPr indent="-342900" lvl="0" marL="457200" rtl="0" algn="l">
              <a:spcBef>
                <a:spcPts val="0"/>
              </a:spcBef>
              <a:spcAft>
                <a:spcPts val="0"/>
              </a:spcAft>
              <a:buSzPts val="1800"/>
              <a:buChar char="●"/>
            </a:pPr>
            <a:r>
              <a:rPr lang="en-GB"/>
              <a:t>Staff Software Engineer @ Apple</a:t>
            </a:r>
            <a:endParaRPr/>
          </a:p>
          <a:p>
            <a:pPr indent="-317500" lvl="1" marL="914400" rtl="0" algn="l">
              <a:spcBef>
                <a:spcPts val="0"/>
              </a:spcBef>
              <a:spcAft>
                <a:spcPts val="0"/>
              </a:spcAft>
              <a:buSzPts val="1400"/>
              <a:buChar char="○"/>
            </a:pPr>
            <a:r>
              <a:rPr lang="en-GB"/>
              <a:t>Flink team</a:t>
            </a:r>
            <a:endParaRPr/>
          </a:p>
          <a:p>
            <a:pPr indent="-317500" lvl="1" marL="914400" rtl="0" algn="l">
              <a:spcBef>
                <a:spcPts val="0"/>
              </a:spcBef>
              <a:spcAft>
                <a:spcPts val="0"/>
              </a:spcAft>
              <a:buSzPts val="1400"/>
              <a:buChar char="○"/>
            </a:pPr>
            <a:r>
              <a:rPr lang="en-GB"/>
              <a:t>Building the data platform</a:t>
            </a:r>
            <a:endParaRPr/>
          </a:p>
          <a:p>
            <a:pPr indent="-317500" lvl="1" marL="914400" rtl="0" algn="l">
              <a:spcBef>
                <a:spcPts val="0"/>
              </a:spcBef>
              <a:spcAft>
                <a:spcPts val="0"/>
              </a:spcAft>
              <a:buSzPts val="1400"/>
              <a:buChar char="○"/>
            </a:pPr>
            <a:r>
              <a:rPr lang="en-GB"/>
              <a:t>Apache Flink and Apache Spark Kubernetes Operator</a:t>
            </a:r>
            <a:endParaRPr/>
          </a:p>
          <a:p>
            <a:pPr indent="-342900" lvl="0" marL="457200" rtl="0" algn="l">
              <a:spcBef>
                <a:spcPts val="0"/>
              </a:spcBef>
              <a:spcAft>
                <a:spcPts val="0"/>
              </a:spcAft>
              <a:buSzPts val="1800"/>
              <a:buChar char="●"/>
            </a:pPr>
            <a:r>
              <a:rPr lang="en-GB"/>
              <a:t>ex Principal Engineer @ RedHat; Form3, Container Solutions,…</a:t>
            </a:r>
            <a:br>
              <a:rPr lang="en-GB"/>
            </a:br>
            <a:endParaRPr sz="1100">
              <a:solidFill>
                <a:schemeClr val="dk1"/>
              </a:solidFill>
            </a:endParaRPr>
          </a:p>
          <a:p>
            <a:pPr indent="0" lvl="0" marL="0" rtl="0" algn="l">
              <a:spcBef>
                <a:spcPts val="0"/>
              </a:spcBef>
              <a:spcAft>
                <a:spcPts val="0"/>
              </a:spcAft>
              <a:buNone/>
            </a:pPr>
            <a:r>
              <a:t/>
            </a:r>
            <a:endParaRPr/>
          </a:p>
        </p:txBody>
      </p:sp>
    </p:spTree>
  </p:cSld>
  <p:clrMapOvr>
    <a:masterClrMapping/>
  </p:clrMapOvr>
</p:sld>
</file>

<file path=sdk/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2"/>
          <p:cNvSpPr txBox="1"/>
          <p:nvPr>
            <p:ph type="title"/>
          </p:nvPr>
        </p:nvSpPr>
        <p:spPr>
          <a:xfrm>
            <a:off x="311700" y="445025"/>
            <a:ext cx="8520600" cy="572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Read-Cache-After-Write Consistency</a:t>
            </a:r>
            <a:endParaRPr/>
          </a:p>
        </p:txBody>
      </p:sp>
      <p:sp>
        <p:nvSpPr>
          <p:cNvPr id="82" name="Google Shape;82;p12"/>
          <p:cNvSpPr txBox="1"/>
          <p:nvPr>
            <p:ph idx="1" type="body"/>
          </p:nvPr>
        </p:nvSpPr>
        <p:spPr>
          <a:xfrm>
            <a:off x="311700" y="1152475"/>
            <a:ext cx="8520600" cy="33174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Char char="●"/>
            </a:pPr>
            <a:r>
              <a:rPr lang="en-GB"/>
              <a:t>since v5.3</a:t>
            </a:r>
            <a:endParaRPr/>
          </a:p>
          <a:p>
            <a:pPr indent="-342900" lvl="0" marL="457200" rtl="0" algn="l">
              <a:spcBef>
                <a:spcPts val="0"/>
              </a:spcBef>
              <a:spcAft>
                <a:spcPts val="0"/>
              </a:spcAft>
              <a:buSzPts val="1800"/>
              <a:buChar char="●"/>
            </a:pPr>
            <a:r>
              <a:rPr lang="en-GB"/>
              <a:t>API:  </a:t>
            </a:r>
            <a:endParaRPr>
              <a:solidFill>
                <a:srgbClr val="A64D79"/>
              </a:solidFill>
              <a:highlight>
                <a:srgbClr val="CCCCCC"/>
              </a:highlight>
            </a:endParaRPr>
          </a:p>
          <a:p>
            <a:pPr indent="-317500" lvl="1" marL="914400" rtl="0" algn="l">
              <a:spcBef>
                <a:spcPts val="0"/>
              </a:spcBef>
              <a:spcAft>
                <a:spcPts val="0"/>
              </a:spcAft>
              <a:buSzPts val="1400"/>
              <a:buChar char="○"/>
            </a:pPr>
            <a:r>
              <a:rPr lang="en-GB">
                <a:solidFill>
                  <a:srgbClr val="A64D79"/>
                </a:solidFill>
                <a:highlight>
                  <a:srgbClr val="CCCCCC"/>
                </a:highlight>
              </a:rPr>
              <a:t>UpdateControl.patchStatus(resource)</a:t>
            </a:r>
            <a:endParaRPr/>
          </a:p>
          <a:p>
            <a:pPr indent="-317500" lvl="1" marL="914400" rtl="0" algn="l">
              <a:spcBef>
                <a:spcPts val="0"/>
              </a:spcBef>
              <a:spcAft>
                <a:spcPts val="0"/>
              </a:spcAft>
              <a:buSzPts val="1400"/>
              <a:buChar char="○"/>
            </a:pPr>
            <a:r>
              <a:rPr lang="en-GB" sz="1200">
                <a:solidFill>
                  <a:srgbClr val="A64D79"/>
                </a:solidFill>
                <a:highlight>
                  <a:srgbClr val="CCCCCC"/>
                </a:highlight>
              </a:rPr>
              <a:t>context.</a:t>
            </a:r>
            <a:r>
              <a:rPr b="1" lang="en-GB" sz="1200">
                <a:solidFill>
                  <a:srgbClr val="A64D79"/>
                </a:solidFill>
                <a:highlight>
                  <a:srgbClr val="CCCCCC"/>
                </a:highlight>
              </a:rPr>
              <a:t>resourceOperations()</a:t>
            </a:r>
            <a:r>
              <a:rPr lang="en-GB" sz="1200">
                <a:solidFill>
                  <a:srgbClr val="A64D79"/>
                </a:solidFill>
                <a:highlight>
                  <a:srgbClr val="CCCCCC"/>
                </a:highlight>
              </a:rPr>
              <a:t>.serverSideApply(resource);</a:t>
            </a:r>
            <a:endParaRPr/>
          </a:p>
          <a:p>
            <a:pPr indent="-342900" lvl="0" marL="457200" rtl="0" algn="l">
              <a:spcBef>
                <a:spcPts val="0"/>
              </a:spcBef>
              <a:spcAft>
                <a:spcPts val="0"/>
              </a:spcAft>
              <a:buSzPts val="1800"/>
              <a:buChar char="●"/>
            </a:pPr>
            <a:r>
              <a:rPr lang="en-GB"/>
              <a:t>Additional cache brings complexity:</a:t>
            </a:r>
            <a:endParaRPr/>
          </a:p>
          <a:p>
            <a:pPr indent="-317500" lvl="1" marL="914400" rtl="0" algn="l">
              <a:spcBef>
                <a:spcPts val="0"/>
              </a:spcBef>
              <a:spcAft>
                <a:spcPts val="0"/>
              </a:spcAft>
              <a:buSzPts val="1400"/>
              <a:buChar char="○"/>
            </a:pPr>
            <a:r>
              <a:rPr lang="en-GB"/>
              <a:t>Indexers</a:t>
            </a:r>
            <a:endParaRPr/>
          </a:p>
          <a:p>
            <a:pPr indent="-317500" lvl="1" marL="914400" rtl="0" algn="l">
              <a:spcBef>
                <a:spcPts val="0"/>
              </a:spcBef>
              <a:spcAft>
                <a:spcPts val="0"/>
              </a:spcAft>
              <a:buSzPts val="1400"/>
              <a:buChar char="○"/>
            </a:pPr>
            <a:r>
              <a:rPr lang="en-GB"/>
              <a:t>Items store</a:t>
            </a:r>
            <a:endParaRPr/>
          </a:p>
          <a:p>
            <a:pPr indent="-342900" lvl="0" marL="457200" rtl="0" algn="l">
              <a:spcBef>
                <a:spcPts val="0"/>
              </a:spcBef>
              <a:spcAft>
                <a:spcPts val="0"/>
              </a:spcAft>
              <a:buSzPts val="1800"/>
              <a:buChar char="●"/>
            </a:pPr>
            <a:r>
              <a:rPr lang="en-GB" u="sng">
                <a:solidFill>
                  <a:schemeClr val="hlink"/>
                </a:solidFill>
                <a:hlinkClick r:id="rId3"/>
              </a:rPr>
              <a:t>Comparable Resource Versions KEP</a:t>
            </a:r>
            <a:endParaRPr/>
          </a:p>
          <a:p>
            <a:pPr indent="-342900" lvl="0" marL="457200" rtl="0" algn="l">
              <a:spcBef>
                <a:spcPts val="0"/>
              </a:spcBef>
              <a:spcAft>
                <a:spcPts val="0"/>
              </a:spcAft>
              <a:buSzPts val="1800"/>
              <a:buChar char="●"/>
            </a:pPr>
            <a:r>
              <a:rPr lang="en-GB" u="sng">
                <a:solidFill>
                  <a:schemeClr val="hlink"/>
                </a:solidFill>
                <a:hlinkClick r:id="rId4"/>
              </a:rPr>
              <a:t>Read-cache-after-write consistency blog</a:t>
            </a:r>
            <a:endParaRPr/>
          </a:p>
          <a:p>
            <a:pPr indent="0" lvl="0" marL="0" rtl="0" algn="l">
              <a:spcBef>
                <a:spcPts val="0"/>
              </a:spcBef>
              <a:spcAft>
                <a:spcPts val="0"/>
              </a:spcAft>
              <a:buNone/>
            </a:pPr>
            <a:r>
              <a:t/>
            </a:r>
            <a:endParaRPr/>
          </a:p>
        </p:txBody>
      </p:sp>
    </p:spTree>
  </p:cSld>
  <p:clrMapOvr>
    <a:masterClrMapping/>
  </p:clrMapOvr>
</p:sld>
</file>

<file path=sdk/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3"/>
          <p:cNvSpPr txBox="1"/>
          <p:nvPr>
            <p:ph type="title"/>
          </p:nvPr>
        </p:nvSpPr>
        <p:spPr>
          <a:xfrm>
            <a:off x="311700" y="445025"/>
            <a:ext cx="8520600" cy="572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Read-Cache-After-Write Consistency</a:t>
            </a:r>
            <a:endParaRPr/>
          </a:p>
        </p:txBody>
      </p:sp>
      <p:pic>
        <p:nvPicPr>
          <p:cNvPr id="88" name="Google Shape;88;p13"/>
          <p:cNvPicPr preferRelativeResize="0"/>
          <p:nvPr/>
        </p:nvPicPr>
        <p:blipFill>
          <a:blip r:embed="rId3">
            <a:alphaModFix/>
          </a:blip>
          <a:stretch>
            <a:fillRect/>
          </a:stretch>
        </p:blipFill>
        <p:spPr>
          <a:xfrm>
            <a:off x="912900" y="829825"/>
            <a:ext cx="6702374" cy="3777949"/>
          </a:xfrm>
          <a:prstGeom prst="rect">
            <a:avLst/>
          </a:prstGeom>
          <a:noFill/>
          <a:ln>
            <a:noFill/>
          </a:ln>
        </p:spPr>
      </p:pic>
    </p:spTree>
  </p:cSld>
  <p:clrMapOvr>
    <a:masterClrMapping/>
  </p:clrMapOvr>
</p:sld>
</file>

<file path=sdk/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4"/>
          <p:cNvSpPr txBox="1"/>
          <p:nvPr>
            <p:ph type="title"/>
          </p:nvPr>
        </p:nvSpPr>
        <p:spPr>
          <a:xfrm>
            <a:off x="311700" y="445025"/>
            <a:ext cx="8520600" cy="572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Event Filtering - API &amp; Challenges</a:t>
            </a:r>
            <a:endParaRPr/>
          </a:p>
        </p:txBody>
      </p:sp>
      <p:sp>
        <p:nvSpPr>
          <p:cNvPr id="94" name="Google Shape;94;p14"/>
          <p:cNvSpPr txBox="1"/>
          <p:nvPr>
            <p:ph idx="1" type="body"/>
          </p:nvPr>
        </p:nvSpPr>
        <p:spPr>
          <a:xfrm>
            <a:off x="311700" y="1152475"/>
            <a:ext cx="8520600" cy="33174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Char char="●"/>
            </a:pPr>
            <a:r>
              <a:rPr lang="en-GB"/>
              <a:t>Filter out events for our own updates</a:t>
            </a:r>
            <a:endParaRPr/>
          </a:p>
          <a:p>
            <a:pPr indent="-342900" lvl="0" marL="457200" rtl="0" algn="l">
              <a:spcBef>
                <a:spcPts val="0"/>
              </a:spcBef>
              <a:spcAft>
                <a:spcPts val="0"/>
              </a:spcAft>
              <a:buSzPts val="1800"/>
              <a:buChar char="●"/>
            </a:pPr>
            <a:r>
              <a:rPr lang="en-GB"/>
              <a:t>Challenges</a:t>
            </a:r>
            <a:endParaRPr/>
          </a:p>
          <a:p>
            <a:pPr indent="-317500" lvl="1" marL="914400" rtl="0" algn="l">
              <a:spcBef>
                <a:spcPts val="0"/>
              </a:spcBef>
              <a:spcAft>
                <a:spcPts val="0"/>
              </a:spcAft>
              <a:buSzPts val="1400"/>
              <a:buAutoNum type="alphaLcPeriod"/>
            </a:pPr>
            <a:r>
              <a:rPr lang="en-GB"/>
              <a:t>Informer lost event problem</a:t>
            </a:r>
            <a:endParaRPr/>
          </a:p>
          <a:p>
            <a:pPr indent="-317500" lvl="1" marL="914400" rtl="0" algn="l">
              <a:spcBef>
                <a:spcPts val="0"/>
              </a:spcBef>
              <a:spcAft>
                <a:spcPts val="0"/>
              </a:spcAft>
              <a:buSzPts val="1400"/>
              <a:buAutoNum type="alphaLcPeriod"/>
            </a:pPr>
            <a:r>
              <a:rPr lang="en-GB"/>
              <a:t>Our update did not change the resource but other actor did concurrently</a:t>
            </a:r>
            <a:endParaRPr/>
          </a:p>
          <a:p>
            <a:pPr indent="-342900" lvl="0" marL="457200" rtl="0" algn="l">
              <a:spcBef>
                <a:spcPts val="0"/>
              </a:spcBef>
              <a:spcAft>
                <a:spcPts val="0"/>
              </a:spcAft>
              <a:buSzPts val="1800"/>
              <a:buChar char="●"/>
            </a:pPr>
            <a:r>
              <a:rPr lang="en-GB"/>
              <a:t> </a:t>
            </a:r>
            <a:r>
              <a:rPr lang="en-GB">
                <a:solidFill>
                  <a:srgbClr val="A64D79"/>
                </a:solidFill>
                <a:highlight>
                  <a:srgbClr val="CCCCCC"/>
                </a:highlight>
              </a:rPr>
              <a:t>context.</a:t>
            </a:r>
            <a:r>
              <a:rPr b="1" lang="en-GB">
                <a:solidFill>
                  <a:srgbClr val="A64D79"/>
                </a:solidFill>
                <a:highlight>
                  <a:srgbClr val="CCCCCC"/>
                </a:highlight>
              </a:rPr>
              <a:t>resourceOperations()</a:t>
            </a:r>
            <a:r>
              <a:rPr lang="en-GB">
                <a:solidFill>
                  <a:srgbClr val="A64D79"/>
                </a:solidFill>
                <a:highlight>
                  <a:srgbClr val="CCCCCC"/>
                </a:highlight>
              </a:rPr>
              <a:t>.serverSideApply(resource);</a:t>
            </a:r>
            <a:endParaRPr i="1" sz="1100">
              <a:solidFill>
                <a:srgbClr val="A64D79"/>
              </a:solidFill>
              <a:highlight>
                <a:srgbClr val="CCCCCC"/>
              </a:highlight>
            </a:endParaRPr>
          </a:p>
          <a:p>
            <a:pPr indent="0" lvl="0" marL="0" rtl="0" algn="l">
              <a:spcBef>
                <a:spcPts val="0"/>
              </a:spcBef>
              <a:spcAft>
                <a:spcPts val="0"/>
              </a:spcAft>
              <a:buNone/>
            </a:pPr>
            <a:r>
              <a:t/>
            </a:r>
            <a:endParaRPr/>
          </a:p>
        </p:txBody>
      </p:sp>
    </p:spTree>
  </p:cSld>
  <p:clrMapOvr>
    <a:masterClrMapping/>
  </p:clrMapOvr>
</p:sld>
</file>

<file path=sdk/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5"/>
          <p:cNvSpPr txBox="1"/>
          <p:nvPr>
            <p:ph type="title"/>
          </p:nvPr>
        </p:nvSpPr>
        <p:spPr>
          <a:xfrm>
            <a:off x="311700" y="176625"/>
            <a:ext cx="8520600" cy="572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Event Filtering</a:t>
            </a:r>
            <a:endParaRPr/>
          </a:p>
        </p:txBody>
      </p:sp>
      <p:sp>
        <p:nvSpPr>
          <p:cNvPr id="100" name="Google Shape;100;p15"/>
          <p:cNvSpPr txBox="1"/>
          <p:nvPr>
            <p:ph idx="1" type="body"/>
          </p:nvPr>
        </p:nvSpPr>
        <p:spPr>
          <a:xfrm>
            <a:off x="311700" y="749325"/>
            <a:ext cx="8520600" cy="493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400"/>
              <a:t>for Read-Cache-After-Write-Consistency</a:t>
            </a:r>
            <a:endParaRPr sz="1600"/>
          </a:p>
        </p:txBody>
      </p:sp>
      <p:pic>
        <p:nvPicPr>
          <p:cNvPr id="101" name="Google Shape;101;p15"/>
          <p:cNvPicPr preferRelativeResize="0"/>
          <p:nvPr/>
        </p:nvPicPr>
        <p:blipFill>
          <a:blip r:embed="rId3">
            <a:alphaModFix/>
          </a:blip>
          <a:stretch>
            <a:fillRect/>
          </a:stretch>
        </p:blipFill>
        <p:spPr>
          <a:xfrm>
            <a:off x="1566050" y="1073125"/>
            <a:ext cx="6101674" cy="3439350"/>
          </a:xfrm>
          <a:prstGeom prst="rect">
            <a:avLst/>
          </a:prstGeom>
          <a:noFill/>
          <a:ln>
            <a:noFill/>
          </a:ln>
        </p:spPr>
      </p:pic>
    </p:spTree>
  </p:cSld>
  <p:clrMapOvr>
    <a:masterClrMapping/>
  </p:clrMapOvr>
</p:sld>
</file>

<file path=sdk/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6"/>
          <p:cNvSpPr txBox="1"/>
          <p:nvPr>
            <p:ph type="title"/>
          </p:nvPr>
        </p:nvSpPr>
        <p:spPr>
          <a:xfrm>
            <a:off x="311700" y="445025"/>
            <a:ext cx="8520600" cy="5727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Informer Pools</a:t>
            </a:r>
            <a:endParaRPr/>
          </a:p>
        </p:txBody>
      </p:sp>
      <p:sp>
        <p:nvSpPr>
          <p:cNvPr id="107" name="Google Shape;107;p16"/>
          <p:cNvSpPr txBox="1"/>
          <p:nvPr>
            <p:ph idx="1" type="body"/>
          </p:nvPr>
        </p:nvSpPr>
        <p:spPr>
          <a:xfrm>
            <a:off x="311700" y="1152475"/>
            <a:ext cx="8520600" cy="33174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Char char="●"/>
            </a:pPr>
            <a:r>
              <a:rPr lang="en-GB"/>
              <a:t>Sharing underlying informers between controller</a:t>
            </a:r>
            <a:endParaRPr/>
          </a:p>
          <a:p>
            <a:pPr indent="-342900" lvl="0" marL="457200" rtl="0" algn="l">
              <a:spcBef>
                <a:spcPts val="0"/>
              </a:spcBef>
              <a:spcAft>
                <a:spcPts val="0"/>
              </a:spcAft>
              <a:buSzPts val="1800"/>
              <a:buChar char="●"/>
            </a:pPr>
            <a:r>
              <a:rPr lang="en-GB"/>
              <a:t>Matches the informer configuration</a:t>
            </a:r>
            <a:endParaRPr/>
          </a:p>
          <a:p>
            <a:pPr indent="-317500" lvl="1" marL="914400" rtl="0" algn="l">
              <a:spcBef>
                <a:spcPts val="0"/>
              </a:spcBef>
              <a:spcAft>
                <a:spcPts val="0"/>
              </a:spcAft>
              <a:buSzPts val="1400"/>
              <a:buChar char="○"/>
            </a:pPr>
            <a:r>
              <a:rPr lang="en-GB"/>
              <a:t>Except list limit </a:t>
            </a:r>
            <a:endParaRPr/>
          </a:p>
          <a:p>
            <a:pPr indent="-317500" lvl="1" marL="914400" rtl="0" algn="l">
              <a:spcBef>
                <a:spcPts val="0"/>
              </a:spcBef>
              <a:spcAft>
                <a:spcPts val="0"/>
              </a:spcAft>
              <a:buSzPts val="1400"/>
              <a:buChar char="○"/>
            </a:pPr>
            <a:r>
              <a:rPr lang="en-GB"/>
              <a:t>Details in </a:t>
            </a:r>
            <a:r>
              <a:rPr lang="en-GB" u="sng">
                <a:solidFill>
                  <a:schemeClr val="hlink"/>
                </a:solidFill>
                <a:hlinkClick r:id="rId3"/>
              </a:rPr>
              <a:t>InformerClassifier</a:t>
            </a:r>
            <a:endParaRPr/>
          </a:p>
          <a:p>
            <a:pPr indent="-342900" lvl="0" marL="457200" rtl="0" algn="l">
              <a:spcBef>
                <a:spcPts val="0"/>
              </a:spcBef>
              <a:spcAft>
                <a:spcPts val="0"/>
              </a:spcAft>
              <a:buSzPts val="1800"/>
              <a:buChar char="●"/>
            </a:pPr>
            <a:r>
              <a:rPr lang="en-GB"/>
              <a:t>Supports dynamic Informer registration and de-registration</a:t>
            </a:r>
            <a:endParaRPr/>
          </a:p>
        </p:txBody>
      </p:sp>
    </p:spTree>
  </p:cSld>
  <p:clrMapOvr>
    <a:masterClrMapping/>
  </p:clrMapOvr>
</p:sld>
</file>

<file path=sdk/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7"/>
          <p:cNvSpPr txBox="1"/>
          <p:nvPr>
            <p:ph type="title"/>
          </p:nvPr>
        </p:nvSpPr>
        <p:spPr>
          <a:xfrm>
            <a:off x="311700" y="445025"/>
            <a:ext cx="8520600" cy="572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Informer Pools</a:t>
            </a:r>
            <a:endParaRPr/>
          </a:p>
        </p:txBody>
      </p:sp>
      <p:pic>
        <p:nvPicPr>
          <p:cNvPr id="113" name="Google Shape;113;p17"/>
          <p:cNvPicPr preferRelativeResize="0"/>
          <p:nvPr/>
        </p:nvPicPr>
        <p:blipFill>
          <a:blip r:embed="rId3">
            <a:alphaModFix/>
          </a:blip>
          <a:stretch>
            <a:fillRect/>
          </a:stretch>
        </p:blipFill>
        <p:spPr>
          <a:xfrm>
            <a:off x="1373463" y="1017725"/>
            <a:ext cx="6540225" cy="3686575"/>
          </a:xfrm>
          <a:prstGeom prst="rect">
            <a:avLst/>
          </a:prstGeom>
          <a:noFill/>
          <a:ln>
            <a:noFill/>
          </a:ln>
        </p:spPr>
      </p:pic>
    </p:spTree>
  </p:cSld>
  <p:clrMapOvr>
    <a:masterClrMapping/>
  </p:clrMapOvr>
</p:sld>
</file>

<file path=sdk/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8"/>
          <p:cNvSpPr txBox="1"/>
          <p:nvPr>
            <p:ph type="title"/>
          </p:nvPr>
        </p:nvSpPr>
        <p:spPr>
          <a:xfrm>
            <a:off x="311700" y="445025"/>
            <a:ext cx="8520600" cy="572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Observability stack enhancements</a:t>
            </a:r>
            <a:endParaRPr/>
          </a:p>
        </p:txBody>
      </p:sp>
      <p:sp>
        <p:nvSpPr>
          <p:cNvPr id="119" name="Google Shape;119;p18"/>
          <p:cNvSpPr txBox="1"/>
          <p:nvPr>
            <p:ph idx="1" type="body"/>
          </p:nvPr>
        </p:nvSpPr>
        <p:spPr>
          <a:xfrm>
            <a:off x="311700" y="1152475"/>
            <a:ext cx="8520600" cy="33174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Char char="●"/>
            </a:pPr>
            <a:r>
              <a:rPr lang="en-GB"/>
              <a:t>Facelift over </a:t>
            </a:r>
            <a:r>
              <a:rPr lang="en-GB"/>
              <a:t>Observability stack</a:t>
            </a:r>
            <a:endParaRPr/>
          </a:p>
          <a:p>
            <a:pPr indent="-342900" lvl="0" marL="457200" rtl="0" algn="l">
              <a:spcBef>
                <a:spcPts val="0"/>
              </a:spcBef>
              <a:spcAft>
                <a:spcPts val="0"/>
              </a:spcAft>
              <a:buSzPts val="1800"/>
              <a:buChar char="●"/>
            </a:pPr>
            <a:r>
              <a:rPr lang="en-GB"/>
              <a:t>Improved logging and Mapped Diagnostic Context (MDC)</a:t>
            </a:r>
            <a:endParaRPr/>
          </a:p>
          <a:p>
            <a:pPr indent="-317500" lvl="1" marL="914400" rtl="0" algn="l">
              <a:spcBef>
                <a:spcPts val="0"/>
              </a:spcBef>
              <a:spcAft>
                <a:spcPts val="0"/>
              </a:spcAft>
              <a:buSzPts val="1400"/>
              <a:buChar char="○"/>
            </a:pPr>
            <a:r>
              <a:rPr lang="en-GB"/>
              <a:t>Putting event and primary resource to MDC if available</a:t>
            </a:r>
            <a:endParaRPr/>
          </a:p>
          <a:p>
            <a:pPr indent="-342900" lvl="0" marL="457200" rtl="0" algn="l">
              <a:spcBef>
                <a:spcPts val="0"/>
              </a:spcBef>
              <a:spcAft>
                <a:spcPts val="0"/>
              </a:spcAft>
              <a:buSzPts val="1800"/>
              <a:buChar char="●"/>
            </a:pPr>
            <a:r>
              <a:rPr lang="en-GB"/>
              <a:t>Metrics API refined</a:t>
            </a:r>
            <a:endParaRPr/>
          </a:p>
          <a:p>
            <a:pPr indent="-317500" lvl="1" marL="914400" rtl="0" algn="l">
              <a:spcBef>
                <a:spcPts val="0"/>
              </a:spcBef>
              <a:spcAft>
                <a:spcPts val="0"/>
              </a:spcAft>
              <a:buSzPts val="1400"/>
              <a:buChar char="○"/>
            </a:pPr>
            <a:r>
              <a:rPr lang="en-GB"/>
              <a:t>MicrometerMetricsV2</a:t>
            </a:r>
            <a:endParaRPr/>
          </a:p>
          <a:p>
            <a:pPr indent="-317500" lvl="1" marL="914400" rtl="0" algn="l">
              <a:spcBef>
                <a:spcPts val="0"/>
              </a:spcBef>
              <a:spcAft>
                <a:spcPts val="0"/>
              </a:spcAft>
              <a:buSzPts val="1400"/>
              <a:buChar char="○"/>
            </a:pPr>
            <a:r>
              <a:rPr lang="en-GB"/>
              <a:t>Generic Grafana Dashboard</a:t>
            </a:r>
            <a:endParaRPr/>
          </a:p>
          <a:p>
            <a:pPr indent="-317500" lvl="1" marL="914400" rtl="0" algn="l">
              <a:spcBef>
                <a:spcPts val="0"/>
              </a:spcBef>
              <a:spcAft>
                <a:spcPts val="0"/>
              </a:spcAft>
              <a:buSzPts val="1400"/>
              <a:buChar char="○"/>
            </a:pPr>
            <a:r>
              <a:rPr lang="en-GB"/>
              <a:t>Sample with OTel + Prometheus + Grafana</a:t>
            </a:r>
            <a:endParaRPr/>
          </a:p>
          <a:p>
            <a:pPr indent="0" lvl="0" marL="91440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sdk/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9"/>
          <p:cNvSpPr txBox="1"/>
          <p:nvPr>
            <p:ph type="title"/>
          </p:nvPr>
        </p:nvSpPr>
        <p:spPr>
          <a:xfrm>
            <a:off x="311700" y="445025"/>
            <a:ext cx="8520600" cy="572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Java Virtual Threads (WIP) </a:t>
            </a:r>
            <a:endParaRPr/>
          </a:p>
        </p:txBody>
      </p:sp>
      <p:sp>
        <p:nvSpPr>
          <p:cNvPr id="125" name="Google Shape;125;p19"/>
          <p:cNvSpPr txBox="1"/>
          <p:nvPr>
            <p:ph idx="1" type="body"/>
          </p:nvPr>
        </p:nvSpPr>
        <p:spPr>
          <a:xfrm>
            <a:off x="311700" y="1152475"/>
            <a:ext cx="8520600" cy="33174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Char char="●"/>
            </a:pPr>
            <a:r>
              <a:rPr lang="en-GB"/>
              <a:t>Planned for v5.7.0</a:t>
            </a:r>
            <a:endParaRPr/>
          </a:p>
          <a:p>
            <a:pPr indent="-342900" lvl="0" marL="457200" rtl="0" algn="l">
              <a:spcBef>
                <a:spcPts val="0"/>
              </a:spcBef>
              <a:spcAft>
                <a:spcPts val="0"/>
              </a:spcAft>
              <a:buSzPts val="1800"/>
              <a:buChar char="●"/>
            </a:pPr>
            <a:r>
              <a:rPr lang="en-GB"/>
              <a:t>We will officially support this for Java 25+ (but will work with Java 21+)</a:t>
            </a:r>
            <a:endParaRPr/>
          </a:p>
          <a:p>
            <a:pPr indent="-317500" lvl="1" marL="914400" rtl="0" algn="l">
              <a:spcBef>
                <a:spcPts val="0"/>
              </a:spcBef>
              <a:spcAft>
                <a:spcPts val="0"/>
              </a:spcAft>
              <a:buSzPts val="1400"/>
              <a:buChar char="○"/>
            </a:pPr>
            <a:r>
              <a:rPr lang="en-GB"/>
              <a:t>Replacing ThreadPools with virtual threads </a:t>
            </a:r>
            <a:r>
              <a:rPr lang="en-GB"/>
              <a:t>across</a:t>
            </a:r>
            <a:r>
              <a:rPr lang="en-GB"/>
              <a:t> framework</a:t>
            </a:r>
            <a:endParaRPr/>
          </a:p>
          <a:p>
            <a:pPr indent="-342900" lvl="0" marL="457200" rtl="0" algn="l">
              <a:spcBef>
                <a:spcPts val="0"/>
              </a:spcBef>
              <a:spcAft>
                <a:spcPts val="0"/>
              </a:spcAft>
              <a:buSzPts val="1800"/>
              <a:buChar char="●"/>
            </a:pPr>
            <a:r>
              <a:rPr lang="en-GB"/>
              <a:t>Virtually unlimited number of concurrent reconciliation</a:t>
            </a:r>
            <a:endParaRPr/>
          </a:p>
          <a:p>
            <a:pPr indent="-304800" lvl="1" marL="914400" rtl="0" algn="l">
              <a:spcBef>
                <a:spcPts val="0"/>
              </a:spcBef>
              <a:spcAft>
                <a:spcPts val="0"/>
              </a:spcAft>
              <a:buSzPts val="1200"/>
              <a:buChar char="○"/>
            </a:pPr>
            <a:r>
              <a:rPr lang="en-GB" sz="1200"/>
              <a:t>The explicit limit applies though</a:t>
            </a:r>
            <a:endParaRPr sz="1000"/>
          </a:p>
          <a:p>
            <a:pPr indent="0" lvl="0" marL="0" rtl="0" algn="l">
              <a:spcBef>
                <a:spcPts val="0"/>
              </a:spcBef>
              <a:spcAft>
                <a:spcPts val="0"/>
              </a:spcAft>
              <a:buNone/>
            </a:pPr>
            <a:r>
              <a:t/>
            </a:r>
            <a:endParaRPr sz="1200"/>
          </a:p>
        </p:txBody>
      </p:sp>
    </p:spTree>
  </p:cSld>
  <p:clrMapOvr>
    <a:masterClrMapping/>
  </p:clrMapOvr>
</p:sld>
</file>

<file path=sdk/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0"/>
          <p:cNvSpPr txBox="1"/>
          <p:nvPr>
            <p:ph type="title"/>
          </p:nvPr>
        </p:nvSpPr>
        <p:spPr>
          <a:xfrm>
            <a:off x="311700" y="445025"/>
            <a:ext cx="8520600" cy="572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Java Virtual Threads (WIP) </a:t>
            </a:r>
            <a:endParaRPr/>
          </a:p>
        </p:txBody>
      </p:sp>
      <p:pic>
        <p:nvPicPr>
          <p:cNvPr id="131" name="Google Shape;131;p20"/>
          <p:cNvPicPr preferRelativeResize="0"/>
          <p:nvPr/>
        </p:nvPicPr>
        <p:blipFill>
          <a:blip r:embed="rId3">
            <a:alphaModFix/>
          </a:blip>
          <a:stretch>
            <a:fillRect/>
          </a:stretch>
        </p:blipFill>
        <p:spPr>
          <a:xfrm>
            <a:off x="1302925" y="1017725"/>
            <a:ext cx="6538149" cy="3685400"/>
          </a:xfrm>
          <a:prstGeom prst="rect">
            <a:avLst/>
          </a:prstGeom>
          <a:noFill/>
          <a:ln>
            <a:noFill/>
          </a:ln>
        </p:spPr>
      </p:pic>
    </p:spTree>
  </p:cSld>
  <p:clrMapOvr>
    <a:masterClrMapping/>
  </p:clrMapOvr>
</p:sld>
</file>

<file path=sdk/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1"/>
          <p:cNvSpPr txBox="1"/>
          <p:nvPr>
            <p:ph type="title"/>
          </p:nvPr>
        </p:nvSpPr>
        <p:spPr>
          <a:xfrm>
            <a:off x="311700" y="445025"/>
            <a:ext cx="8520600" cy="572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Some honorable mentions…</a:t>
            </a:r>
            <a:endParaRPr/>
          </a:p>
        </p:txBody>
      </p:sp>
      <p:sp>
        <p:nvSpPr>
          <p:cNvPr id="137" name="Google Shape;137;p21"/>
          <p:cNvSpPr txBox="1"/>
          <p:nvPr>
            <p:ph idx="1" type="body"/>
          </p:nvPr>
        </p:nvSpPr>
        <p:spPr>
          <a:xfrm>
            <a:off x="311700" y="1152475"/>
            <a:ext cx="8520600" cy="33174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Char char="●"/>
            </a:pPr>
            <a:r>
              <a:rPr lang="en-GB"/>
              <a:t>EventRecorder API</a:t>
            </a:r>
            <a:endParaRPr/>
          </a:p>
          <a:p>
            <a:pPr indent="-342900" lvl="0" marL="457200" rtl="0" algn="l">
              <a:spcBef>
                <a:spcPts val="0"/>
              </a:spcBef>
              <a:spcAft>
                <a:spcPts val="0"/>
              </a:spcAft>
              <a:buSzPts val="1800"/>
              <a:buChar char="●"/>
            </a:pPr>
            <a:r>
              <a:rPr lang="en-GB"/>
              <a:t>ShardSelector support</a:t>
            </a:r>
            <a:endParaRPr/>
          </a:p>
          <a:p>
            <a:pPr indent="-342900" lvl="0" marL="457200" rtl="0" algn="l">
              <a:spcBef>
                <a:spcPts val="0"/>
              </a:spcBef>
              <a:spcAft>
                <a:spcPts val="0"/>
              </a:spcAft>
              <a:buSzPts val="1800"/>
              <a:buChar char="●"/>
            </a:pPr>
            <a:r>
              <a:rPr lang="en-GB"/>
              <a:t>Documentation improvements - operations section</a:t>
            </a:r>
            <a:endParaRPr/>
          </a:p>
          <a:p>
            <a:pPr indent="0" lvl="0" marL="0" rtl="0" algn="l">
              <a:spcBef>
                <a:spcPts val="0"/>
              </a:spcBef>
              <a:spcAft>
                <a:spcPts val="0"/>
              </a:spcAft>
              <a:buNone/>
            </a:pPr>
            <a:r>
              <a:t/>
            </a:r>
            <a:endParaRPr/>
          </a:p>
        </p:txBody>
      </p:sp>
    </p:spTree>
  </p:cSld>
  <p:clrMapOvr>
    <a:masterClrMapping/>
  </p:clrMapOvr>
</p:sld>
</file>

<file path=sdk/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2"/>
          <p:cNvSpPr txBox="1"/>
          <p:nvPr>
            <p:ph type="title"/>
          </p:nvPr>
        </p:nvSpPr>
        <p:spPr>
          <a:xfrm>
            <a:off x="311700" y="1940538"/>
            <a:ext cx="8520600" cy="8418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Thank you!  Q/A</a:t>
            </a:r>
            <a:endParaRPr/>
          </a:p>
        </p:txBody>
      </p:sp>
    </p:spTree>
  </p:cSld>
  <p:clrMapOvr>
    <a:masterClrMapping/>
  </p:clrMapOvr>
</p:sld>
</file>

<file path=sdk/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sdk/ppt/theme/theme2.xml><?xml version="1.0" encoding="utf-8"?>
<a:theme xmlns:a="http://schemas.openxmlformats.org/drawingml/2006/main" xmlns:r="http://schemas.openxmlformats.org/officeDocument/2006/relationships" name="OSSNA24">
  <a:themeElements>
    <a:clrScheme name="Custom 10">
      <a:dk1>
        <a:srgbClr val="000000"/>
      </a:dk1>
      <a:lt1>
        <a:srgbClr val="FFFFFF"/>
      </a:lt1>
      <a:dk2>
        <a:srgbClr val="052243"/>
      </a:dk2>
      <a:lt2>
        <a:srgbClr val="113E82"/>
      </a:lt2>
      <a:accent1>
        <a:srgbClr val="D62293"/>
      </a:accent1>
      <a:accent2>
        <a:srgbClr val="FFEE88"/>
      </a:accent2>
      <a:accent3>
        <a:srgbClr val="113851"/>
      </a:accent3>
      <a:accent4>
        <a:srgbClr val="2E9C68"/>
      </a:accent4>
      <a:accent5>
        <a:srgbClr val="40BE95"/>
      </a:accent5>
      <a:accent6>
        <a:srgbClr val="E3F6FF"/>
      </a:accent6>
      <a:hlink>
        <a:srgbClr val="ADC5EF"/>
      </a:hlink>
      <a:folHlink>
        <a:srgbClr val="FFF7B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sdk/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