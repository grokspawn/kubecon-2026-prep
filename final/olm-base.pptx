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 host; name to confirm
START: 00:00
DURATION: 00:45
STATUS: 
TAKEAWAY: 
TALK TRACK / SOURCES / CAVEATS / REVIEW:
Welcome the audience and introduce the talk, The Next Era of Kubernetes Operator Lifecycle Management, at KubeCon + CloudNativeCon North America 2026. Retain the operator-lifecycle illustration. Source: ../kubecon-2026-outline.md.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Presentation team
SPEAKER: OLM A — team introduction; name to confirm
START: 00:45
DURATION: 00:30
STATUS: 
TAKEAWAY: 
TALK TRACK / SOURCES / CAVEATS / REVIEW:
OLM A introduces Rashmi, Joe and Jordan as the OLM presentation team; photos are deferred. Introduce Attila as the fourth presenter, covering Java Operator SDK exclusively. The mapping of Rashmi, Joe and Jordan to OLM roles A/B/C remains unconfirmed. A covers base slides 1–4, B covers 5–9, and C covers 10–13. The primary builder imports original SDK source slides 3–12 unchanged after the divider, allocating 60 seconds to each. These become final slides 14–23; the host closes on final slide 24 and topic owners answer questions on final slide 25. Adding this team slide and removing the standalone assumptions slide preserves 15 base records and 25 displayed slides. The base records total 1,200 seconds; the original SDK segment adds 600 seconds for a 30-minute session. Keep the no-live-demo plan. Sources: ../kubecon-2026-outline.md; ../kubecon-2025-slide-context.md.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Compatibility and lifecycle foundations
SPEAKER: OLM A — context / host; name to confirm
START: 01:15
DURATION: 01:30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 host; name to confirm
START: 02:45
DURATION: 01:15
STATUS: EVOLUTION / PLANNED / FUTURE WORK
TAKEAWAY: OLM feature evolution
TALK TRACK / SOURCES / CAVEATS / REVIEW:
Enumerate the timeline: past work includes OLMv0, SQLite catalogs and established file-based catalogs (FBC). Summarize OLMv0's flawed assumptions about namespace-local CRD visibility, independently managed APIs and watch-aware dependencies. CRD definitions are cluster-scoped shared APIs; custom resource instances may be namespaced, and controller watch scope is configured separately. Shared CRDs can couple operator upgrades. The flawed assumptions belonged to OLMv0's lifecycle model; Kubernetes' cluster-scoped CRD design is the underlying API boundary. Keep the OperatorGroup recap brief and explain how these lessons informed OLMv1.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hands off to B after this overview at 04:00. Sources: ../kubecon-2025-slide-context.md slide 9; ../kubecon-2026-resource-assessment.md K-1/K-2/V0-2/V0-3;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Install a bundle directly
SPEAKER: OLM B — lifecycle primitives; name to confirm
START: 04:00
DURATION: 01:30
STATUS: IN ACTIVE DEVELOPMENT / CONTROLLED BY FEATURE-GATE
TAKEAWAY: Select a registry+v1 bundle by its OCI image reference.
TALK TRACK / SOURCES / CAVEATS / REVIEW:
PR #2907 is OPEN and unmerged as of the supplied check dated 2026-10-09.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Inspect phased resource rollouts
SPEAKER: OLM B — lifecycle primitives; name to confirm
START: 05:30
DURATION: 02:00
STATUS: IN ACTIVE DEVELOPMENT / CONTROLLED BY FEATURE-GATE
TAKEAWAY: Ordered phases expose resource application and readiness progress.
TALK TRACK / SOURCES / CAVEATS / REVIEW:
Explain the evolution from ClusterExtensionRevision to ClusterObjectSets. The ascending stair-step illustration shows resource readiness progressing toward the installation goal. Objects within a phase have unspecified ordering. Readiness checks cover defined conditions; application correctness and transactional availability require additional validation. The rollout runtime is in active development and controlled by feature-gate. Pin the source version and gate settings for examples. Reconcile draft Succeeded wording with the inspected Ready/completedAt type before using status examples. Sources: supplied ClusterObjectSets draft and feature-planning context; ../kubecon-2026-resource-assessment.md; ../kubecon-2025-slide-context.md slides 7, 10 and 12.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User control of extension deployments
SPEAKER: OLM B — lifecycle primitives; name to confirm
START: 07:30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OLMv0 → OLMv1 migration
SPEAKER: OLM B — lifecycle primitives; name to confirm
START: 09:00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user confirms structured output that supports automated processing, including models; it has not been independently exercised in this editing task.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Shared lifecycle logic in library-olm
SPEAKER: OLM B — lifecycle primitives; name to confirm
START: 11:00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B hands off to C after this slide at 12:00.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Planned Helm content support
SPEAKER: OLM C — content/catalogs/contributions; name to confirm
START: 12:00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Catalog performance and content types
SPEAKER: OLM C — content/catalogs/contributions; name to confirm
START: 14:00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Contribute to Operator Framework
SPEAKER: OLM C — content/catalogs/contributions; name to confirm
START: 15:30
DURATION: 01:00
STATUS: PROJECT DEVELOPMENT
TAKEAWAY: Help develop the project through documentation, code and test cases.
TALK TRACK / SOURCES / CAVEATS / REVIEW:
Make an explicit project-development ask: contribute documentation, code, tests and fixtures to Operator Framework. Explain the distinction from submitting operator versions or upgrade graphs to a catalog; those submissions serve a separate publishing workflow. Useful development cases include rollout/configuration edge cases, migration eligibility, chart/values compatibility and schema behavior. Each contribution should identify the repository, issue or discussion, reproducible input and expected result. Maintainers still need to vet concrete task links and destinations. Companion examples are intended for online use; this session has no live demos. Sources: supplied feature-planning context; ../kubecon-2025-slide-context.md slide 15.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Operator Framework: Java Operator SDK
SPEAKER: OLM C — content/catalogs/contributions; name to confirm
START: 16:30
DURATION: 00:30
STATUS: 
TAKEAWAY: 
TALK TRACK / SOURCES / CAVEATS / REVIEW:
C hands off to Attila for Java Operator SDK. OLM packaging is language-neutral, and SDKs support controller implementation and reconciliation. Keep bundle metadata and the runnable controller image distinct in the spoken transition. The primary builder imports original SDK source slides 3–12 unchanged immediately after this divider. Each original SDK slide receives 60 seconds, for ten minutes total on final slides 14–23. Attila covers this segment exclusively.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Resources and contribution steps
SPEAKER: OLM A — session host; name to confirm
START: 27:00
DURATION: 01:00
STATUS: RESOURCE PACKAGE TO PREPARE
TAKEAWAY: Use documented contracts and reproducible cases to guide contributions.
TALK TRACK / SOURCES / CAVEATS / REVIEW:
The host closes on final slide 24, represented here by base record 14. Include verified resource routes for Operator Framework and Java Operator SDK in the final resource hub. Public URLs and QR codes need published destinations. Companion examples and vetted first-task links remain to be prepared. Give the audience a practical next-day contribution supported by the resource package. Speaker ownership stays in these notes. Sources: ../kubecon-2026-outline.md companion package; supplied feature-planning contribution candidates.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Questions?
SPEAKER: OLM A/B/C on OLM; Attila on Java SDK only
START: 28:00
DURATION: 02:00
STATUS: 
TAKEAWAY: Questions about lifecycle APIs, packaging or controller behavior?
TALK TRACK / SOURCES / CAVEATS / REVIEW:
Final slide 25 is titled exactly Questions?. Base record 15 reserves two minutes for questions and transition overruns. A/B/C answer their OLM topics; Attila answers Java Operator SDK questions exclusively. The base segment totals 20 minutes, including this question allocation. Original SDK source slides 3–12 add ten minutes for a 30-minute session. Main slides occupy 28 minutes including the one-minute host close. Keep the no-live-demo plan. Source: ../kubecon-2026-outline.md run of show.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5550" y="444401"/>
            <a:ext cx="8601405" cy="1066800"/>
          </a:xfrm>
          <a:prstGeom prst="rect">
            <a:avLst/>
          </a:prstGeom>
          <a:noFill/>
          <a:ln/>
        </p:spPr>
        <p:txBody>
          <a:bodyPr wrap="square" lIns="0" tIns="0" rIns="0" bIns="0" rtlCol="0" anchor="t"/>
          <a:lstStyle/>
          <a:p>
            <a:pPr algn="l" indent="0" marL="0">
              <a:lnSpc>
                <a:spcPts val="3136"/>
              </a:lnSpc>
              <a:buNone/>
            </a:pPr>
            <a:r>
              <a:rPr lang="en-US" sz="2800" b="1" dirty="0">
                <a:solidFill>
                  <a:srgbClr val="00144C"/>
                </a:solidFill>
                <a:latin typeface="Arial" pitchFamily="34" charset="0"/>
                <a:ea typeface="Arial" pitchFamily="34" charset="-122"/>
                <a:cs typeface="Arial" pitchFamily="34" charset="-120"/>
              </a:rPr>
              <a:t>The Next Era of Kubernetes Operator Lifecycle Management</a:t>
            </a:r>
            <a:endParaRPr lang="en-US" sz="2800" dirty="0"/>
          </a:p>
        </p:txBody>
      </p:sp>
      <p:pic>
        <p:nvPicPr>
          <p:cNvPr id="3" name="Image 0" descr="/Users/jordan/Documents/devel/breadcrumbs/2026-kubecon-wip/dry-run/theme/assets/s01.png">    </p:cNvPr>
          <p:cNvPicPr>
            <a:picLocks noChangeAspect="1"/>
          </p:cNvPicPr>
          <p:nvPr/>
        </p:nvPicPr>
        <p:blipFill>
          <a:blip r:embed="rId1"/>
          <a:stretch>
            <a:fillRect/>
          </a:stretch>
        </p:blipFill>
        <p:spPr>
          <a:xfrm>
            <a:off x="2476500" y="1612850"/>
            <a:ext cx="4191000" cy="2793950"/>
          </a:xfrm>
          <a:prstGeom prst="rect">
            <a:avLst/>
          </a:prstGeom>
        </p:spPr>
      </p:pic>
      <p:sp>
        <p:nvSpPr>
          <p:cNvPr id="4" name="Text 1"/>
          <p:cNvSpPr/>
          <p:nvPr/>
        </p:nvSpPr>
        <p:spPr>
          <a:xfrm>
            <a:off x="1968401" y="4711601"/>
            <a:ext cx="6217920" cy="152400"/>
          </a:xfrm>
          <a:prstGeom prst="rect">
            <a:avLst/>
          </a:prstGeom>
          <a:noFill/>
          <a:ln/>
        </p:spPr>
        <p:txBody>
          <a:bodyPr wrap="square" lIns="0" tIns="0" rIns="0" bIns="0" rtlCol="0" anchor="t"/>
          <a:lstStyle/>
          <a:p>
            <a:pPr algn="l" indent="0" marL="0">
              <a:buNone/>
            </a:pPr>
            <a:r>
              <a:rPr lang="en-US" sz="1050" dirty="0">
                <a:solidFill>
                  <a:srgbClr val="052243"/>
                </a:solidFill>
                <a:latin typeface="Arial" pitchFamily="34" charset="0"/>
                <a:ea typeface="Arial" pitchFamily="34" charset="-122"/>
                <a:cs typeface="Arial" pitchFamily="34" charset="-120"/>
              </a:rPr>
              <a:t>KubeCon + CloudNativeCon North America 2026</a:t>
            </a:r>
            <a:endParaRPr lang="en-US" sz="1050" dirty="0"/>
          </a:p>
        </p:txBody>
      </p:sp>
      <p:sp>
        <p:nvSpPr>
          <p:cNvPr id="5" name="Text 2"/>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1 / 25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55550" y="444401"/>
            <a:ext cx="3144330" cy="409575"/>
          </a:xfrm>
          <a:prstGeom prst="rect">
            <a:avLst/>
          </a:prstGeom>
          <a:noFill/>
          <a:ln/>
        </p:spPr>
        <p:txBody>
          <a:bodyPr wrap="square" lIns="0" tIns="0" rIns="0" bIns="0" rtlCol="0" anchor="t"/>
          <a:lstStyle/>
          <a:p>
            <a:pPr algn="l" indent="0" marL="0">
              <a:buNone/>
            </a:pPr>
            <a:r>
              <a:rPr lang="en-US" sz="2800" b="1" dirty="0">
                <a:solidFill>
                  <a:srgbClr val="00144C"/>
                </a:solidFill>
                <a:latin typeface="Arial" pitchFamily="34" charset="0"/>
                <a:ea typeface="Arial" pitchFamily="34" charset="-122"/>
                <a:cs typeface="Arial" pitchFamily="34" charset="-120"/>
              </a:rPr>
              <a:t>Presentation team</a:t>
            </a:r>
            <a:endParaRPr lang="en-US" sz="2800" dirty="0"/>
          </a:p>
        </p:txBody>
      </p:sp>
      <p:sp>
        <p:nvSpPr>
          <p:cNvPr id="3" name="Text 1"/>
          <p:cNvSpPr/>
          <p:nvPr/>
        </p:nvSpPr>
        <p:spPr>
          <a:xfrm>
            <a:off x="444401"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4" name="Text 2"/>
          <p:cNvSpPr/>
          <p:nvPr/>
        </p:nvSpPr>
        <p:spPr>
          <a:xfrm>
            <a:off x="1117253" y="2527250"/>
            <a:ext cx="1263470"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Rashmi</a:t>
            </a:r>
            <a:endParaRPr lang="en-US" sz="2700" dirty="0"/>
          </a:p>
        </p:txBody>
      </p:sp>
      <p:sp>
        <p:nvSpPr>
          <p:cNvPr id="5" name="Text 3"/>
          <p:cNvSpPr/>
          <p:nvPr/>
        </p:nvSpPr>
        <p:spPr>
          <a:xfrm>
            <a:off x="3308152"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6" name="Text 4"/>
          <p:cNvSpPr/>
          <p:nvPr/>
        </p:nvSpPr>
        <p:spPr>
          <a:xfrm>
            <a:off x="4304854" y="2527250"/>
            <a:ext cx="602816"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Joe</a:t>
            </a:r>
            <a:endParaRPr lang="en-US" sz="2700" dirty="0"/>
          </a:p>
        </p:txBody>
      </p:sp>
      <p:sp>
        <p:nvSpPr>
          <p:cNvPr id="7" name="Text 5"/>
          <p:cNvSpPr/>
          <p:nvPr/>
        </p:nvSpPr>
        <p:spPr>
          <a:xfrm>
            <a:off x="6171902" y="2108150"/>
            <a:ext cx="2584400" cy="1238250"/>
          </a:xfrm>
          <a:prstGeom prst="rect">
            <a:avLst/>
          </a:prstGeom>
          <a:solidFill>
            <a:srgbClr val="FFFFFF"/>
          </a:solidFill>
          <a:ln w="9525">
            <a:solidFill>
              <a:srgbClr val="ADC5EF"/>
            </a:solidFill>
          </a:ln>
        </p:spPr>
        <p:txBody>
          <a:bodyPr wrap="square" rtlCol="0" anchor="ctr"/>
          <a:lstStyle/>
          <a:p>
            <a:pPr indent="0" marL="0">
              <a:buNone/>
            </a:pPr>
            <a:endParaRPr lang="en-US" dirty="0"/>
          </a:p>
        </p:txBody>
      </p:sp>
      <p:sp>
        <p:nvSpPr>
          <p:cNvPr id="8" name="Text 6"/>
          <p:cNvSpPr/>
          <p:nvPr/>
        </p:nvSpPr>
        <p:spPr>
          <a:xfrm>
            <a:off x="6892379" y="2527250"/>
            <a:ext cx="1166164" cy="400050"/>
          </a:xfrm>
          <a:prstGeom prst="rect">
            <a:avLst/>
          </a:prstGeom>
          <a:noFill/>
          <a:ln/>
        </p:spPr>
        <p:txBody>
          <a:bodyPr wrap="square" lIns="0" tIns="0" rIns="0" bIns="0" rtlCol="0" anchor="t"/>
          <a:lstStyle/>
          <a:p>
            <a:pPr algn="l" indent="0" marL="0">
              <a:buNone/>
            </a:pPr>
            <a:r>
              <a:rPr lang="en-US" sz="2700" b="1" dirty="0">
                <a:solidFill>
                  <a:srgbClr val="00144C"/>
                </a:solidFill>
                <a:latin typeface="Arial" pitchFamily="34" charset="0"/>
                <a:ea typeface="Arial" pitchFamily="34" charset="-122"/>
                <a:cs typeface="Arial" pitchFamily="34" charset="-120"/>
              </a:rPr>
              <a:t>Jordan</a:t>
            </a:r>
            <a:endParaRPr lang="en-US" sz="2700" dirty="0"/>
          </a:p>
        </p:txBody>
      </p:sp>
      <p:sp>
        <p:nvSpPr>
          <p:cNvPr id="9" name="Text 7"/>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2 / 25</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Compatibility and lifecycle foundations</a:t>
            </a:r>
            <a:endParaRPr lang="en-US" sz="2800" dirty="0"/>
          </a:p>
        </p:txBody>
      </p:sp>
      <p:sp>
        <p:nvSpPr>
          <p:cNvPr id="3" name="Text 1"/>
          <p:cNvSpPr/>
          <p:nvPr/>
        </p:nvSpPr>
        <p:spPr>
          <a:xfrm>
            <a:off x="355550" y="1104900"/>
            <a:ext cx="1669852"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FOUNDATIONAL WORK</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OLM evolution builds on existing packages and operational experience.</a:t>
            </a:r>
            <a:endParaRPr lang="en-US" sz="1850" dirty="0"/>
          </a:p>
        </p:txBody>
      </p:sp>
      <p:sp>
        <p:nvSpPr>
          <p:cNvPr id="6" name="Text 4"/>
          <p:cNvSpPr/>
          <p:nvPr/>
        </p:nvSpPr>
        <p:spPr>
          <a:xfrm>
            <a:off x="355550" y="2438698"/>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OLMv0 established lifecycle management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Existing registry+v1 content shapes compatibility</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Operational experience informs OLMv1</a:t>
            </a:r>
            <a:endParaRPr lang="en-US" sz="1600" dirty="0"/>
          </a:p>
        </p:txBody>
      </p:sp>
      <p:pic>
        <p:nvPicPr>
          <p:cNvPr id="7" name="Image 0" descr="/Users/jordan/Documents/devel/breadcrumbs/2026-kubecon-wip/dry-run/theme/assets/s04.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Existing content and users shape lifecycle implementation.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3 / 25</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OLM: past, current and future</a:t>
            </a:r>
            <a:endParaRPr lang="en-US" sz="2800" dirty="0"/>
          </a:p>
        </p:txBody>
      </p:sp>
      <p:sp>
        <p:nvSpPr>
          <p:cNvPr id="3" name="Text 1"/>
          <p:cNvSpPr/>
          <p:nvPr/>
        </p:nvSpPr>
        <p:spPr>
          <a:xfrm>
            <a:off x="355550" y="1104900"/>
            <a:ext cx="2746772"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EVOLUTION / PLANNED / FUTURE WORK</a:t>
            </a:r>
            <a:endParaRPr lang="en-US" sz="1000" dirty="0"/>
          </a:p>
        </p:txBody>
      </p:sp>
      <p:sp>
        <p:nvSpPr>
          <p:cNvPr id="5" name="Text 3"/>
          <p:cNvSpPr/>
          <p:nvPr/>
        </p:nvSpPr>
        <p:spPr>
          <a:xfrm>
            <a:off x="355550" y="1524000"/>
            <a:ext cx="3704793" cy="258366"/>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OLM feature evolution</a:t>
            </a:r>
            <a:endParaRPr lang="en-US" sz="1850" dirty="0"/>
          </a:p>
        </p:txBody>
      </p:sp>
      <p:sp>
        <p:nvSpPr>
          <p:cNvPr id="6" name="Text 4"/>
          <p:cNvSpPr/>
          <p:nvPr/>
        </p:nvSpPr>
        <p:spPr>
          <a:xfrm>
            <a:off x="355550" y="1921966"/>
            <a:ext cx="3632150" cy="1809452"/>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Past: OLMv0, flawed namespace-local CRD visibility assumptions, SQLite, FBC</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Current: OLMv1, ClusterExtension, pins, webhooks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Ongoing: rollouts, config, install, migration</a:t>
            </a:r>
            <a:endParaRPr lang="en-US" sz="1600" dirty="0"/>
          </a:p>
        </p:txBody>
      </p:sp>
      <p:pic>
        <p:nvPicPr>
          <p:cNvPr id="7" name="Image 0" descr="/Users/jordan/Documents/devel/breadcrumbs/2026-kubecon-wip/dry-run/theme/assets/s02.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Planned: helm+v2 and v2 schemas. Future: OCI catalog storage.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4 / 25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Install a bundle directly</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Select a registry+v1 bundle by its OCI image reference.</a:t>
            </a:r>
            <a:endParaRPr lang="en-US" sz="1850" dirty="0"/>
          </a:p>
        </p:txBody>
      </p:sp>
      <p:sp>
        <p:nvSpPr>
          <p:cNvPr id="6" name="Text 4"/>
          <p:cNvSpPr/>
          <p:nvPr/>
        </p:nvSpPr>
        <p:spPr>
          <a:xfrm>
            <a:off x="355550" y="2180332"/>
            <a:ext cx="3632150" cy="891480"/>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Use sourceType: OCIImage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Set source.ociImage.ref</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Bypass catalog resolution</a:t>
            </a:r>
            <a:endParaRPr lang="en-US" sz="1600" dirty="0"/>
          </a:p>
        </p:txBody>
      </p:sp>
      <p:pic>
        <p:nvPicPr>
          <p:cNvPr id="7" name="Image 0" descr="/Users/jordan/Documents/devel/breadcrumbs/2026-kubecon-wip/dry-run/theme/assets/s05.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Proposed in open PR #2907; controlled by BoxcutterRuntime.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5 / 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Inspect phased resource rollouts</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Ordered phases expose resource application and readiness progress.</a:t>
            </a:r>
            <a:endParaRPr lang="en-US" sz="1850" dirty="0"/>
          </a:p>
        </p:txBody>
      </p:sp>
      <p:sp>
        <p:nvSpPr>
          <p:cNvPr id="6" name="Text 4"/>
          <p:cNvSpPr/>
          <p:nvPr/>
        </p:nvSpPr>
        <p:spPr>
          <a:xfrm>
            <a:off x="355550" y="2438698"/>
            <a:ext cx="3632150" cy="1120973"/>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Apply resource groups in phase order</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Wait for applicable readiness checks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Inspect revision content and ownership changes</a:t>
            </a:r>
            <a:endParaRPr lang="en-US" sz="1600" dirty="0"/>
          </a:p>
        </p:txBody>
      </p:sp>
      <p:pic>
        <p:nvPicPr>
          <p:cNvPr id="7" name="Image 0" descr="/Users/jordan/Documents/devel/breadcrumbs/2026-kubecon-wip/dry-run/theme/assets/s06.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Readiness checks show which phase is waiting.</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6 / 25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User control of extension deployments</a:t>
            </a:r>
            <a:endParaRPr lang="en-US" sz="2800" dirty="0"/>
          </a:p>
        </p:txBody>
      </p:sp>
      <p:sp>
        <p:nvSpPr>
          <p:cNvPr id="3" name="Text 1"/>
          <p:cNvSpPr/>
          <p:nvPr/>
        </p:nvSpPr>
        <p:spPr>
          <a:xfrm>
            <a:off x="355550" y="1104900"/>
            <a:ext cx="4061371"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 / CONTROLLED BY FEATURE-GATE</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Flexible user-defined deployment configuration.</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Environment variables and resource settings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Placement, volumes and deployment metadata</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Operator-provided configuration and schemas</a:t>
            </a:r>
            <a:endParaRPr lang="en-US" sz="1600" dirty="0"/>
          </a:p>
        </p:txBody>
      </p:sp>
      <p:pic>
        <p:nvPicPr>
          <p:cNvPr id="7" name="Image 0" descr="/Users/jordan/Documents/devel/breadcrumbs/2026-kubecon-wip/dry-run/theme/assets/s07.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OLM applies user choices through operator configuration.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7 / 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OLMv0 → OLMv1 migration</a:t>
            </a:r>
            <a:endParaRPr lang="en-US" sz="2800" dirty="0"/>
          </a:p>
        </p:txBody>
      </p:sp>
      <p:sp>
        <p:nvSpPr>
          <p:cNvPr id="3" name="Text 1"/>
          <p:cNvSpPr/>
          <p:nvPr/>
        </p:nvSpPr>
        <p:spPr>
          <a:xfrm>
            <a:off x="355550" y="1104900"/>
            <a:ext cx="185350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Move operator management from OLMv0 to OLMv1.</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Prepare v1 catalogs from v0 CatalogSources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Check and preview operator migrations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Migration library with example binaries</a:t>
            </a:r>
            <a:endParaRPr lang="en-US" sz="1600" dirty="0"/>
          </a:p>
        </p:txBody>
      </p:sp>
      <p:pic>
        <p:nvPicPr>
          <p:cNvPr id="7" name="Image 0" descr="/Users/jordan/Documents/devel/breadcrumbs/2026-kubecon-wip/dry-run/theme/assets/s08.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Structured output supports automation and models.</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8 / 25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Shared lifecycle logic in library-olm</a:t>
            </a:r>
            <a:endParaRPr lang="en-US" sz="2800" dirty="0"/>
          </a:p>
        </p:txBody>
      </p:sp>
      <p:sp>
        <p:nvSpPr>
          <p:cNvPr id="3" name="Text 1"/>
          <p:cNvSpPr/>
          <p:nvPr/>
        </p:nvSpPr>
        <p:spPr>
          <a:xfrm>
            <a:off x="355550" y="1104900"/>
            <a:ext cx="185350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IN ACTIVE DEVELOPMENT</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Reuse lifecycle logic through a library with explicit contracts.</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Share migration checks and workflow logic</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Exercise current development examples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Record expected results in reusable fixtures</a:t>
            </a:r>
            <a:endParaRPr lang="en-US" sz="1600" dirty="0"/>
          </a:p>
        </p:txBody>
      </p:sp>
      <p:pic>
        <p:nvPicPr>
          <p:cNvPr id="7" name="Image 0" descr="/Users/jordan/Documents/devel/breadcrumbs/2026-kubecon-wip/dry-run/theme/assets/s09.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Examples and fixtures make supported behavior concrete.</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9 / 25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Planned Helm content support</a:t>
            </a:r>
            <a:endParaRPr lang="en-US" sz="2800" dirty="0"/>
          </a:p>
        </p:txBody>
      </p:sp>
      <p:sp>
        <p:nvSpPr>
          <p:cNvPr id="3" name="Text 1"/>
          <p:cNvSpPr/>
          <p:nvPr/>
        </p:nvSpPr>
        <p:spPr>
          <a:xfrm>
            <a:off x="355550" y="1104900"/>
            <a:ext cx="145985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PLANNED / helm+v2</a:t>
            </a:r>
            <a:endParaRPr lang="en-US" sz="1000" dirty="0"/>
          </a:p>
        </p:txBody>
      </p:sp>
      <p:sp>
        <p:nvSpPr>
          <p:cNvPr id="5" name="Text 3"/>
          <p:cNvSpPr/>
          <p:nvPr/>
        </p:nvSpPr>
        <p:spPr>
          <a:xfrm>
            <a:off x="355550" y="1524000"/>
            <a:ext cx="3704793" cy="516731"/>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The rendering contract targets deterministic chart behavior.</a:t>
            </a:r>
            <a:endParaRPr lang="en-US" sz="1850" dirty="0"/>
          </a:p>
        </p:txBody>
      </p:sp>
      <p:sp>
        <p:nvSpPr>
          <p:cNvPr id="6" name="Text 4"/>
          <p:cNvSpPr/>
          <p:nvPr/>
        </p:nvSpPr>
        <p:spPr>
          <a:xfrm>
            <a:off x="355550" y="2180332"/>
            <a:ext cx="3632150" cy="1579959"/>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Chart and values produce managed manifests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Allow-listed features support reproducible rendering</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helm+v2 identifies the content representation</a:t>
            </a:r>
            <a:endParaRPr lang="en-US" sz="1600" dirty="0"/>
          </a:p>
        </p:txBody>
      </p:sp>
      <p:pic>
        <p:nvPicPr>
          <p:cNvPr id="7" name="Image 0" descr="/Users/jordan/Documents/devel/breadcrumbs/2026-kubecon-wip/dry-run/theme/assets/s10.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Standard chart artifacts use a defined rendering contract.</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10 / 25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Catalog performance and content types</a:t>
            </a:r>
            <a:endParaRPr lang="en-US" sz="2800" dirty="0"/>
          </a:p>
        </p:txBody>
      </p:sp>
      <p:sp>
        <p:nvSpPr>
          <p:cNvPr id="3" name="Text 1"/>
          <p:cNvSpPr/>
          <p:nvPr/>
        </p:nvSpPr>
        <p:spPr>
          <a:xfrm>
            <a:off x="355550" y="1104900"/>
            <a:ext cx="1900386"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PLANNED / FUTURE WORK</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Design for lower catalog-processing cost and additional content types.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Lower duplicated CSV metadata</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Direct version fields reduce property traversal</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Typed registry+v1 and helm+v2 content</a:t>
            </a:r>
            <a:endParaRPr lang="en-US" sz="1600" dirty="0"/>
          </a:p>
        </p:txBody>
      </p:sp>
      <p:pic>
        <p:nvPicPr>
          <p:cNvPr id="7" name="Image 0" descr="/Users/jordan/Documents/devel/breadcrumbs/2026-kubecon-wip/dry-run/theme/assets/s11.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File-based catalogs remain the established foundation.</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11 / 25</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Contribute to Operator Framework</a:t>
            </a:r>
            <a:endParaRPr lang="en-US" sz="2800" dirty="0"/>
          </a:p>
        </p:txBody>
      </p:sp>
      <p:sp>
        <p:nvSpPr>
          <p:cNvPr id="3" name="Text 1"/>
          <p:cNvSpPr/>
          <p:nvPr/>
        </p:nvSpPr>
        <p:spPr>
          <a:xfrm>
            <a:off x="355550" y="1104900"/>
            <a:ext cx="1830139"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PROJECT DEVELOPMENT</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Help develop the project through documentation, code and test cases.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Improve documentation and examples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Contribute code and focused tests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Add migration, chart and schema fixtures</a:t>
            </a:r>
            <a:endParaRPr lang="en-US" sz="1600" dirty="0"/>
          </a:p>
        </p:txBody>
      </p:sp>
      <p:pic>
        <p:nvPicPr>
          <p:cNvPr id="7" name="Image 0" descr="/Users/jordan/Documents/devel/breadcrumbs/2026-kubecon-wip/dry-run/theme/assets/s12.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Start with a reproducible case and a clear expected result.</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12 / 25</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00144C"/>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8244233" y="4940201"/>
            <a:ext cx="544068" cy="114300"/>
          </a:xfrm>
          <a:prstGeom prst="rect">
            <a:avLst/>
          </a:prstGeom>
          <a:noFill/>
          <a:ln/>
        </p:spPr>
        <p:txBody>
          <a:bodyPr wrap="square" lIns="0" tIns="0" rIns="0" bIns="0" rtlCol="0" anchor="t"/>
          <a:lstStyle/>
          <a:p>
            <a:pPr algn="r" indent="0" marL="0">
              <a:buNone/>
            </a:pPr>
            <a:r>
              <a:rPr lang="en-US" sz="850" dirty="0">
                <a:solidFill>
                  <a:srgbClr val="052243"/>
                </a:solidFill>
                <a:latin typeface="Arial" pitchFamily="34" charset="0"/>
                <a:ea typeface="Arial" pitchFamily="34" charset="-122"/>
                <a:cs typeface="Arial" pitchFamily="34" charset="-120"/>
              </a:rPr>
              <a:t>13 / 25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Resources and contribution steps</a:t>
            </a:r>
            <a:endParaRPr lang="en-US" sz="2800" dirty="0"/>
          </a:p>
        </p:txBody>
      </p:sp>
      <p:sp>
        <p:nvSpPr>
          <p:cNvPr id="3" name="Text 1"/>
          <p:cNvSpPr/>
          <p:nvPr/>
        </p:nvSpPr>
        <p:spPr>
          <a:xfrm>
            <a:off x="355550" y="1104900"/>
            <a:ext cx="2458045" cy="253752"/>
          </a:xfrm>
          <a:prstGeom prst="rect">
            <a:avLst/>
          </a:prstGeom>
          <a:solidFill>
            <a:srgbClr val="E3F6FF"/>
          </a:solidFill>
          <a:ln/>
        </p:spPr>
        <p:txBody>
          <a:bodyPr wrap="square" rtlCol="0" anchor="ctr"/>
          <a:lstStyle/>
          <a:p>
            <a:pPr indent="0" marL="0">
              <a:buNone/>
            </a:pPr>
            <a:endParaRPr lang="en-US" dirty="0"/>
          </a:p>
        </p:txBody>
      </p:sp>
      <p:sp>
        <p:nvSpPr>
          <p:cNvPr id="4" name="Text 2"/>
          <p:cNvSpPr/>
          <p:nvPr/>
        </p:nvSpPr>
        <p:spPr>
          <a:xfrm>
            <a:off x="469850" y="116830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00144C"/>
                </a:solidFill>
                <a:latin typeface="Arial" pitchFamily="34" charset="0"/>
                <a:ea typeface="Arial" pitchFamily="34" charset="-122"/>
                <a:cs typeface="Arial" pitchFamily="34" charset="-120"/>
              </a:rPr>
              <a:t>RESOURCE PACKAGE TO PREPARE</a:t>
            </a:r>
            <a:endParaRPr lang="en-US" sz="1000" dirty="0"/>
          </a:p>
        </p:txBody>
      </p:sp>
      <p:sp>
        <p:nvSpPr>
          <p:cNvPr id="5" name="Text 3"/>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Use documented contracts and reproducible cases to guide contributions.</a:t>
            </a:r>
            <a:endParaRPr lang="en-US" sz="1850" dirty="0"/>
          </a:p>
        </p:txBody>
      </p:sp>
      <p:sp>
        <p:nvSpPr>
          <p:cNvPr id="6" name="Text 4"/>
          <p:cNvSpPr/>
          <p:nvPr/>
        </p:nvSpPr>
        <p:spPr>
          <a:xfrm>
            <a:off x="355550" y="2438698"/>
            <a:ext cx="3632150" cy="1350466"/>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Check content against a documented contract</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Share a reproducible case or fixture</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Select a maintainer-scoped contribution</a:t>
            </a:r>
            <a:endParaRPr lang="en-US" sz="1600" dirty="0"/>
          </a:p>
        </p:txBody>
      </p:sp>
      <p:pic>
        <p:nvPicPr>
          <p:cNvPr id="7" name="Image 0" descr="/Users/jordan/Documents/devel/breadcrumbs/2026-kubecon-wip/dry-run/theme/assets/s19.png">    </p:cNvPr>
          <p:cNvPicPr>
            <a:picLocks noChangeAspect="1"/>
          </p:cNvPicPr>
          <p:nvPr/>
        </p:nvPicPr>
        <p:blipFill>
          <a:blip r:embed="rId1"/>
          <a:stretch>
            <a:fillRect/>
          </a:stretch>
        </p:blipFill>
        <p:spPr>
          <a:xfrm>
            <a:off x="4292501" y="1460450"/>
            <a:ext cx="4495800" cy="2997101"/>
          </a:xfrm>
          <a:prstGeom prst="rect">
            <a:avLst/>
          </a:prstGeom>
        </p:spPr>
      </p:pic>
      <p:sp>
        <p:nvSpPr>
          <p:cNvPr id="8" name="Text 5"/>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Companion examples and task links are being prepared.</a:t>
            </a:r>
            <a:endParaRPr lang="en-US" sz="1050" dirty="0"/>
          </a:p>
        </p:txBody>
      </p:sp>
      <p:sp>
        <p:nvSpPr>
          <p:cNvPr id="9" name="Text 6"/>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24 / 25</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11646" y="444996"/>
            <a:ext cx="8601405" cy="507950"/>
          </a:xfrm>
          <a:prstGeom prst="rect">
            <a:avLst/>
          </a:prstGeom>
          <a:noFill/>
          <a:ln/>
        </p:spPr>
        <p:txBody>
          <a:bodyPr wrap="square" lIns="0" tIns="0" rIns="0" bIns="0" rtlCol="0" anchor="t"/>
          <a:lstStyle/>
          <a:p>
            <a:pPr algn="l" indent="0" marL="0">
              <a:lnSpc>
                <a:spcPts val="3192"/>
              </a:lnSpc>
              <a:buNone/>
            </a:pPr>
            <a:r>
              <a:rPr lang="en-US" sz="2800" b="1" dirty="0">
                <a:solidFill>
                  <a:srgbClr val="00144C"/>
                </a:solidFill>
                <a:latin typeface="Arial" pitchFamily="34" charset="0"/>
                <a:ea typeface="Arial" pitchFamily="34" charset="-122"/>
                <a:cs typeface="Arial" pitchFamily="34" charset="-120"/>
              </a:rPr>
              <a:t>Questions?</a:t>
            </a:r>
            <a:endParaRPr lang="en-US" sz="2800" dirty="0"/>
          </a:p>
        </p:txBody>
      </p:sp>
      <p:sp>
        <p:nvSpPr>
          <p:cNvPr id="3" name="Text 1"/>
          <p:cNvSpPr/>
          <p:nvPr/>
        </p:nvSpPr>
        <p:spPr>
          <a:xfrm>
            <a:off x="355550" y="1524000"/>
            <a:ext cx="3704793" cy="775097"/>
          </a:xfrm>
          <a:prstGeom prst="rect">
            <a:avLst/>
          </a:prstGeom>
          <a:noFill/>
          <a:ln/>
        </p:spPr>
        <p:txBody>
          <a:bodyPr wrap="square" lIns="0" tIns="0" rIns="0" bIns="0" rtlCol="0" anchor="t"/>
          <a:lstStyle/>
          <a:p>
            <a:pPr algn="l" indent="0" marL="0">
              <a:lnSpc>
                <a:spcPts val="2035"/>
              </a:lnSpc>
              <a:spcAft>
                <a:spcPts val="1100"/>
              </a:spcAft>
              <a:buNone/>
            </a:pPr>
            <a:r>
              <a:rPr lang="en-US" sz="1850" b="1" dirty="0">
                <a:solidFill>
                  <a:srgbClr val="052243"/>
                </a:solidFill>
                <a:latin typeface="Arial" pitchFamily="34" charset="0"/>
                <a:ea typeface="Arial" pitchFamily="34" charset="-122"/>
                <a:cs typeface="Arial" pitchFamily="34" charset="-120"/>
              </a:rPr>
              <a:t>Questions about lifecycle APIs, packaging or controller behavior?</a:t>
            </a:r>
            <a:endParaRPr lang="en-US" sz="1850" dirty="0"/>
          </a:p>
        </p:txBody>
      </p:sp>
      <p:sp>
        <p:nvSpPr>
          <p:cNvPr id="4" name="Text 2"/>
          <p:cNvSpPr/>
          <p:nvPr/>
        </p:nvSpPr>
        <p:spPr>
          <a:xfrm>
            <a:off x="355550" y="2438698"/>
            <a:ext cx="3632150" cy="891480"/>
          </a:xfrm>
          <a:prstGeom prst="rect">
            <a:avLst/>
          </a:prstGeom>
          <a:noFill/>
          <a:ln/>
        </p:spPr>
        <p:txBody>
          <a:bodyPr wrap="square" lIns="107950" tIns="0" rIns="0" bIns="0" rtlCol="0" anchor="t"/>
          <a:lstStyle/>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OLM configuration and migration</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Helm content and catalog schemas</a:t>
            </a:r>
            <a:endParaRPr lang="en-US" sz="1600" dirty="0"/>
          </a:p>
          <a:p>
            <a:pPr algn="l" marL="107950" indent="-107950">
              <a:lnSpc>
                <a:spcPts val="1808"/>
              </a:lnSpc>
              <a:spcAft>
                <a:spcPts val="800"/>
              </a:spcAft>
              <a:buSzPct val="100000"/>
              <a:buChar char="•"/>
            </a:pPr>
            <a:r>
              <a:rPr lang="en-US" sz="1600" dirty="0">
                <a:solidFill>
                  <a:srgbClr val="052243"/>
                </a:solidFill>
                <a:latin typeface="Arial" pitchFamily="34" charset="0"/>
                <a:ea typeface="Arial" pitchFamily="34" charset="-122"/>
                <a:cs typeface="Arial" pitchFamily="34" charset="-120"/>
              </a:rPr>
              <a:t>Java Operator SDK reconciliation</a:t>
            </a:r>
            <a:endParaRPr lang="en-US" sz="1600" dirty="0"/>
          </a:p>
        </p:txBody>
      </p:sp>
      <p:pic>
        <p:nvPicPr>
          <p:cNvPr id="5" name="Image 0" descr="/Users/jordan/Documents/devel/breadcrumbs/2026-kubecon-wip/dry-run/theme/assets/s20.png">    </p:cNvPr>
          <p:cNvPicPr>
            <a:picLocks noChangeAspect="1"/>
          </p:cNvPicPr>
          <p:nvPr/>
        </p:nvPicPr>
        <p:blipFill>
          <a:blip r:embed="rId1"/>
          <a:stretch>
            <a:fillRect/>
          </a:stretch>
        </p:blipFill>
        <p:spPr>
          <a:xfrm>
            <a:off x="4292501" y="1460450"/>
            <a:ext cx="4495800" cy="2997101"/>
          </a:xfrm>
          <a:prstGeom prst="rect">
            <a:avLst/>
          </a:prstGeom>
        </p:spPr>
      </p:pic>
      <p:sp>
        <p:nvSpPr>
          <p:cNvPr id="6" name="Text 3"/>
          <p:cNvSpPr/>
          <p:nvPr/>
        </p:nvSpPr>
        <p:spPr>
          <a:xfrm>
            <a:off x="1968401" y="4711601"/>
            <a:ext cx="6217920" cy="304800"/>
          </a:xfrm>
          <a:prstGeom prst="rect">
            <a:avLst/>
          </a:prstGeom>
          <a:noFill/>
          <a:ln/>
        </p:spPr>
        <p:txBody>
          <a:bodyPr wrap="square" lIns="0" tIns="0" rIns="0" bIns="0" rtlCol="0" anchor="t"/>
          <a:lstStyle/>
          <a:p>
            <a:pPr algn="l" indent="0" marL="0">
              <a:lnSpc>
                <a:spcPts val="1176"/>
              </a:lnSpc>
              <a:buNone/>
            </a:pPr>
            <a:r>
              <a:rPr lang="en-US" sz="1050" i="1" dirty="0">
                <a:solidFill>
                  <a:srgbClr val="052243"/>
                </a:solidFill>
                <a:latin typeface="Arial" pitchFamily="34" charset="0"/>
                <a:ea typeface="Arial" pitchFamily="34" charset="-122"/>
                <a:cs typeface="Arial" pitchFamily="34" charset="-120"/>
              </a:rPr>
              <a:t>Discussion of capabilities and proposed work.</a:t>
            </a:r>
            <a:endParaRPr lang="en-US" sz="1050" dirty="0"/>
          </a:p>
        </p:txBody>
      </p:sp>
      <p:sp>
        <p:nvSpPr>
          <p:cNvPr id="7" name="Text 4"/>
          <p:cNvSpPr/>
          <p:nvPr/>
        </p:nvSpPr>
        <p:spPr>
          <a:xfrm>
            <a:off x="8244233" y="4940201"/>
            <a:ext cx="544068" cy="107900"/>
          </a:xfrm>
          <a:prstGeom prst="rect">
            <a:avLst/>
          </a:prstGeom>
          <a:noFill/>
          <a:ln/>
        </p:spPr>
        <p:txBody>
          <a:bodyPr wrap="square" lIns="0" tIns="0" rIns="0" bIns="0" rtlCol="0" anchor="t"/>
          <a:lstStyle/>
          <a:p>
            <a:pPr algn="r" indent="0" marL="0">
              <a:lnSpc>
                <a:spcPts val="850"/>
              </a:lnSpc>
              <a:buNone/>
            </a:pPr>
            <a:r>
              <a:rPr lang="en-US" sz="850" dirty="0">
                <a:solidFill>
                  <a:srgbClr val="052243"/>
                </a:solidFill>
                <a:latin typeface="Arial" pitchFamily="34" charset="0"/>
                <a:ea typeface="Arial" pitchFamily="34" charset="-122"/>
                <a:cs typeface="Arial" pitchFamily="34" charset="-120"/>
              </a:rPr>
              <a:t>25 / 25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Kubernetes operator lifecycle management and Java Operator SDK</dc:subject>
  <dc:creator>Operator Framework</dc:creator>
  <cp:lastModifiedBy>Operator Framework</cp:lastModifiedBy>
  <cp:revision>1</cp:revision>
  <dcterms:created xsi:type="dcterms:W3CDTF">2026-10-23T20:57:20Z</dcterms:created>
  <dcterms:modified xsi:type="dcterms:W3CDTF">2026-10-23T20:57:20Z</dcterms:modified>
</cp:coreProperties>
</file>