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Default ContentType="application/vnd.openxmlformats-officedocument.obfuscatedFont" Extension="odttf"/>
  <Override ContentType="application/vnd.openxmlformats-officedocument.presentationml.notesSlide+xml" PartName="/sdk/ppt/notesSlides/notesSlide6.xml"/>
  <Override ContentType="application/vnd.openxmlformats-officedocument.presentationml.notesSlide+xml" PartName="/sdk/ppt/notesSlides/notesSlide13.xml"/>
  <Override ContentType="application/vnd.openxmlformats-officedocument.presentationml.notesSlide+xml" PartName="/sdk/ppt/notesSlides/notesSlide1.xml"/>
  <Override ContentType="application/vnd.openxmlformats-officedocument.presentationml.notesSlide+xml" PartName="/sdk/ppt/notesSlides/notesSlide3.xml"/>
  <Override ContentType="application/vnd.openxmlformats-officedocument.presentationml.notesSlide+xml" PartName="/sdk/ppt/notesSlides/notesSlide9.xml"/>
  <Override ContentType="application/vnd.openxmlformats-officedocument.presentationml.notesSlide+xml" PartName="/sdk/ppt/notesSlides/notesSlide7.xml"/>
  <Override ContentType="application/vnd.openxmlformats-officedocument.presentationml.notesSlide+xml" PartName="/sdk/ppt/notesSlides/notesSlide11.xml"/>
  <Override ContentType="application/vnd.openxmlformats-officedocument.presentationml.notesSlide+xml" PartName="/sdk/ppt/notesSlides/notesSlide5.xml"/>
  <Override ContentType="application/vnd.openxmlformats-officedocument.presentationml.notesSlide+xml" PartName="/sdk/ppt/notesSlides/notesSlide12.xml"/>
  <Override ContentType="application/vnd.openxmlformats-officedocument.presentationml.notesSlide+xml" PartName="/sdk/ppt/notesSlides/notesSlide8.xml"/>
  <Override ContentType="application/vnd.openxmlformats-officedocument.presentationml.notesSlide+xml" PartName="/sdk/ppt/notesSlides/notesSlide2.xml"/>
  <Override ContentType="application/vnd.openxmlformats-officedocument.presentationml.notesSlide+xml" PartName="/sdk/ppt/notesSlides/notesSlide4.xml"/>
  <Override ContentType="application/vnd.openxmlformats-officedocument.presentationml.notesSlide+xml" PartName="/sdk/ppt/notesSlides/notesSlide10.xml"/>
  <Override ContentType="application/vnd.openxmlformats-officedocument.presentationml.slideLayout+xml" PartName="/sdk/ppt/slideLayouts/slideLayout3.xml"/>
  <Override ContentType="application/vnd.openxmlformats-officedocument.presentationml.slideLayout+xml" PartName="/sdk/ppt/slideLayouts/slideLayout4.xml"/>
  <Override ContentType="application/vnd.openxmlformats-officedocument.presentationml.slideLayout+xml" PartName="/sdk/ppt/slideLayouts/slideLayout5.xml"/>
  <Override ContentType="application/vnd.openxmlformats-officedocument.presentationml.slideLayout+xml" PartName="/sdk/ppt/slideLayouts/slideLayout2.xml"/>
  <Override ContentType="application/vnd.openxmlformats-officedocument.presentationml.slideLayout+xml" PartName="/sdk/ppt/slideLayouts/slideLayout1.xml"/>
  <Override ContentType="application/vnd.openxmlformats-officedocument.presentationml.slideLayout+xml" PartName="/sdk/ppt/slideLayouts/slideLayout7.xml"/>
  <Override ContentType="application/vnd.openxmlformats-officedocument.presentationml.slideLayout+xml" PartName="/sdk/ppt/slideLayouts/slideLayout6.xml"/>
  <Override ContentType="application/vnd.openxmlformats-officedocument.presentationml.slideLayout+xml" PartName="/sdk/ppt/slideLayouts/slideLayout8.xml"/>
  <Override ContentType="application/vnd.openxmlformats-officedocument.presentationml.slideMaster+xml" PartName="/sdk/ppt/slideMasters/slideMaster1.xml"/>
  <Override ContentType="application/vnd.openxmlformats-officedocument.presentationml.slide+xml" PartName="/sdk/ppt/slides/slide4.xml"/>
  <Override ContentType="application/vnd.openxmlformats-officedocument.presentationml.slide+xml" PartName="/sdk/ppt/slides/slide11.xml"/>
  <Override ContentType="application/vnd.openxmlformats-officedocument.presentationml.slide+xml" PartName="/sdk/ppt/slides/slide1.xml"/>
  <Override ContentType="application/vnd.openxmlformats-officedocument.presentationml.slide+xml" PartName="/sdk/ppt/slides/slide3.xml"/>
  <Override ContentType="application/vnd.openxmlformats-officedocument.presentationml.slide+xml" PartName="/sdk/ppt/slides/slide9.xml"/>
  <Override ContentType="application/vnd.openxmlformats-officedocument.presentationml.slide+xml" PartName="/sdk/ppt/slides/slide13.xml"/>
  <Override ContentType="application/vnd.openxmlformats-officedocument.presentationml.slide+xml" PartName="/sdk/ppt/slides/slide5.xml"/>
  <Override ContentType="application/vnd.openxmlformats-officedocument.presentationml.slide+xml" PartName="/sdk/ppt/slides/slide7.xml"/>
  <Override ContentType="application/vnd.openxmlformats-officedocument.presentationml.slide+xml" PartName="/sdk/ppt/slides/slide12.xml"/>
  <Override ContentType="application/vnd.openxmlformats-officedocument.presentationml.slide+xml" PartName="/sdk/ppt/slides/slide10.xml"/>
  <Override ContentType="application/vnd.openxmlformats-officedocument.presentationml.slide+xml" PartName="/sdk/ppt/slides/slide2.xml"/>
  <Override ContentType="application/vnd.openxmlformats-officedocument.presentationml.slide+xml" PartName="/sdk/ppt/slides/slide6.xml"/>
  <Override ContentType="application/vnd.openxmlformats-officedocument.presentationml.slide+xml" PartName="/sdk/ppt/slides/slide8.xml"/>
  <Override ContentType="application/vnd.openxmlformats-officedocument.presentationml.notesMaster+xml" PartName="/sdk/ppt/notesMasters/notesMaster1.xml"/>
  <Override ContentType="application/vnd.openxmlformats-officedocument.presentationml.presentation.main+xml" PartName="/sdk/ppt/presentation.xml"/>
  <Override ContentType="application/vnd.openxmlformats-officedocument.presentationml.presProps+xml" PartName="/sdk/ppt/presProps.xml"/>
  <Override ContentType="application/vnd.openxmlformats-officedocument.theme+xml" PartName="/sdk/ppt/theme/theme1.xml"/>
  <Override ContentType="application/vnd.openxmlformats-officedocument.theme+xml" PartName="/sdk/ppt/theme/theme2.xml"/>
  <Override ContentType="application/vnd.openxmlformats-officedocument.presentationml.viewProps+xml" PartName="/sdk/ppt/viewProp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 id="2147483649" r:id="rIdSDK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3" r:id="rIdSDK2"/>
    <p:sldId id="274" r:id="rIdSDK3"/>
    <p:sldId id="275" r:id="rIdSDK4"/>
    <p:sldId id="276" r:id="rIdSDK5"/>
    <p:sldId id="277" r:id="rIdSDK6"/>
    <p:sldId id="278" r:id="rIdSDK7"/>
    <p:sldId id="279" r:id="rIdSDK8"/>
    <p:sldId id="280" r:id="rIdSDK9"/>
    <p:sldId id="281" r:id="rIdSDK10"/>
    <p:sldId id="282" r:id="rIdSDK11"/>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Relationships xmlns="http://schemas.openxmlformats.org/package/2006/relationships"><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notesMaster" Target="notesMasters/notesMaster1.xml" /><Relationship Id="rId20" Type="http://schemas.openxmlformats.org/officeDocument/2006/relationships/presProps" Target="presProps.xml" /><Relationship Id="rId21" Type="http://schemas.openxmlformats.org/officeDocument/2006/relationships/viewProps" Target="viewProps.xml" /><Relationship Id="rId22" Type="http://schemas.openxmlformats.org/officeDocument/2006/relationships/theme" Target="theme/theme1.xml" /><Relationship Id="rId23" Type="http://schemas.openxmlformats.org/officeDocument/2006/relationships/tableStyles" Target="tableStyles.xml" /><Relationship Id="rIdSDK1" Type="http://schemas.openxmlformats.org/officeDocument/2006/relationships/slideMaster" Target="../sdk/ppt/slideMasters/slideMaster1.xml" /><Relationship Id="rIdSDK2" Type="http://schemas.openxmlformats.org/officeDocument/2006/relationships/slide" Target="../sdk/ppt/slides/slide3.xml" /><Relationship Id="rIdSDK3" Type="http://schemas.openxmlformats.org/officeDocument/2006/relationships/slide" Target="../sdk/ppt/slides/slide4.xml" /><Relationship Id="rIdSDK4" Type="http://schemas.openxmlformats.org/officeDocument/2006/relationships/slide" Target="../sdk/ppt/slides/slide5.xml" /><Relationship Id="rIdSDK5" Type="http://schemas.openxmlformats.org/officeDocument/2006/relationships/slide" Target="../sdk/ppt/slides/slide6.xml" /><Relationship Id="rIdSDK6" Type="http://schemas.openxmlformats.org/officeDocument/2006/relationships/slide" Target="../sdk/ppt/slides/slide7.xml" /><Relationship Id="rIdSDK7" Type="http://schemas.openxmlformats.org/officeDocument/2006/relationships/slide" Target="../sdk/ppt/slides/slide8.xml" /><Relationship Id="rIdSDK8" Type="http://schemas.openxmlformats.org/officeDocument/2006/relationships/slide" Target="../sdk/ppt/slides/slide9.xml" /><Relationship Id="rIdSDK9" Type="http://schemas.openxmlformats.org/officeDocument/2006/relationships/slide" Target="../sdk/ppt/slides/slide10.xml" /><Relationship Id="rIdSDK10" Type="http://schemas.openxmlformats.org/officeDocument/2006/relationships/slide" Target="../sdk/ppt/slides/slide11.xml" /><Relationship Id="rIdSDK11" Type="http://schemas.openxmlformats.org/officeDocument/2006/relationships/slide" Target="../sdk/ppt/slides/slide12.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The Next Era of Kubernetes Operator Lifecycle Management
SPEAKER: OLM A — context and installation; name to confirm
START: 00:00
DURATION: 00:45
STATUS: 
TAKEAWAY: 
TALK TRACK / SOURCES / CAVEATS / REVIEW:
Welcome the audience and introduce the talk, The Next Era of Kubernetes Operator Lifecycle Management, at KubeCon + CloudNativeCon North America 2026. Retain the operator-lifecycle illustration. Source: ../kubecon-2026-outline.md.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Presentation team
SPEAKER: OLM A — context and installation; name to confirm
START: 00:45
DURATION: 00:30
STATUS: 
TAKEAWAY: 
TALK TRACK / SOURCES / CAVEATS / REVIEW:
Introduce Rashmi, Joe and Jordan as the OLM presentation team. Introduce Attila as the fourth speaker, covering Java Operator SDK. The mapping from A/B/C to individual OLM presenters remains to be confirmed. Photos are deferred. The session uses prepared examples without live demos.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Compatibility and lifecycle foundations
SPEAKER: OLM A — context and installation; name to confirm
START: 01:15
DURATION: 01:30
STATUS: FOUNDATIONAL WORK
TAKEAWAY: OLM evolution builds on existing packages and operational experience.
TALK TRACK / SOURCES / CAVEATS / REVIEW:
Use OLMv0 evolution and compatibility with existing registry+v1 content as the historical basis. Explain how existing package formats, resource ownership and operational behavior shaped lifecycle implementation. Configuration and migration preparation build on that foundation. The bridge illustration is conceptual. This slide makes no measured availability, performance, adoption or elapsed-time claims. Sources: ../kubecon-2025-slide-context.md; ../kubecon-2026-resource-assessment.md; supplied evolution background.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OLM: past, current and future
SPEAKER: OLM A — context and installation; name to confirm
START: 02:45
DURATION: 01:15
STATUS: EVOLUTION / PLANNED / FUTURE WORK
TAKEAWAY: OLM feature evolution
TALK TRACK / SOURCES / CAVEATS / REVIEW:
Enumerate the timeline: past work includes OLMv0, SQLite catalogs and established file-based catalogs (FBC). Summarize OLMv0's flawed assumptions about namespace-local CRD visibility, independently managed APIs and watch-aware dependencies. CRD definitions are cluster-scoped shared APIs; custom resource instances may be namespaced, and controller watch scope is configured separately. Shared CRDs can couple operator upgrades. The flawed assumptions belonged to OLMv0's lifecycle model; Kubernetes' cluster-scoped CRD design is the underlying API boundary. Keep the OperatorGroup recap brief and explain how these lessons informed OLMv1. Current OLMv1 capabilities include ClusterExtension, version pins and webhooks. Ongoing development includes resource rollouts, user configuration, direct bundle installation and migration. Direct installation remains an open proposal in PR #2907 at the supplied 2026-10-09 check. Planned work includes Helm content using helm+v2 and v2 catalog schemas. OCI-native catalog storage and transport remain future work. Release-specific availability and feature gates require the source-version qualifications on the detailed slides. The 2025 deck already listed delivered features. A continues with installation changes. Sources: ../kubecon-2025-slide-context.md slide 9; ../kubecon-2026-resource-assessment.md K-1/K-2/V0-2/V0-3; supplied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Streamlined Installation
SPEAKER: OLM A — context and installation; name to confirm
START: 04:00
DURATION: 01:00
STATUS: 
TAKEAWAY: Standard channel since v1.11.0
TALK TRACK / SOURCES / CAVEATS / REVIEW:
As of operator-controller v1.11.0, the standard installation channel no longer requires spec.serviceAccount. The controller uses its own service account; the deprecated field is ignored. ClusterExtension write access is a high-privilege operation because the controller uses cluster-admin permissions. When delegating access, combine Kubernetes RBAC with appropriate admission policy, such as ValidatingAdmissionPolicy, to constrain allowed extensions. Source: https://github.com/operator-framework/operator-controller/pull/2770 and the v1.11.0 release notes.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Namespace Management
SPEAKER: OLM A — context and installation; name to confirm
START: 05:00
DURATION: 01:00
STATUS: 
TAKEAWAY: Experimental channel since v1.12.0
Controlled by feature gate
TALK TRACK / SOURCES / CAVEATS / REVIEW:
Operator-controller v1.12.0 introduced optional spec.namespace in the experimental installation channel. With the feature-gated runtime, an explicitly supplied namespace remains user-managed. When the field is omitted, OLM derives and manages an install namespace using bundle metadata and defaults. Deleting the extension also deletes its managed namespace and all remaining objects in that namespace, including objects OLM did not install. Explain namespace-transition validation and verify the selected bundle and controller version before demonstrating. Sources: https://github.com/operator-framework/operator-controller/pull/2925, https://github.com/operator-framework/operator-controller/pull/2926, https://github.com/operator-framework/operator-controller/pull/2929.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Inspect phased resource rollouts
SPEAKER: OLM B — lifecycle primitives and migration; name to confirm
START: 06:00
DURATION: 02:00
STATUS: IN ACTIVE DEVELOPMENT / CONTROLLED BY FEATURE-GATE
TAKEAWAY: Ordered phases expose resource application and readiness progress.
TALK TRACK / SOURCES / CAVEATS / REVIEW:
Explain the ClusterExtension → ClusterObjectDeployment → ClusterObjectSet ownership model. ClusterObjectDeployment manages rollout and revision history; ClusterObjectSets hold immutable revisions with ordered phases. observedPhases and other status details help identify stalled objects. Objects within a phase have no defined ordering. The API and rollout behavior are in active development and controlled by feature-gate. Standalone ClusterObjectDeployment use is in active development. A namespace-scoped ObjectDeployment is under consideration, with no committed availability. Sources: https://github.com/operator-framework/operator-controller/pull/3058 and https://github.com/operator-framework/operator-controller/pull/3072.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User control of extension deployments
SPEAKER: OLM B — lifecycle primitives and migration; name to confirm
START: 08:00
DURATION: 01:30
STATUS: IN ACTIVE DEVELOPMENT / CONTROLLED BY FEATURE-GATE
TAKEAWAY: Flexible user-defined deployment configuration.
TALK TRACK / SOURCES / CAVEATS / REVIEW:
Describe the deployment as a configuration exchange between users and the operator team. Users express environment, resource, placement, volume and metadata requirements through the package's configuration interface. Operator authors define schema and validation behavior. OLM carries the selected configuration into the deployment. DeploymentConfig is in active development and controlled by feature-gate; values are expressed through ClusterExtension configuration. Explain field-specific merge, replace and append behavior and annotation precedence. Validate example input and inspect the resulting deployment against the pinned source version. Watch-namespace pass-through leaves CRDs shared and supplies no watch-aware dependency management. Sources: supplied customization draft; ../kubecon-2026-resource-assessment.md; ../kubecon-2025-slide-context.md slide 14.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OLMv0 → OLMv1 migration
SPEAKER: OLM B — lifecycle primitives and migration; name to confirm
START: 09:30
DURATION: 02:00
STATUS: IN ACTIVE DEVELOPMENT
TAKEAWAY: Move operator management from OLMv0 to OLMv1.
TALK TRACK / SOURCES / CAVEATS / REVIEW:
Prepare OLMv1 ClusterCatalogs from the existing OLMv0 CatalogSources first. Then evaluate each operator installation for eligibility and preview its migration before transferring management. The check and preview actions evaluate operators; catalog preparation is the earlier prerequisite. The migration specification describes check, convert, rollback and cleanup with ClusterObjectSets. Functionality is supplied as library-olm. The example binaries illustrate library use. The example binaries produce structured output for automation and model consumers. The companion migration scenario exercises JSON Lines output. Eligibility checks have defined coverage. Retaining the namespace can reduce disruption; namespace changes may restart workloads or cause downtime. Validate recovery boundaries and source/gate versions for the selected case. This area is in active development. Sources: library-olm README/spec; ../kubecon-2026-resource-assessment.md; user migration guidance.
Note: Ask Todd to make a separate repo for the binaries (naming is hard :))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Install a bundle directly
SPEAKER: OLM B — lifecycle primitives and migration; name to confirm
START: 11:30
DURATION: 01:30
STATUS: IN ACTIVE DEVELOPMENT / CONTROLLED BY FEATURE-GATE
TAKEAWAY: Select a registry+v1 bundle by its OCI image reference.
TALK TRACK / SOURCES / CAVEATS / REVIEW:
PR #2907 is OPEN and unmerged as of the 2026-10-28 check. Present direct bundle installation as proposed behavior in active development. It supports registry+v1 bundles only and is controlled by the BoxcutterRuntime feature gate. The requested source uses sourceType: OCIImage and source.ociImage.ref. It bypasses catalog resolution. Describe CRD checks and other lifecycle safeguards according to the proposal's supported path; catalog bypass alone establishes no blanket removal of CRD safety. Pin the source revision and gate configuration before preparing an example. The session uses prepared examples without a live demo.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Planned Helm content support
SPEAKER: OLM C — content, catalogs and contributions; name to confirm
START: 13:00
DURATION: 02:00
STATUS: PLANNED / helm+v2
TAKEAWAY: The rendering contract targets deterministic chart behavior.
TALK TRACK / SOURCES / CAVEATS / REVIEW:
helm+v2 is the user-confirmed canonical discriminator for versioned OLM Helm packaging/catalog content. Standard chart OCI identity is used, with rendered manifests managed through OLM lifecycle behavior. User values are parsed and validated during rendering. Deterministic rendering is the design goal: features are allow-listed to exclude non-deterministic functionality, with compatibility fixtures required to validate the supported subset. Dependencies are vendored. Hooks and keep behavior are unsupported in the proposal. CRDs use templates/; crds/ is unsupported. Chart release-object mappings and restricted template functions require compatibility testing. Moving CRDs affects upgrade, deletion and data handling. Implementation of proposed gates remains independently unconfirmed. Native chart OCI identity and future OCI catalog storage are separate scopes. Sources: supplied Helm planning brief and feature-planning context.
Transition: the direct-image source motivates future chart content support. The companion Helm experiment uses an OCI image config; standard Helm OCI config handling remains unverified.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Catalog performance and content types
SPEAKER: OLM C — content, catalogs and contributions; name to confirm
START: 15:00
DURATION: 01:30
STATUS: PLANNED / FUTURE WORK
TAKEAWAY: Design for lower catalog-processing cost and additional content types.
TALK TRACK / SOURCES / CAVEATS / REVIEW:
Credit established FBC capabilities: plaintext editing, composition, extensibility, package-level metadata and version/release properties already exist. The v2 work refines the representation and consumers: less duplicated CSV metadata, version/release fields available directly rather than via property traversal, and explicit mediaType dispatch for installable formats including Helm. Arbitrary FBC schema extensibility alone does not supply end-to-end installation support for a new content type. Catalog processing efficiency is a design benefit to validate, with no measured speedup claimed. Show the practical resolution/metadata work the new representation is intended to reduce. The user-confirmed near-term focus is flexible OLMv1 schemas; OCI-native catalog storage, transport and selective fetching are future work. Channels and legacy graphs are excluded from v2; lifecycle/constraint metadata remains open. Sources: https://olm.operatorframework.io/docs/reference/file-based-catalogs/ ; supplied v2 catalog brief; feature-planning context.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13: Shared lifecycle logic in library-olm
SPEAKER: OLM C — content, catalogs and contributions; name to confirm
START: 16:30
DURATION: 01:00
STATUS: IN ACTIVE DEVELOPMENT
TAKEAWAY: Reuse lifecycle logic through a library with explicit contracts.
TALK TRACK / SOURCES / CAVEATS / REVIEW:
Describe library reuse, the current migration development examples and fixtures that record inputs and expected results. The example binaries exercise library behavior and provide contribution starting points. Broader controller, CLI and UI consumption remains a design intent requiring implementation evidence and explicit contracts. Successor semantics need a defined contract. Fixtures can cover legacy input or version/release selection while respecting the proposed v2 schema direction. Pin source versions when documenting examples. C connects catalog work with shared lifecycle logic. Sources: library-olm README/spec; supplied feature-planning context; ../kubecon-2025-slide-context.md slide 13.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14: Contribute to Operator Framework
SPEAKER: OLM C — content, catalogs and contributions; name to confirm
START: 17:30
DURATION: 01:00
STATUS: PROJECT DEVELOPMENT
TAKEAWAY: Contribute to Operator Framework development.
TALK TRACK / SOURCES / CAVEATS / REVIEW:
Invite contributions to the Operator Framework project: documentation, focused tests, code, and reproducible migration, chart, or schema fixtures. Start with the repository contribution guide: https://github.com/operator-framework/operator-controller/blob/main/CONTRIBUTING.md. Identify an issue or discussion, provide a reproducible case, and describe the expected result.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Operator Framework: Java Operator SDK
SPEAKER: OLM C — content, catalogs and contributions; name to confirm
START: 18:30
DURATION: 00:30
STATUS: 
TAKEAWAY: 
TALK TRACK / SOURCES / CAVEATS / REVIEW:
C hands off to Attila for the Java Operator SDK section. OLM packaging supports operators written in any language; SDKs support controller implementation. Attila presents the ten authored SDK slides, unchanged, in approximately ten minutes.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26: Resources and contribution steps
SPEAKER: OLM A — session host; name to confirm
START: 29:00
DURATION: 01:00
STATUS: RESOURCE PACKAGE TO PREPARE
TAKEAWAY: Use documented contracts and reproducible cases to guide contributions.
TALK TRACK / SOURCES / CAVEATS / REVIEW:
Close with the Operator Framework contribution guide, the OLM documentation, and the Java Operator SDK project. Companion demos are intended for online use; no live demo is planned. Confirm resource links before publication.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27: Questions?
SPEAKER: OLM A/B/C and Attila — questions
START: 30:00
DURATION: 02:00
STATUS: 
TAKEAWAY: Questions about lifecycle APIs, packaging or controller behavior?
TALK TRACK / SOURCES / CAVEATS / REVIEW:
Reserve two minutes for questions and transition overruns. A/B/C answer OLM questions; Attila answers Java Operator SDK questions. The proposed total duration is 32 minutes.
SOURCE CONTEXT ROOT: /Users/jordan/Documents/devel/breadcrumbs/2026-kubecon-wip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operator-framework/operator-controller/blob/main/CONTRIBUTING.md" TargetMode="External"/><Relationship Id="rId1" Type="http://schemas.openxmlformats.org/officeDocument/2006/relationships/image" Target="../media/image-14-1.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355550" y="444401"/>
            <a:ext cx="8601405" cy="1066800"/>
          </a:xfrm>
          <a:prstGeom prst="rect">
            <a:avLst/>
          </a:prstGeom>
          <a:noFill/>
          <a:ln/>
        </p:spPr>
        <p:txBody>
          <a:bodyPr wrap="square" lIns="0" tIns="0" rIns="0" bIns="0" rtlCol="0" anchor="t"/>
          <a:lstStyle/>
          <a:p>
            <a:pPr algn="l" indent="0" marL="0">
              <a:lnSpc>
                <a:spcPts val="3360"/>
              </a:lnSpc>
              <a:buNone/>
            </a:pPr>
            <a:r>
              <a:rPr lang="en-US" sz="3000" b="1" dirty="0">
                <a:solidFill>
                  <a:srgbClr val="14263D"/>
                </a:solidFill>
                <a:latin typeface="Arial" pitchFamily="34" charset="0"/>
                <a:ea typeface="Arial" pitchFamily="34" charset="-122"/>
                <a:cs typeface="Arial" pitchFamily="34" charset="-120"/>
              </a:rPr>
              <a:t>The Next Era of Kubernetes Operator Lifecycle Management</a:t>
            </a:r>
            <a:endParaRPr lang="en-US" sz="3000" dirty="0"/>
          </a:p>
        </p:txBody>
      </p:sp>
      <p:pic>
        <p:nvPicPr>
          <p:cNvPr id="3" name="Image 0" descr="/Users/jordan/Documents/devel/breadcrumbs/2026-kubecon-wip/dry-run/assets/s01.png">    </p:cNvPr>
          <p:cNvPicPr>
            <a:picLocks noChangeAspect="1"/>
          </p:cNvPicPr>
          <p:nvPr/>
        </p:nvPicPr>
        <p:blipFill>
          <a:blip r:embed="rId1"/>
          <a:stretch>
            <a:fillRect/>
          </a:stretch>
        </p:blipFill>
        <p:spPr>
          <a:xfrm>
            <a:off x="2476500" y="1612850"/>
            <a:ext cx="4191000" cy="2793950"/>
          </a:xfrm>
          <a:prstGeom prst="rect">
            <a:avLst/>
          </a:prstGeom>
        </p:spPr>
      </p:pic>
      <p:sp>
        <p:nvSpPr>
          <p:cNvPr id="4" name="Text 1"/>
          <p:cNvSpPr/>
          <p:nvPr/>
        </p:nvSpPr>
        <p:spPr>
          <a:xfrm>
            <a:off x="1968401" y="4711601"/>
            <a:ext cx="6217920" cy="152400"/>
          </a:xfrm>
          <a:prstGeom prst="rect">
            <a:avLst/>
          </a:prstGeom>
          <a:noFill/>
          <a:ln/>
        </p:spPr>
        <p:txBody>
          <a:bodyPr wrap="square" lIns="0" tIns="0" rIns="0" bIns="0" rtlCol="0" anchor="t"/>
          <a:lstStyle/>
          <a:p>
            <a:pPr algn="l" indent="0" marL="0">
              <a:buNone/>
            </a:pPr>
            <a:r>
              <a:rPr lang="en-US" sz="1050" dirty="0">
                <a:solidFill>
                  <a:srgbClr val="34495E"/>
                </a:solidFill>
                <a:latin typeface="Arial" pitchFamily="34" charset="0"/>
                <a:ea typeface="Arial" pitchFamily="34" charset="-122"/>
                <a:cs typeface="Arial" pitchFamily="34" charset="-120"/>
              </a:rPr>
              <a:t>KubeCon + CloudNativeCon North America 2026</a:t>
            </a:r>
            <a:endParaRPr lang="en-US" sz="1050" dirty="0"/>
          </a:p>
        </p:txBody>
      </p:sp>
      <p:sp>
        <p:nvSpPr>
          <p:cNvPr id="5" name="Text 2"/>
          <p:cNvSpPr/>
          <p:nvPr/>
        </p:nvSpPr>
        <p:spPr>
          <a:xfrm>
            <a:off x="355550" y="4940201"/>
            <a:ext cx="8601405" cy="114300"/>
          </a:xfrm>
          <a:prstGeom prst="rect">
            <a:avLst/>
          </a:prstGeom>
          <a:noFill/>
          <a:ln/>
        </p:spPr>
        <p:txBody>
          <a:bodyPr wrap="square" lIns="0" tIns="0" rIns="0" bIns="0" rtlCol="0" anchor="t"/>
          <a:lstStyle/>
          <a:p>
            <a:pPr algn="l" indent="0" marL="0">
              <a:buNone/>
            </a:pPr>
            <a:r>
              <a:rPr lang="en-US" sz="850" dirty="0">
                <a:solidFill>
                  <a:srgbClr val="34495E"/>
                </a:solidFill>
                <a:latin typeface="Arial" pitchFamily="34" charset="0"/>
                <a:ea typeface="Arial" pitchFamily="34" charset="-122"/>
                <a:cs typeface="Arial" pitchFamily="34" charset="-120"/>
              </a:rPr>
              <a:t>1 / 27 | KUBECON NA 2026 | DRY RUN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355550" y="444401"/>
            <a:ext cx="3144330" cy="409575"/>
          </a:xfrm>
          <a:prstGeom prst="rect">
            <a:avLst/>
          </a:prstGeom>
          <a:noFill/>
          <a:ln/>
        </p:spPr>
        <p:txBody>
          <a:bodyPr wrap="square" lIns="0" tIns="0" rIns="0" bIns="0" rtlCol="0" anchor="t"/>
          <a:lstStyle/>
          <a:p>
            <a:pPr algn="l" indent="0" marL="0">
              <a:buNone/>
            </a:pPr>
            <a:r>
              <a:rPr lang="en-US" sz="2800" b="1" dirty="0">
                <a:solidFill>
                  <a:srgbClr val="14263D"/>
                </a:solidFill>
                <a:latin typeface="Arial" pitchFamily="34" charset="0"/>
                <a:ea typeface="Arial" pitchFamily="34" charset="-122"/>
                <a:cs typeface="Arial" pitchFamily="34" charset="-120"/>
              </a:rPr>
              <a:t>Presentation team</a:t>
            </a:r>
            <a:endParaRPr lang="en-US" sz="2800" dirty="0"/>
          </a:p>
        </p:txBody>
      </p:sp>
      <p:sp>
        <p:nvSpPr>
          <p:cNvPr id="3" name="Text 1"/>
          <p:cNvSpPr/>
          <p:nvPr/>
        </p:nvSpPr>
        <p:spPr>
          <a:xfrm>
            <a:off x="444401" y="2108150"/>
            <a:ext cx="2584400" cy="1238250"/>
          </a:xfrm>
          <a:prstGeom prst="roundRect">
            <a:avLst>
              <a:gd name="adj" fmla="val 10256"/>
            </a:avLst>
          </a:prstGeom>
          <a:solidFill>
            <a:srgbClr val="FFFFFF"/>
          </a:solidFill>
          <a:ln w="9525">
            <a:solidFill>
              <a:srgbClr val="CBD5E1"/>
            </a:solidFill>
          </a:ln>
        </p:spPr>
        <p:txBody>
          <a:bodyPr wrap="square" rtlCol="0" anchor="ctr"/>
          <a:lstStyle/>
          <a:p>
            <a:pPr indent="0" marL="0">
              <a:buNone/>
            </a:pPr>
            <a:endParaRPr lang="en-US" dirty="0"/>
          </a:p>
        </p:txBody>
      </p:sp>
      <p:sp>
        <p:nvSpPr>
          <p:cNvPr id="4" name="Text 2"/>
          <p:cNvSpPr/>
          <p:nvPr/>
        </p:nvSpPr>
        <p:spPr>
          <a:xfrm>
            <a:off x="1117253" y="2527250"/>
            <a:ext cx="1263470" cy="400050"/>
          </a:xfrm>
          <a:prstGeom prst="rect">
            <a:avLst/>
          </a:prstGeom>
          <a:noFill/>
          <a:ln/>
        </p:spPr>
        <p:txBody>
          <a:bodyPr wrap="square" lIns="0" tIns="0" rIns="0" bIns="0" rtlCol="0" anchor="t"/>
          <a:lstStyle/>
          <a:p>
            <a:pPr algn="l" indent="0" marL="0">
              <a:buNone/>
            </a:pPr>
            <a:r>
              <a:rPr lang="en-US" sz="2700" b="1" dirty="0">
                <a:solidFill>
                  <a:srgbClr val="14263D"/>
                </a:solidFill>
                <a:latin typeface="Arial" pitchFamily="34" charset="0"/>
                <a:ea typeface="Arial" pitchFamily="34" charset="-122"/>
                <a:cs typeface="Arial" pitchFamily="34" charset="-120"/>
              </a:rPr>
              <a:t>Rashmi</a:t>
            </a:r>
            <a:endParaRPr lang="en-US" sz="2700" dirty="0"/>
          </a:p>
        </p:txBody>
      </p:sp>
      <p:sp>
        <p:nvSpPr>
          <p:cNvPr id="5" name="Text 3"/>
          <p:cNvSpPr/>
          <p:nvPr/>
        </p:nvSpPr>
        <p:spPr>
          <a:xfrm>
            <a:off x="3308152" y="2108150"/>
            <a:ext cx="2584400" cy="1238250"/>
          </a:xfrm>
          <a:prstGeom prst="roundRect">
            <a:avLst>
              <a:gd name="adj" fmla="val 10256"/>
            </a:avLst>
          </a:prstGeom>
          <a:solidFill>
            <a:srgbClr val="FFFFFF"/>
          </a:solidFill>
          <a:ln w="9525">
            <a:solidFill>
              <a:srgbClr val="CBD5E1"/>
            </a:solidFill>
          </a:ln>
        </p:spPr>
        <p:txBody>
          <a:bodyPr wrap="square" rtlCol="0" anchor="ctr"/>
          <a:lstStyle/>
          <a:p>
            <a:pPr indent="0" marL="0">
              <a:buNone/>
            </a:pPr>
            <a:endParaRPr lang="en-US" dirty="0"/>
          </a:p>
        </p:txBody>
      </p:sp>
      <p:sp>
        <p:nvSpPr>
          <p:cNvPr id="6" name="Text 4"/>
          <p:cNvSpPr/>
          <p:nvPr/>
        </p:nvSpPr>
        <p:spPr>
          <a:xfrm>
            <a:off x="4304854" y="2527250"/>
            <a:ext cx="602816" cy="400050"/>
          </a:xfrm>
          <a:prstGeom prst="rect">
            <a:avLst/>
          </a:prstGeom>
          <a:noFill/>
          <a:ln/>
        </p:spPr>
        <p:txBody>
          <a:bodyPr wrap="square" lIns="0" tIns="0" rIns="0" bIns="0" rtlCol="0" anchor="t"/>
          <a:lstStyle/>
          <a:p>
            <a:pPr algn="l" indent="0" marL="0">
              <a:buNone/>
            </a:pPr>
            <a:r>
              <a:rPr lang="en-US" sz="2700" b="1" dirty="0">
                <a:solidFill>
                  <a:srgbClr val="14263D"/>
                </a:solidFill>
                <a:latin typeface="Arial" pitchFamily="34" charset="0"/>
                <a:ea typeface="Arial" pitchFamily="34" charset="-122"/>
                <a:cs typeface="Arial" pitchFamily="34" charset="-120"/>
              </a:rPr>
              <a:t>Joe</a:t>
            </a:r>
            <a:endParaRPr lang="en-US" sz="2700" dirty="0"/>
          </a:p>
        </p:txBody>
      </p:sp>
      <p:sp>
        <p:nvSpPr>
          <p:cNvPr id="7" name="Text 5"/>
          <p:cNvSpPr/>
          <p:nvPr/>
        </p:nvSpPr>
        <p:spPr>
          <a:xfrm>
            <a:off x="6171902" y="2108150"/>
            <a:ext cx="2584400" cy="1238250"/>
          </a:xfrm>
          <a:prstGeom prst="roundRect">
            <a:avLst>
              <a:gd name="adj" fmla="val 10256"/>
            </a:avLst>
          </a:prstGeom>
          <a:solidFill>
            <a:srgbClr val="FFFFFF"/>
          </a:solidFill>
          <a:ln w="9525">
            <a:solidFill>
              <a:srgbClr val="CBD5E1"/>
            </a:solidFill>
          </a:ln>
        </p:spPr>
        <p:txBody>
          <a:bodyPr wrap="square" rtlCol="0" anchor="ctr"/>
          <a:lstStyle/>
          <a:p>
            <a:pPr indent="0" marL="0">
              <a:buNone/>
            </a:pPr>
            <a:endParaRPr lang="en-US" dirty="0"/>
          </a:p>
        </p:txBody>
      </p:sp>
      <p:sp>
        <p:nvSpPr>
          <p:cNvPr id="8" name="Text 6"/>
          <p:cNvSpPr/>
          <p:nvPr/>
        </p:nvSpPr>
        <p:spPr>
          <a:xfrm>
            <a:off x="6892379" y="2527250"/>
            <a:ext cx="1166164" cy="400050"/>
          </a:xfrm>
          <a:prstGeom prst="rect">
            <a:avLst/>
          </a:prstGeom>
          <a:noFill/>
          <a:ln/>
        </p:spPr>
        <p:txBody>
          <a:bodyPr wrap="square" lIns="0" tIns="0" rIns="0" bIns="0" rtlCol="0" anchor="t"/>
          <a:lstStyle/>
          <a:p>
            <a:pPr algn="l" indent="0" marL="0">
              <a:buNone/>
            </a:pPr>
            <a:r>
              <a:rPr lang="en-US" sz="2700" b="1" dirty="0">
                <a:solidFill>
                  <a:srgbClr val="14263D"/>
                </a:solidFill>
                <a:latin typeface="Arial" pitchFamily="34" charset="0"/>
                <a:ea typeface="Arial" pitchFamily="34" charset="-122"/>
                <a:cs typeface="Arial" pitchFamily="34" charset="-120"/>
              </a:rPr>
              <a:t>Jordan</a:t>
            </a:r>
            <a:endParaRPr lang="en-US" sz="2700" dirty="0"/>
          </a:p>
        </p:txBody>
      </p:sp>
      <p:sp>
        <p:nvSpPr>
          <p:cNvPr id="9" name="Text 7"/>
          <p:cNvSpPr/>
          <p:nvPr/>
        </p:nvSpPr>
        <p:spPr>
          <a:xfrm>
            <a:off x="355550" y="4940201"/>
            <a:ext cx="8601405" cy="114300"/>
          </a:xfrm>
          <a:prstGeom prst="rect">
            <a:avLst/>
          </a:prstGeom>
          <a:noFill/>
          <a:ln/>
        </p:spPr>
        <p:txBody>
          <a:bodyPr wrap="square" lIns="0" tIns="0" rIns="0" bIns="0" rtlCol="0" anchor="t"/>
          <a:lstStyle/>
          <a:p>
            <a:pPr algn="l" indent="0" marL="0">
              <a:buNone/>
            </a:pPr>
            <a:r>
              <a:rPr lang="en-US" sz="850" dirty="0">
                <a:solidFill>
                  <a:srgbClr val="34495E"/>
                </a:solidFill>
                <a:latin typeface="Arial" pitchFamily="34" charset="0"/>
                <a:ea typeface="Arial" pitchFamily="34" charset="-122"/>
                <a:cs typeface="Arial" pitchFamily="34" charset="-120"/>
              </a:rPr>
              <a:t>2 / 27 | KUBECON NA 2026 | DRY RUN</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94551"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01 / OLM CONTEXT</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Compatibility and lifecycle foundations</a:t>
            </a:r>
            <a:endParaRPr lang="en-US" sz="2900" dirty="0"/>
          </a:p>
        </p:txBody>
      </p:sp>
      <p:sp>
        <p:nvSpPr>
          <p:cNvPr id="5" name="Text 3"/>
          <p:cNvSpPr/>
          <p:nvPr/>
        </p:nvSpPr>
        <p:spPr>
          <a:xfrm>
            <a:off x="355550" y="1193750"/>
            <a:ext cx="1669852" cy="253752"/>
          </a:xfrm>
          <a:prstGeom prst="roundRect">
            <a:avLst>
              <a:gd name="adj" fmla="val 25024"/>
            </a:avLst>
          </a:prstGeom>
          <a:solidFill>
            <a:srgbClr val="E5EDF1"/>
          </a:solidFill>
          <a:ln/>
        </p:spPr>
        <p:txBody>
          <a:bodyPr wrap="square" rtlCol="0" anchor="ctr"/>
          <a:lstStyle/>
          <a:p>
            <a:pPr indent="0" marL="0">
              <a:buNone/>
            </a:pPr>
            <a:endParaRPr lang="en-US" dirty="0"/>
          </a:p>
        </p:txBody>
      </p:sp>
      <p:sp>
        <p:nvSpPr>
          <p:cNvPr id="6" name="Text 4"/>
          <p:cNvSpPr/>
          <p:nvPr/>
        </p:nvSpPr>
        <p:spPr>
          <a:xfrm>
            <a:off x="469850" y="1257151"/>
            <a:ext cx="1470077" cy="126950"/>
          </a:xfrm>
          <a:prstGeom prst="rect">
            <a:avLst/>
          </a:prstGeom>
          <a:noFill/>
          <a:ln/>
        </p:spPr>
        <p:txBody>
          <a:bodyPr wrap="square" lIns="0" tIns="0" rIns="0" bIns="0" rtlCol="0" anchor="t"/>
          <a:lstStyle/>
          <a:p>
            <a:pPr algn="l" indent="0" marL="0">
              <a:lnSpc>
                <a:spcPts val="1000"/>
              </a:lnSpc>
              <a:buNone/>
            </a:pPr>
            <a:r>
              <a:rPr lang="en-US" sz="1000" b="1" dirty="0">
                <a:solidFill>
                  <a:srgbClr val="425A68"/>
                </a:solidFill>
                <a:latin typeface="Arial" pitchFamily="34" charset="0"/>
                <a:ea typeface="Arial" pitchFamily="34" charset="-122"/>
                <a:cs typeface="Arial" pitchFamily="34" charset="-120"/>
              </a:rPr>
              <a:t>FOUNDATIONAL WORK</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OLM evolution builds on existing packages and operational experience.</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OLMv0 established lifecycle management</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Existing registry+v1 content shapes compatibility</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Operational experience informs OLMv1</a:t>
            </a:r>
            <a:endParaRPr lang="en-US" sz="1650" dirty="0"/>
          </a:p>
        </p:txBody>
      </p:sp>
      <p:pic>
        <p:nvPicPr>
          <p:cNvPr id="9" name="Image 0" descr="/Users/jordan/Documents/devel/breadcrumbs/2026-kubecon-wip/dry-run/assets/s04.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Existing content and users shape lifecycle implementation.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3 / 27 | KUBECON NA 2026 | DRY RUN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94551"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01 / OLM CONTEXT</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OLM: past, current and future</a:t>
            </a:r>
            <a:endParaRPr lang="en-US" sz="2900" dirty="0"/>
          </a:p>
        </p:txBody>
      </p:sp>
      <p:sp>
        <p:nvSpPr>
          <p:cNvPr id="5" name="Text 3"/>
          <p:cNvSpPr/>
          <p:nvPr/>
        </p:nvSpPr>
        <p:spPr>
          <a:xfrm>
            <a:off x="355550" y="1193750"/>
            <a:ext cx="2746772"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2568535"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EVOLUTION / PLANNED / FUTURE WORK</a:t>
            </a:r>
            <a:endParaRPr lang="en-US" sz="1000" dirty="0"/>
          </a:p>
        </p:txBody>
      </p:sp>
      <p:sp>
        <p:nvSpPr>
          <p:cNvPr id="7" name="Text 5"/>
          <p:cNvSpPr/>
          <p:nvPr/>
        </p:nvSpPr>
        <p:spPr>
          <a:xfrm>
            <a:off x="355550" y="1676400"/>
            <a:ext cx="3419856" cy="270123"/>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OLM feature evolution</a:t>
            </a:r>
            <a:endParaRPr lang="en-US" sz="1900" dirty="0"/>
          </a:p>
        </p:txBody>
      </p:sp>
      <p:sp>
        <p:nvSpPr>
          <p:cNvPr id="8" name="Text 6"/>
          <p:cNvSpPr/>
          <p:nvPr/>
        </p:nvSpPr>
        <p:spPr>
          <a:xfrm>
            <a:off x="355550" y="2086124"/>
            <a:ext cx="3352800" cy="2147292"/>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Past: OLMv0, flawed namespace-local CRD visibility assumptions, SQLite, FBC</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Current: OLMv1, ClusterExtension, pins, webhooks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Ongoing: rollouts, config, install, migration</a:t>
            </a:r>
            <a:endParaRPr lang="en-US" sz="1650" dirty="0"/>
          </a:p>
        </p:txBody>
      </p:sp>
      <p:pic>
        <p:nvPicPr>
          <p:cNvPr id="9" name="Image 0" descr="/Users/jordan/Documents/devel/breadcrumbs/2026-kubecon-wip/dry-run/assets/s02.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Planned: helm+v2 and v2 schemas. Future: OCI catalog storage.</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4 / 27 | KUBECON NA 2026 | DRY RUN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82407"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INSTALLATION</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Streamlined Installation</a:t>
            </a:r>
            <a:endParaRPr lang="en-US" sz="2900" dirty="0"/>
          </a:p>
        </p:txBody>
      </p:sp>
      <p:sp>
        <p:nvSpPr>
          <p:cNvPr id="5" name="Text 3"/>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Standard channel since v1.11.0</a:t>
            </a:r>
            <a:endParaRPr lang="en-US" sz="1900" dirty="0"/>
          </a:p>
        </p:txBody>
      </p:sp>
      <p:sp>
        <p:nvSpPr>
          <p:cNvPr id="6" name="Text 4"/>
          <p:cNvSpPr/>
          <p:nvPr/>
        </p:nvSpPr>
        <p:spPr>
          <a:xfrm>
            <a:off x="355550" y="2356247"/>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spec.serviceAccount is optional and ignored.</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The controller uses its own service account.</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Restrict ClusterExtension access with RBAC and admission policy.</a:t>
            </a:r>
            <a:endParaRPr lang="en-US" sz="1650" dirty="0"/>
          </a:p>
        </p:txBody>
      </p:sp>
      <p:pic>
        <p:nvPicPr>
          <p:cNvPr id="7" name="Image 0" descr="/Users/jordan/Documents/devel/breadcrumbs/2026-kubecon-wip/current-visuals/streamlined-installation.png">    </p:cNvPr>
          <p:cNvPicPr>
            <a:picLocks noChangeAspect="1"/>
          </p:cNvPicPr>
          <p:nvPr/>
        </p:nvPicPr>
        <p:blipFill>
          <a:blip r:embed="rId1"/>
          <a:stretch>
            <a:fillRect/>
          </a:stretch>
        </p:blipFill>
        <p:spPr>
          <a:xfrm>
            <a:off x="3962400" y="1625501"/>
            <a:ext cx="4825901" cy="3217218"/>
          </a:xfrm>
          <a:prstGeom prst="rect">
            <a:avLst/>
          </a:prstGeom>
        </p:spPr>
      </p:pic>
      <p:sp>
        <p:nvSpPr>
          <p:cNvPr id="8" name="Text 5"/>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5 / 27 | KUBECON NA 2026 | DRY RUN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182407"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INSTALLATION</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Namespace Management</a:t>
            </a:r>
            <a:endParaRPr lang="en-US" sz="2900" dirty="0"/>
          </a:p>
        </p:txBody>
      </p:sp>
      <p:sp>
        <p:nvSpPr>
          <p:cNvPr id="5" name="Text 3"/>
          <p:cNvSpPr/>
          <p:nvPr/>
        </p:nvSpPr>
        <p:spPr>
          <a:xfrm>
            <a:off x="355550" y="1676400"/>
            <a:ext cx="3419856" cy="682228"/>
          </a:xfrm>
          <a:prstGeom prst="rect">
            <a:avLst/>
          </a:prstGeom>
          <a:noFill/>
          <a:ln/>
        </p:spPr>
        <p:txBody>
          <a:bodyPr wrap="square" lIns="0" tIns="0" rIns="0" bIns="0" rtlCol="0" anchor="t"/>
          <a:lstStyle/>
          <a:p>
            <a:pPr algn="l" indent="0" marL="0">
              <a:lnSpc>
                <a:spcPts val="1792"/>
              </a:lnSpc>
              <a:spcAft>
                <a:spcPts val="1400"/>
              </a:spcAft>
              <a:buNone/>
            </a:pPr>
            <a:r>
              <a:rPr lang="en-US" sz="1600" dirty="0">
                <a:solidFill>
                  <a:srgbClr val="14263D"/>
                </a:solidFill>
                <a:latin typeface="Arial" pitchFamily="34" charset="0"/>
                <a:ea typeface="Arial" pitchFamily="34" charset="-122"/>
                <a:cs typeface="Arial" pitchFamily="34" charset="-120"/>
              </a:rPr>
              <a:t>Experimental channel since v1.12.0</a:t>
            </a:r>
            <a:endParaRPr lang="en-US" sz="1600" dirty="0"/>
          </a:p>
          <a:p>
            <a:pPr algn="l" indent="0" marL="0">
              <a:lnSpc>
                <a:spcPts val="1792"/>
              </a:lnSpc>
              <a:spcAft>
                <a:spcPts val="1400"/>
              </a:spcAft>
              <a:buNone/>
            </a:pPr>
            <a:r>
              <a:rPr lang="en-US" sz="1600" dirty="0">
                <a:solidFill>
                  <a:srgbClr val="14263D"/>
                </a:solidFill>
                <a:latin typeface="Arial" pitchFamily="34" charset="0"/>
                <a:ea typeface="Arial" pitchFamily="34" charset="-122"/>
                <a:cs typeface="Arial" pitchFamily="34" charset="-120"/>
              </a:rPr>
              <a:t>Controlled by feature gate</a:t>
            </a:r>
            <a:endParaRPr lang="en-US" sz="1600" dirty="0"/>
          </a:p>
        </p:txBody>
      </p:sp>
      <p:sp>
        <p:nvSpPr>
          <p:cNvPr id="6" name="Text 4"/>
          <p:cNvSpPr/>
          <p:nvPr/>
        </p:nvSpPr>
        <p:spPr>
          <a:xfrm>
            <a:off x="355550" y="2536329"/>
            <a:ext cx="3352800" cy="1904256"/>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Set spec.namespace: use an existing user-managed namespace.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Omit it: OLM manages a derived namespace.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Deletion removes that namespace and its contents.</a:t>
            </a:r>
            <a:endParaRPr lang="en-US" sz="1650" dirty="0"/>
          </a:p>
        </p:txBody>
      </p:sp>
      <p:pic>
        <p:nvPicPr>
          <p:cNvPr id="7" name="Image 0" descr="/Users/jordan/Documents/devel/breadcrumbs/2026-kubecon-wip/current-visuals/namespace-management.png">    </p:cNvPr>
          <p:cNvPicPr>
            <a:picLocks noChangeAspect="1"/>
          </p:cNvPicPr>
          <p:nvPr/>
        </p:nvPicPr>
        <p:blipFill>
          <a:blip r:embed="rId1"/>
          <a:stretch>
            <a:fillRect/>
          </a:stretch>
        </p:blipFill>
        <p:spPr>
          <a:xfrm>
            <a:off x="3962400" y="1625501"/>
            <a:ext cx="4825901" cy="3217218"/>
          </a:xfrm>
          <a:prstGeom prst="rect">
            <a:avLst/>
          </a:prstGeom>
        </p:spPr>
      </p:pic>
      <p:sp>
        <p:nvSpPr>
          <p:cNvPr id="8" name="Text 5"/>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6 / 27 | KUBECON NA 2026 | DRY RUN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Inspect phased resource rollouts</a:t>
            </a:r>
            <a:endParaRPr lang="en-US" sz="2900" dirty="0"/>
          </a:p>
        </p:txBody>
      </p:sp>
      <p:sp>
        <p:nvSpPr>
          <p:cNvPr id="5" name="Text 3"/>
          <p:cNvSpPr/>
          <p:nvPr/>
        </p:nvSpPr>
        <p:spPr>
          <a:xfrm>
            <a:off x="355550" y="1193750"/>
            <a:ext cx="4061371"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 / CONTROLLED BY FEATURE-GATE</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Ordered phases expose resource application and readiness progress.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Apply resource groups in phase order</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Wait for applicable readiness checks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Inspect ClusterObjectDeployment and revision status</a:t>
            </a:r>
            <a:endParaRPr lang="en-US" sz="1650" dirty="0"/>
          </a:p>
        </p:txBody>
      </p:sp>
      <p:pic>
        <p:nvPicPr>
          <p:cNvPr id="9" name="Image 0" descr="/Users/jordan/Documents/devel/breadcrumbs/2026-kubecon-wip/dry-run/assets/s06.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Readiness checks show which phase is waiting.</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7 / 27 | KUBECON NA 2026 | DRY RUN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User control of extension deployments</a:t>
            </a:r>
            <a:endParaRPr lang="en-US" sz="2900" dirty="0"/>
          </a:p>
        </p:txBody>
      </p:sp>
      <p:sp>
        <p:nvSpPr>
          <p:cNvPr id="5" name="Text 3"/>
          <p:cNvSpPr/>
          <p:nvPr/>
        </p:nvSpPr>
        <p:spPr>
          <a:xfrm>
            <a:off x="355550" y="1193750"/>
            <a:ext cx="4061371"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 / CONTROLLED BY FEATURE-GATE</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Flexible user-defined deployment configuration.</a:t>
            </a:r>
            <a:endParaRPr lang="en-US" sz="1900" dirty="0"/>
          </a:p>
        </p:txBody>
      </p:sp>
      <p:sp>
        <p:nvSpPr>
          <p:cNvPr id="8" name="Text 6"/>
          <p:cNvSpPr/>
          <p:nvPr/>
        </p:nvSpPr>
        <p:spPr>
          <a:xfrm>
            <a:off x="355550" y="2356247"/>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Environment variables and resource settings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Placement, volumes and deployment metadata</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Operator-provided configuration and schemas</a:t>
            </a:r>
            <a:endParaRPr lang="en-US" sz="1650" dirty="0"/>
          </a:p>
        </p:txBody>
      </p:sp>
      <p:pic>
        <p:nvPicPr>
          <p:cNvPr id="9" name="Image 0" descr="/Users/jordan/Documents/devel/breadcrumbs/2026-kubecon-wip/dry-run/assets/s07.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OLM applies user choices through operator configuration.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8 / 27 | KUBECON NA 2026 | DRY RUN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OLMv0 → OLMv1 migration</a:t>
            </a:r>
            <a:endParaRPr lang="en-US" sz="2900" dirty="0"/>
          </a:p>
        </p:txBody>
      </p:sp>
      <p:sp>
        <p:nvSpPr>
          <p:cNvPr id="5" name="Text 3"/>
          <p:cNvSpPr/>
          <p:nvPr/>
        </p:nvSpPr>
        <p:spPr>
          <a:xfrm>
            <a:off x="355550" y="1193750"/>
            <a:ext cx="185350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Move operator management from OLMv0 to OLMv1.</a:t>
            </a:r>
            <a:endParaRPr lang="en-US" sz="1900" dirty="0"/>
          </a:p>
        </p:txBody>
      </p:sp>
      <p:sp>
        <p:nvSpPr>
          <p:cNvPr id="8" name="Text 6"/>
          <p:cNvSpPr/>
          <p:nvPr/>
        </p:nvSpPr>
        <p:spPr>
          <a:xfrm>
            <a:off x="355550" y="2356247"/>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Prepare v1 catalogs from v0 CatalogSources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Check and preview operator migrations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Migration library with example binaries</a:t>
            </a:r>
            <a:endParaRPr lang="en-US" sz="1650" dirty="0"/>
          </a:p>
        </p:txBody>
      </p:sp>
      <p:pic>
        <p:nvPicPr>
          <p:cNvPr id="9" name="Image 0" descr="/Users/jordan/Documents/devel/breadcrumbs/2026-kubecon-wip/dry-run/assets/s08.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Structured output supports automation and models.</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9 / 27 | KUBECON NA 2026 | DRY RUN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Install a bundle directly</a:t>
            </a:r>
            <a:endParaRPr lang="en-US" sz="2900" dirty="0"/>
          </a:p>
        </p:txBody>
      </p:sp>
      <p:sp>
        <p:nvSpPr>
          <p:cNvPr id="5" name="Text 3"/>
          <p:cNvSpPr/>
          <p:nvPr/>
        </p:nvSpPr>
        <p:spPr>
          <a:xfrm>
            <a:off x="355550" y="1193750"/>
            <a:ext cx="4061371"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3909426"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 / CONTROLLED BY FEATURE-GATE</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Select a registry+v1 bundle by its OCI image reference.</a:t>
            </a:r>
            <a:endParaRPr lang="en-US" sz="1900" dirty="0"/>
          </a:p>
        </p:txBody>
      </p:sp>
      <p:sp>
        <p:nvSpPr>
          <p:cNvPr id="8" name="Text 6"/>
          <p:cNvSpPr/>
          <p:nvPr/>
        </p:nvSpPr>
        <p:spPr>
          <a:xfrm>
            <a:off x="355550" y="2356247"/>
            <a:ext cx="3352800" cy="932111"/>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Use sourceType: OCIImage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Set source.ociImage.ref</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Bypass catalog resolution</a:t>
            </a:r>
            <a:endParaRPr lang="en-US" sz="1650" dirty="0"/>
          </a:p>
        </p:txBody>
      </p:sp>
      <p:pic>
        <p:nvPicPr>
          <p:cNvPr id="9" name="Image 0" descr="/Users/jordan/Documents/devel/breadcrumbs/2026-kubecon-wip/dry-run/assets/s05.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Proposed in open PR #2907; controlled by BoxcutterRuntime.</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10 / 27 | KUBECON NA 2026 | DRY RUN</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50915"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03 / CONTENT &amp; CATALOGS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Planned Helm content support</a:t>
            </a:r>
            <a:endParaRPr lang="en-US" sz="2900" dirty="0"/>
          </a:p>
        </p:txBody>
      </p:sp>
      <p:sp>
        <p:nvSpPr>
          <p:cNvPr id="5" name="Text 3"/>
          <p:cNvSpPr/>
          <p:nvPr/>
        </p:nvSpPr>
        <p:spPr>
          <a:xfrm>
            <a:off x="355550" y="1193750"/>
            <a:ext cx="145985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255880"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PLANNED / helm+v2</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The rendering contract targets deterministic chart behavior.</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Chart and values produce managed manifests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Allow-listed features support reproducible rendering</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helm+v2 identifies the content representation</a:t>
            </a:r>
            <a:endParaRPr lang="en-US" sz="1650" dirty="0"/>
          </a:p>
        </p:txBody>
      </p:sp>
      <p:pic>
        <p:nvPicPr>
          <p:cNvPr id="9" name="Image 0" descr="/Users/jordan/Documents/devel/breadcrumbs/2026-kubecon-wip/dry-run/assets/s10.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Standard chart artifacts use a defined rendering contract.</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11 / 27 | KUBECON NA 2026 | DRY RUN</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50915"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03 / CONTENT &amp; CATALOGS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Catalog performance and content types</a:t>
            </a:r>
            <a:endParaRPr lang="en-US" sz="2900" dirty="0"/>
          </a:p>
        </p:txBody>
      </p:sp>
      <p:sp>
        <p:nvSpPr>
          <p:cNvPr id="5" name="Text 3"/>
          <p:cNvSpPr/>
          <p:nvPr/>
        </p:nvSpPr>
        <p:spPr>
          <a:xfrm>
            <a:off x="355550" y="1193750"/>
            <a:ext cx="1900386"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705222"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PLANNED / FUTURE WORK</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Design for lower catalog-processing cost and additional content types.</a:t>
            </a:r>
            <a:endParaRPr lang="en-US" sz="1900" dirty="0"/>
          </a:p>
        </p:txBody>
      </p:sp>
      <p:sp>
        <p:nvSpPr>
          <p:cNvPr id="8" name="Text 6"/>
          <p:cNvSpPr/>
          <p:nvPr/>
        </p:nvSpPr>
        <p:spPr>
          <a:xfrm>
            <a:off x="355550" y="2626370"/>
            <a:ext cx="3352800" cy="1418183"/>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Lower duplicated CSV metadata</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Direct version fields reduce property traversal</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Typed registry+v1 and helm+v2 content</a:t>
            </a:r>
            <a:endParaRPr lang="en-US" sz="1650" dirty="0"/>
          </a:p>
        </p:txBody>
      </p:sp>
      <p:pic>
        <p:nvPicPr>
          <p:cNvPr id="9" name="Image 0" descr="/Users/jordan/Documents/devel/breadcrumbs/2026-kubecon-wip/dry-run/assets/s11.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File-based catalogs remain the established foundation.</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12 / 27 | KUBECON NA 2026 | DRY RUN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41503"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02 / LIFECYCLE PRIMITIVES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Shared lifecycle logic in library-olm</a:t>
            </a:r>
            <a:endParaRPr lang="en-US" sz="2900" dirty="0"/>
          </a:p>
        </p:txBody>
      </p:sp>
      <p:sp>
        <p:nvSpPr>
          <p:cNvPr id="5" name="Text 3"/>
          <p:cNvSpPr/>
          <p:nvPr/>
        </p:nvSpPr>
        <p:spPr>
          <a:xfrm>
            <a:off x="355550" y="1193750"/>
            <a:ext cx="185350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657404"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IN ACTIVE DEVELOPMENT</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Reuse lifecycle logic through a library with explicit contracts.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Share migration checks and workflow logic</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Exercise current development examples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Record expected results in reusable fixtures</a:t>
            </a:r>
            <a:endParaRPr lang="en-US" sz="1650" dirty="0"/>
          </a:p>
        </p:txBody>
      </p:sp>
      <p:pic>
        <p:nvPicPr>
          <p:cNvPr id="9" name="Image 0" descr="/Users/jordan/Documents/devel/breadcrumbs/2026-kubecon-wip/dry-run/assets/s09.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Examples and fixtures make supported behavior concrete.</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13 / 27 | KUBECON NA 2026 | DRY RUN</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750915"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03 / CONTENT &amp; CATALOGS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Contribute to Operator Framework</a:t>
            </a:r>
            <a:endParaRPr lang="en-US" sz="2900" dirty="0"/>
          </a:p>
        </p:txBody>
      </p:sp>
      <p:sp>
        <p:nvSpPr>
          <p:cNvPr id="5" name="Text 3"/>
          <p:cNvSpPr/>
          <p:nvPr/>
        </p:nvSpPr>
        <p:spPr>
          <a:xfrm>
            <a:off x="355550" y="1193750"/>
            <a:ext cx="1830139"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1633570"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PROJECT DEVELOPMENT</a:t>
            </a:r>
            <a:endParaRPr lang="en-US" sz="1000" dirty="0"/>
          </a:p>
        </p:txBody>
      </p:sp>
      <p:sp>
        <p:nvSpPr>
          <p:cNvPr id="7" name="Text 5"/>
          <p:cNvSpPr/>
          <p:nvPr/>
        </p:nvSpPr>
        <p:spPr>
          <a:xfrm>
            <a:off x="355550" y="1676400"/>
            <a:ext cx="3419856" cy="540246"/>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Contribute to Operator Framework development.</a:t>
            </a:r>
            <a:endParaRPr lang="en-US" sz="1900" dirty="0"/>
          </a:p>
        </p:txBody>
      </p:sp>
      <p:sp>
        <p:nvSpPr>
          <p:cNvPr id="8" name="Text 6"/>
          <p:cNvSpPr/>
          <p:nvPr/>
        </p:nvSpPr>
        <p:spPr>
          <a:xfrm>
            <a:off x="355550" y="2356247"/>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Read the repository contribution guide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Discuss an issue and propose a change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Submit code, documentation or test fixtures</a:t>
            </a:r>
            <a:endParaRPr lang="en-US" sz="1650" dirty="0"/>
          </a:p>
        </p:txBody>
      </p:sp>
      <p:pic>
        <p:nvPicPr>
          <p:cNvPr id="9" name="Image 0" descr="/Users/jordan/Documents/devel/breadcrumbs/2026-kubecon-wip/current-visuals/contributing-qr.png">    </p:cNvPr>
          <p:cNvPicPr>
            <a:picLocks noChangeAspect="1"/>
          </p:cNvPicPr>
          <p:nvPr/>
        </p:nvPicPr>
        <p:blipFill>
          <a:blip r:embed="rId1"/>
          <a:stretch>
            <a:fillRect/>
          </a:stretch>
        </p:blipFill>
        <p:spPr>
          <a:xfrm>
            <a:off x="5359301" y="2218134"/>
            <a:ext cx="2031950" cy="2031950"/>
          </a:xfrm>
          <a:prstGeom prst="rect">
            <a:avLst/>
          </a:prstGeom>
        </p:spPr>
      </p:pic>
      <p:sp>
        <p:nvSpPr>
          <p:cNvPr id="10" name="Text 7"/>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14 / 27 | KUBECON NA 2026 | DRY RUN</a:t>
            </a:r>
            <a:endParaRPr lang="en-US" sz="850" dirty="0"/>
          </a:p>
        </p:txBody>
      </p:sp>
      <p:sp>
        <p:nvSpPr>
          <p:cNvPr id="11" name="Text 8">
            <a:hlinkClick r:id="rId2" tooltip=""/>
          </p:cNvPr>
          <p:cNvSpPr/>
          <p:nvPr/>
        </p:nvSpPr>
        <p:spPr>
          <a:xfrm>
            <a:off x="355600" y="4457700"/>
            <a:ext cx="3390900" cy="393700"/>
          </a:xfrm>
          <a:prstGeom prst="rect">
            <a:avLst/>
          </a:prstGeom>
          <a:noFill/>
          <a:ln/>
        </p:spPr>
        <p:txBody>
          <a:bodyPr wrap="square" lIns="0" tIns="0" rIns="0" bIns="0" rtlCol="0" anchor="ctr"/>
          <a:lstStyle/>
          <a:p>
            <a:pPr indent="0" marL="0">
              <a:buNone/>
            </a:pPr>
            <a:r>
              <a:rPr lang="en-US" sz="1150" i="1" u="sng" dirty="0">
                <a:solidFill>
                  <a:srgbClr val="007F86"/>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operator-controller: CONTRIBUTING.md</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944782" y="1739801"/>
            <a:ext cx="7254139" cy="992981"/>
          </a:xfrm>
          <a:prstGeom prst="rect">
            <a:avLst/>
          </a:prstGeom>
          <a:noFill/>
          <a:ln/>
        </p:spPr>
        <p:txBody>
          <a:bodyPr wrap="square" lIns="0" tIns="0" rIns="0" bIns="0" rtlCol="0" anchor="t"/>
          <a:lstStyle/>
          <a:p>
            <a:pPr algn="ctr" indent="0" marL="0">
              <a:lnSpc>
                <a:spcPts val="3910"/>
              </a:lnSpc>
              <a:buNone/>
            </a:pPr>
            <a:r>
              <a:rPr lang="en-US" sz="3400" b="1" dirty="0">
                <a:solidFill>
                  <a:srgbClr val="14263D"/>
                </a:solidFill>
                <a:latin typeface="Arial" pitchFamily="34" charset="0"/>
                <a:ea typeface="Arial" pitchFamily="34" charset="-122"/>
                <a:cs typeface="Arial" pitchFamily="34" charset="-120"/>
              </a:rPr>
              <a:t>Operator Framework: Java Operator SDK</a:t>
            </a:r>
            <a:endParaRPr lang="en-US" sz="3400" dirty="0"/>
          </a:p>
        </p:txBody>
      </p:sp>
      <p:sp>
        <p:nvSpPr>
          <p:cNvPr id="3" name="Text 1"/>
          <p:cNvSpPr/>
          <p:nvPr/>
        </p:nvSpPr>
        <p:spPr>
          <a:xfrm>
            <a:off x="355550" y="4940201"/>
            <a:ext cx="8601405" cy="114300"/>
          </a:xfrm>
          <a:prstGeom prst="rect">
            <a:avLst/>
          </a:prstGeom>
          <a:noFill/>
          <a:ln/>
        </p:spPr>
        <p:txBody>
          <a:bodyPr wrap="square" lIns="0" tIns="0" rIns="0" bIns="0" rtlCol="0" anchor="t"/>
          <a:lstStyle/>
          <a:p>
            <a:pPr algn="l" indent="0" marL="0">
              <a:buNone/>
            </a:pPr>
            <a:r>
              <a:rPr lang="en-US" sz="850" dirty="0">
                <a:solidFill>
                  <a:srgbClr val="34495E"/>
                </a:solidFill>
                <a:latin typeface="Arial" pitchFamily="34" charset="0"/>
                <a:ea typeface="Arial" pitchFamily="34" charset="-122"/>
                <a:cs typeface="Arial" pitchFamily="34" charset="-120"/>
              </a:rPr>
              <a:t>15 / 27 | KUBECON NA 2026 | DRY RUN</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072500"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05 / RESOURCES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Resources and contribution steps</a:t>
            </a:r>
            <a:endParaRPr lang="en-US" sz="2900" dirty="0"/>
          </a:p>
        </p:txBody>
      </p:sp>
      <p:sp>
        <p:nvSpPr>
          <p:cNvPr id="5" name="Text 3"/>
          <p:cNvSpPr/>
          <p:nvPr/>
        </p:nvSpPr>
        <p:spPr>
          <a:xfrm>
            <a:off x="355550" y="1193750"/>
            <a:ext cx="2458045" cy="253752"/>
          </a:xfrm>
          <a:prstGeom prst="roundRect">
            <a:avLst>
              <a:gd name="adj" fmla="val 25024"/>
            </a:avLst>
          </a:prstGeom>
          <a:solidFill>
            <a:srgbClr val="FFF0D6"/>
          </a:solidFill>
          <a:ln/>
        </p:spPr>
        <p:txBody>
          <a:bodyPr wrap="square" rtlCol="0" anchor="ctr"/>
          <a:lstStyle/>
          <a:p>
            <a:pPr indent="0" marL="0">
              <a:buNone/>
            </a:pPr>
            <a:endParaRPr lang="en-US" dirty="0"/>
          </a:p>
        </p:txBody>
      </p:sp>
      <p:sp>
        <p:nvSpPr>
          <p:cNvPr id="6" name="Text 4"/>
          <p:cNvSpPr/>
          <p:nvPr/>
        </p:nvSpPr>
        <p:spPr>
          <a:xfrm>
            <a:off x="469850" y="1257151"/>
            <a:ext cx="2274034" cy="126950"/>
          </a:xfrm>
          <a:prstGeom prst="rect">
            <a:avLst/>
          </a:prstGeom>
          <a:noFill/>
          <a:ln/>
        </p:spPr>
        <p:txBody>
          <a:bodyPr wrap="square" lIns="0" tIns="0" rIns="0" bIns="0" rtlCol="0" anchor="t"/>
          <a:lstStyle/>
          <a:p>
            <a:pPr algn="l" indent="0" marL="0">
              <a:lnSpc>
                <a:spcPts val="1000"/>
              </a:lnSpc>
              <a:buNone/>
            </a:pPr>
            <a:r>
              <a:rPr lang="en-US" sz="1000" b="1" dirty="0">
                <a:solidFill>
                  <a:srgbClr val="885000"/>
                </a:solidFill>
                <a:latin typeface="Arial" pitchFamily="34" charset="0"/>
                <a:ea typeface="Arial" pitchFamily="34" charset="-122"/>
                <a:cs typeface="Arial" pitchFamily="34" charset="-120"/>
              </a:rPr>
              <a:t>RESOURCE PACKAGE TO PREPARE</a:t>
            </a:r>
            <a:endParaRPr lang="en-US" sz="1000" dirty="0"/>
          </a:p>
        </p:txBody>
      </p:sp>
      <p:sp>
        <p:nvSpPr>
          <p:cNvPr id="7" name="Text 5"/>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Use documented contracts and reproducible cases to guide contributions.</a:t>
            </a:r>
            <a:endParaRPr lang="en-US" sz="1900" dirty="0"/>
          </a:p>
        </p:txBody>
      </p:sp>
      <p:sp>
        <p:nvSpPr>
          <p:cNvPr id="8" name="Text 6"/>
          <p:cNvSpPr/>
          <p:nvPr/>
        </p:nvSpPr>
        <p:spPr>
          <a:xfrm>
            <a:off x="355550" y="2626370"/>
            <a:ext cx="3352800" cy="1661220"/>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Check content against a documented contract</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Share a reproducible case or fixture</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Select a maintainer-scoped contribution</a:t>
            </a:r>
            <a:endParaRPr lang="en-US" sz="1650" dirty="0"/>
          </a:p>
        </p:txBody>
      </p:sp>
      <p:pic>
        <p:nvPicPr>
          <p:cNvPr id="9" name="Image 0" descr="/Users/jordan/Documents/devel/breadcrumbs/2026-kubecon-wip/dry-run/assets/s19.png">    </p:cNvPr>
          <p:cNvPicPr>
            <a:picLocks noChangeAspect="1"/>
          </p:cNvPicPr>
          <p:nvPr/>
        </p:nvPicPr>
        <p:blipFill>
          <a:blip r:embed="rId1"/>
          <a:stretch>
            <a:fillRect/>
          </a:stretch>
        </p:blipFill>
        <p:spPr>
          <a:xfrm>
            <a:off x="3962400" y="1625501"/>
            <a:ext cx="4825901" cy="3217218"/>
          </a:xfrm>
          <a:prstGeom prst="rect">
            <a:avLst/>
          </a:prstGeom>
        </p:spPr>
      </p:pic>
      <p:sp>
        <p:nvSpPr>
          <p:cNvPr id="10" name="Text 7"/>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Companion examples and task links are being prepared.</a:t>
            </a:r>
            <a:endParaRPr lang="en-US" sz="1150" dirty="0"/>
          </a:p>
        </p:txBody>
      </p:sp>
      <p:sp>
        <p:nvSpPr>
          <p:cNvPr id="11" name="Text 8"/>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26 / 27 | KUBECON NA 2026 | DRY RUN</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0" y="0"/>
            <a:ext cx="9144000" cy="63401"/>
          </a:xfrm>
          <a:prstGeom prst="rect">
            <a:avLst/>
          </a:prstGeom>
          <a:solidFill>
            <a:srgbClr val="007F86"/>
          </a:solidFill>
          <a:ln/>
        </p:spPr>
        <p:txBody>
          <a:bodyPr wrap="square" rtlCol="0" anchor="ctr"/>
          <a:lstStyle/>
          <a:p>
            <a:pPr indent="0" marL="0">
              <a:buNone/>
            </a:pPr>
            <a:endParaRPr lang="en-US" dirty="0"/>
          </a:p>
        </p:txBody>
      </p:sp>
      <p:sp>
        <p:nvSpPr>
          <p:cNvPr id="3" name="Text 1"/>
          <p:cNvSpPr/>
          <p:nvPr/>
        </p:nvSpPr>
        <p:spPr>
          <a:xfrm>
            <a:off x="355550" y="253901"/>
            <a:ext cx="1014814" cy="139601"/>
          </a:xfrm>
          <a:prstGeom prst="rect">
            <a:avLst/>
          </a:prstGeom>
          <a:noFill/>
          <a:ln/>
        </p:spPr>
        <p:txBody>
          <a:bodyPr wrap="square" lIns="0" tIns="0" rIns="0" bIns="0" rtlCol="0" anchor="t"/>
          <a:lstStyle/>
          <a:p>
            <a:pPr algn="l" indent="0" marL="0">
              <a:lnSpc>
                <a:spcPts val="1100"/>
              </a:lnSpc>
              <a:buNone/>
            </a:pPr>
            <a:r>
              <a:rPr lang="en-US" sz="1000" b="1" dirty="0">
                <a:solidFill>
                  <a:srgbClr val="007F86"/>
                </a:solidFill>
                <a:latin typeface="Arial" pitchFamily="34" charset="0"/>
                <a:ea typeface="Arial" pitchFamily="34" charset="-122"/>
                <a:cs typeface="Arial" pitchFamily="34" charset="-120"/>
              </a:rPr>
              <a:t>06 / QUESTIONS</a:t>
            </a:r>
            <a:endParaRPr lang="en-US" sz="1000" dirty="0"/>
          </a:p>
        </p:txBody>
      </p:sp>
      <p:sp>
        <p:nvSpPr>
          <p:cNvPr id="4" name="Text 2"/>
          <p:cNvSpPr/>
          <p:nvPr/>
        </p:nvSpPr>
        <p:spPr>
          <a:xfrm>
            <a:off x="355550" y="558701"/>
            <a:ext cx="8601405" cy="507950"/>
          </a:xfrm>
          <a:prstGeom prst="rect">
            <a:avLst/>
          </a:prstGeom>
          <a:noFill/>
          <a:ln/>
        </p:spPr>
        <p:txBody>
          <a:bodyPr wrap="square" lIns="0" tIns="0" rIns="0" bIns="0" rtlCol="0" anchor="t"/>
          <a:lstStyle/>
          <a:p>
            <a:pPr algn="l" indent="0" marL="0">
              <a:lnSpc>
                <a:spcPts val="3306"/>
              </a:lnSpc>
              <a:buNone/>
            </a:pPr>
            <a:r>
              <a:rPr lang="en-US" sz="2900" b="1" dirty="0">
                <a:solidFill>
                  <a:srgbClr val="14263D"/>
                </a:solidFill>
                <a:latin typeface="Arial" pitchFamily="34" charset="0"/>
                <a:ea typeface="Arial" pitchFamily="34" charset="-122"/>
                <a:cs typeface="Arial" pitchFamily="34" charset="-120"/>
              </a:rPr>
              <a:t>Questions?</a:t>
            </a:r>
            <a:endParaRPr lang="en-US" sz="2900" dirty="0"/>
          </a:p>
        </p:txBody>
      </p:sp>
      <p:sp>
        <p:nvSpPr>
          <p:cNvPr id="5" name="Text 3"/>
          <p:cNvSpPr/>
          <p:nvPr/>
        </p:nvSpPr>
        <p:spPr>
          <a:xfrm>
            <a:off x="355550" y="1676400"/>
            <a:ext cx="3419856" cy="810369"/>
          </a:xfrm>
          <a:prstGeom prst="rect">
            <a:avLst/>
          </a:prstGeom>
          <a:noFill/>
          <a:ln/>
        </p:spPr>
        <p:txBody>
          <a:bodyPr wrap="square" lIns="0" tIns="0" rIns="0" bIns="0" rtlCol="0" anchor="t"/>
          <a:lstStyle/>
          <a:p>
            <a:pPr algn="l" indent="0" marL="0">
              <a:lnSpc>
                <a:spcPts val="2128"/>
              </a:lnSpc>
              <a:spcAft>
                <a:spcPts val="1100"/>
              </a:spcAft>
              <a:buNone/>
            </a:pPr>
            <a:r>
              <a:rPr lang="en-US" sz="1900" b="1" dirty="0">
                <a:solidFill>
                  <a:srgbClr val="14263D"/>
                </a:solidFill>
                <a:latin typeface="Arial" pitchFamily="34" charset="0"/>
                <a:ea typeface="Arial" pitchFamily="34" charset="-122"/>
                <a:cs typeface="Arial" pitchFamily="34" charset="-120"/>
              </a:rPr>
              <a:t>Questions about lifecycle APIs, packaging or controller behavior?</a:t>
            </a:r>
            <a:endParaRPr lang="en-US" sz="1900" dirty="0"/>
          </a:p>
        </p:txBody>
      </p:sp>
      <p:sp>
        <p:nvSpPr>
          <p:cNvPr id="6" name="Text 4"/>
          <p:cNvSpPr/>
          <p:nvPr/>
        </p:nvSpPr>
        <p:spPr>
          <a:xfrm>
            <a:off x="355550" y="2626370"/>
            <a:ext cx="3352800" cy="1175147"/>
          </a:xfrm>
          <a:prstGeom prst="rect">
            <a:avLst/>
          </a:prstGeom>
          <a:noFill/>
          <a:ln/>
        </p:spPr>
        <p:txBody>
          <a:bodyPr wrap="square" lIns="107950" tIns="0" rIns="0" bIns="0" rtlCol="0" anchor="t"/>
          <a:lstStyle/>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OLM configuration and migration</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Helm content and catalog schemas</a:t>
            </a:r>
            <a:endParaRPr lang="en-US" sz="1650" dirty="0"/>
          </a:p>
          <a:p>
            <a:pPr algn="l" marL="107950" indent="-107950">
              <a:lnSpc>
                <a:spcPts val="1914"/>
              </a:lnSpc>
              <a:spcAft>
                <a:spcPts val="800"/>
              </a:spcAft>
              <a:buSzPct val="100000"/>
              <a:buChar char="•"/>
            </a:pPr>
            <a:r>
              <a:rPr lang="en-US" sz="1650" dirty="0">
                <a:solidFill>
                  <a:srgbClr val="34495E"/>
                </a:solidFill>
                <a:latin typeface="Arial" pitchFamily="34" charset="0"/>
                <a:ea typeface="Arial" pitchFamily="34" charset="-122"/>
                <a:cs typeface="Arial" pitchFamily="34" charset="-120"/>
              </a:rPr>
              <a:t>Java Operator SDK reconciliation</a:t>
            </a:r>
            <a:endParaRPr lang="en-US" sz="1650" dirty="0"/>
          </a:p>
        </p:txBody>
      </p:sp>
      <p:pic>
        <p:nvPicPr>
          <p:cNvPr id="7" name="Image 0" descr="/Users/jordan/Documents/devel/breadcrumbs/2026-kubecon-wip/dry-run/assets/s20.png">    </p:cNvPr>
          <p:cNvPicPr>
            <a:picLocks noChangeAspect="1"/>
          </p:cNvPicPr>
          <p:nvPr/>
        </p:nvPicPr>
        <p:blipFill>
          <a:blip r:embed="rId1"/>
          <a:stretch>
            <a:fillRect/>
          </a:stretch>
        </p:blipFill>
        <p:spPr>
          <a:xfrm>
            <a:off x="3962400" y="1625501"/>
            <a:ext cx="4825901" cy="3217218"/>
          </a:xfrm>
          <a:prstGeom prst="rect">
            <a:avLst/>
          </a:prstGeom>
        </p:spPr>
      </p:pic>
      <p:sp>
        <p:nvSpPr>
          <p:cNvPr id="8" name="Text 5"/>
          <p:cNvSpPr/>
          <p:nvPr/>
        </p:nvSpPr>
        <p:spPr>
          <a:xfrm>
            <a:off x="355550" y="4457700"/>
            <a:ext cx="3458718" cy="393650"/>
          </a:xfrm>
          <a:prstGeom prst="rect">
            <a:avLst/>
          </a:prstGeom>
          <a:noFill/>
          <a:ln/>
        </p:spPr>
        <p:txBody>
          <a:bodyPr wrap="square" lIns="0" tIns="0" rIns="0" bIns="0" rtlCol="0" anchor="t"/>
          <a:lstStyle/>
          <a:p>
            <a:pPr algn="l" indent="0" marL="0">
              <a:lnSpc>
                <a:spcPts val="1288"/>
              </a:lnSpc>
              <a:buNone/>
            </a:pPr>
            <a:r>
              <a:rPr lang="en-US" sz="1150" i="1" dirty="0">
                <a:solidFill>
                  <a:srgbClr val="007F86"/>
                </a:solidFill>
                <a:latin typeface="Arial" pitchFamily="34" charset="0"/>
                <a:ea typeface="Arial" pitchFamily="34" charset="-122"/>
                <a:cs typeface="Arial" pitchFamily="34" charset="-120"/>
              </a:rPr>
              <a:t>Discussion of capabilities and proposed work.</a:t>
            </a:r>
            <a:endParaRPr lang="en-US" sz="1150" dirty="0"/>
          </a:p>
        </p:txBody>
      </p:sp>
      <p:sp>
        <p:nvSpPr>
          <p:cNvPr id="9" name="Text 6"/>
          <p:cNvSpPr/>
          <p:nvPr/>
        </p:nvSpPr>
        <p:spPr>
          <a:xfrm>
            <a:off x="355550" y="4940201"/>
            <a:ext cx="8601405" cy="107900"/>
          </a:xfrm>
          <a:prstGeom prst="rect">
            <a:avLst/>
          </a:prstGeom>
          <a:noFill/>
          <a:ln/>
        </p:spPr>
        <p:txBody>
          <a:bodyPr wrap="square" lIns="0" tIns="0" rIns="0" bIns="0" rtlCol="0" anchor="t"/>
          <a:lstStyle/>
          <a:p>
            <a:pPr algn="l" indent="0" marL="0">
              <a:lnSpc>
                <a:spcPts val="850"/>
              </a:lnSpc>
              <a:buNone/>
            </a:pPr>
            <a:r>
              <a:rPr lang="en-US" sz="850" dirty="0">
                <a:solidFill>
                  <a:srgbClr val="5D6B7B"/>
                </a:solidFill>
                <a:latin typeface="Arial" pitchFamily="34" charset="0"/>
                <a:ea typeface="Arial" pitchFamily="34" charset="-122"/>
                <a:cs typeface="Arial" pitchFamily="34" charset="-120"/>
              </a:rPr>
              <a:t>27 / 27 | KUBECON NA 2026 | DRY RUN</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Operator Framework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Era of Kubernetes Operator Lifecycle Management</dc:title>
  <dc:subject>Illustrated alignment dry run; roles and claim qualifications in notes</dc:subject>
  <dc:creator>KubeCon 2026 working draft</dc:creator>
  <cp:lastModifiedBy>KubeCon 2026 working draft</cp:lastModifiedBy>
  <cp:revision>1</cp:revision>
  <dcterms:created xsi:type="dcterms:W3CDTF">2026-10-29T03:15:49Z</dcterms:created>
  <dcterms:modified xsi:type="dcterms:W3CDTF">2026-10-29T03:15:49Z</dcterms:modified>
</cp:coreProperties>
</file>

<file path=sdk/_rels/.rels><?xml version="1.0" encoding="UTF-8" standalone="yes"?><Relationships xmlns="http://schemas.openxmlformats.org/package/2006/relationships"><Relationship Id="rId1" Type="http://schemas.openxmlformats.org/officeDocument/2006/relationships/officeDocument" Target="ppt/presentation.xml"/></Relationships>
</file>

<file path=sdk/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sdk/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sdk/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sdk/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sdk/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h32b5fa44330d55a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h32b5fa44330d55a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notesSlides/notesSlide3.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h32b5fa44330d55aa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h32b5fa44330d55aa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sourceSlide3; duration=60 seconds; start=19:00; end=20:00]</a:t>
            </a:r>
          </a:p>
        </p:txBody>
      </p:sp>
    </p:spTree>
  </p:cSld>
  <p:clrMapOvr>
    <a:masterClrMapping/>
  </p:clrMapOvr>
</p:notes>
</file>

<file path=sdk/ppt/notesSlides/notesSlide4.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h32b5fa44330d55a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h32b5fa44330d55a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sourceSlide4; duration=60 seconds; start=20:00; end=21:00]</a:t>
            </a:r>
          </a:p>
        </p:txBody>
      </p:sp>
    </p:spTree>
  </p:cSld>
  <p:clrMapOvr>
    <a:masterClrMapping/>
  </p:clrMapOvr>
</p:notes>
</file>

<file path=sdk/ppt/notesSlides/notesSlide5.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h32b5fa44330d55aa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h32b5fa44330d55aa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sourceSlide5; duration=60 seconds; start=21:00; end=22:00]</a:t>
            </a:r>
          </a:p>
        </p:txBody>
      </p:sp>
    </p:spTree>
  </p:cSld>
  <p:clrMapOvr>
    <a:masterClrMapping/>
  </p:clrMapOvr>
</p:notes>
</file>

<file path=sdk/ppt/notesSlides/notesSlide6.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h32b5fa44330d55aa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h32b5fa44330d55aa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sourceSlide6; duration=60 seconds; start=22:00; end=23:00]</a:t>
            </a:r>
          </a:p>
        </p:txBody>
      </p:sp>
    </p:spTree>
  </p:cSld>
  <p:clrMapOvr>
    <a:masterClrMapping/>
  </p:clrMapOvr>
</p:notes>
</file>

<file path=sdk/ppt/notesSlides/notesSlide7.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h32b5fa44330d55aa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h32b5fa44330d55aa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sourceSlide7; duration=60 seconds; start=23:00; end=24:00]</a:t>
            </a:r>
          </a:p>
        </p:txBody>
      </p:sp>
    </p:spTree>
  </p:cSld>
  <p:clrMapOvr>
    <a:masterClrMapping/>
  </p:clrMapOvr>
</p:notes>
</file>

<file path=sdk/ppt/notesSlides/notesSlide8.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h32b5fa44330d55a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h32b5fa44330d55a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sourceSlide8; duration=60 seconds; start=24:00; end=25:00]</a:t>
            </a:r>
          </a:p>
        </p:txBody>
      </p:sp>
    </p:spTree>
  </p:cSld>
  <p:clrMapOvr>
    <a:masterClrMapping/>
  </p:clrMapOvr>
</p:notes>
</file>

<file path=sdk/ppt/notesSlides/notesSlide9.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h32b5fa44330d55aa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h32b5fa44330d55aa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sourceSlide9; duration=60 seconds; start=25:00; end=26:00]</a:t>
            </a:r>
          </a:p>
        </p:txBody>
      </p:sp>
    </p:spTree>
  </p:cSld>
  <p:clrMapOvr>
    <a:masterClrMapping/>
  </p:clrMapOvr>
</p:notes>
</file>

<file path=sdk/ppt/notesSlides/notesSlide10.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h32b5fa44330d55aa_12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h32b5fa44330d55aa_12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sourceSlide10; duration=60 seconds; start=26:00; end=27:00]</a:t>
            </a:r>
          </a:p>
        </p:txBody>
      </p:sp>
    </p:spTree>
  </p:cSld>
  <p:clrMapOvr>
    <a:masterClrMapping/>
  </p:clrMapOvr>
</p:notes>
</file>

<file path=sdk/ppt/notesSlides/notesSlide11.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h32b5fa44330d55aa_1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h32b5fa44330d55aa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sourceSlide11; duration=60 seconds; start=27:00; end=28:00]</a:t>
            </a:r>
          </a:p>
        </p:txBody>
      </p:sp>
    </p:spTree>
  </p:cSld>
  <p:clrMapOvr>
    <a:masterClrMapping/>
  </p:clrMapOvr>
</p:notes>
</file>

<file path=sdk/ppt/notesSlides/notesSlide12.xml><?xml version="1.0" encoding="utf-8"?>
<p:notes xmlns:a="http://schemas.openxmlformats.org/drawingml/2006/main" xmlns:p="http://schemas.openxmlformats.org/presentationml/2006/main" xmlns:r="http://schemas.openxmlformats.org/officeDocument/2006/relationship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h32b5fa44330d55aa_12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h32b5fa44330d55aa_12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r>
              <a:t>[SDK import: speaker=Attila; section=SDK; sourceSlide12; duration=60 seconds; start=28:00; end=29:00]</a:t>
            </a:r>
          </a:p>
        </p:txBody>
      </p:sp>
    </p:spTree>
  </p:cSld>
  <p:clrMapOvr>
    <a:masterClrMapping/>
  </p:clrMapOvr>
</p:notes>
</file>

<file path=sdk/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h32b5fa44330d55aa_12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h32b5fa44330d55aa_1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sdk/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sdk/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6"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sdk/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sdk/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sdk/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2.png"/></Relationships>
</file>

<file path=sdk/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5.png"/><Relationship Id="rId4" Type="http://schemas.openxmlformats.org/officeDocument/2006/relationships/image" Target="../media/image2.png"/></Relationships>
</file>

<file path=sdk/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sdk/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sdk/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0" r="15741" t="0"/>
          <a:stretch/>
        </p:blipFill>
        <p:spPr>
          <a:xfrm>
            <a:off x="0" y="2252133"/>
            <a:ext cx="9144000" cy="2891367"/>
          </a:xfrm>
          <a:prstGeom prst="rect">
            <a:avLst/>
          </a:prstGeom>
          <a:noFill/>
          <a:ln>
            <a:noFill/>
          </a:ln>
        </p:spPr>
      </p:pic>
      <p:grpSp>
        <p:nvGrpSpPr>
          <p:cNvPr id="11" name="Google Shape;11;p2"/>
          <p:cNvGrpSpPr/>
          <p:nvPr/>
        </p:nvGrpSpPr>
        <p:grpSpPr>
          <a:xfrm>
            <a:off x="177800" y="1278466"/>
            <a:ext cx="8966100" cy="2277600"/>
            <a:chOff x="177800" y="1278466"/>
            <a:chExt cx="8966100" cy="2277600"/>
          </a:xfrm>
        </p:grpSpPr>
        <p:sp>
          <p:nvSpPr>
            <p:cNvPr id="12" name="Google Shape;12;p2"/>
            <p:cNvSpPr/>
            <p:nvPr/>
          </p:nvSpPr>
          <p:spPr>
            <a:xfrm>
              <a:off x="177800" y="1701800"/>
              <a:ext cx="8966100" cy="1363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 name="Google Shape;13;p2"/>
            <p:cNvSpPr/>
            <p:nvPr/>
          </p:nvSpPr>
          <p:spPr>
            <a:xfrm>
              <a:off x="6045200" y="1278466"/>
              <a:ext cx="2404500" cy="1978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 name="Google Shape;14;p2"/>
            <p:cNvSpPr/>
            <p:nvPr/>
          </p:nvSpPr>
          <p:spPr>
            <a:xfrm>
              <a:off x="1642534" y="1278466"/>
              <a:ext cx="2404500" cy="2277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15" name="Google Shape;15;p2"/>
          <p:cNvSpPr txBox="1"/>
          <p:nvPr>
            <p:ph type="ctrTitle"/>
          </p:nvPr>
        </p:nvSpPr>
        <p:spPr>
          <a:xfrm>
            <a:off x="311215" y="1251446"/>
            <a:ext cx="8010300" cy="1455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b="1" i="0" sz="4800">
                <a:solidFill>
                  <a:schemeClr val="lt1"/>
                </a:solidFill>
                <a:latin typeface="Arial"/>
                <a:ea typeface="Arial"/>
                <a:cs typeface="Arial"/>
                <a:sym typeface="Aria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16" name="Google Shape;16;p2"/>
          <p:cNvSpPr txBox="1"/>
          <p:nvPr>
            <p:ph idx="1" type="subTitle"/>
          </p:nvPr>
        </p:nvSpPr>
        <p:spPr>
          <a:xfrm>
            <a:off x="311214" y="2706624"/>
            <a:ext cx="8010300" cy="609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i="0" sz="2800">
                <a:solidFill>
                  <a:schemeClr val="accent6"/>
                </a:solidFill>
                <a:latin typeface="Arial"/>
                <a:ea typeface="Arial"/>
                <a:cs typeface="Arial"/>
                <a:sym typeface="Aria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sp>
        <p:nvSpPr>
          <p:cNvPr id="17" name="Google Shape;17;p2"/>
          <p:cNvSpPr txBox="1"/>
          <p:nvPr/>
        </p:nvSpPr>
        <p:spPr>
          <a:xfrm>
            <a:off x="5715812" y="178532"/>
            <a:ext cx="3111300" cy="307800"/>
          </a:xfrm>
          <a:prstGeom prst="rect">
            <a:avLst/>
          </a:prstGeom>
          <a:noFill/>
          <a:ln>
            <a:noFill/>
          </a:ln>
        </p:spPr>
        <p:txBody>
          <a:bodyPr anchorCtr="0" anchor="t" bIns="45700" lIns="91425" spcFirstLastPara="1" rIns="91425" wrap="square" tIns="45700">
            <a:spAutoFit/>
          </a:bodyPr>
          <a:lstStyle/>
          <a:p>
            <a:pPr indent="0" lvl="0" marL="0" marR="0" rtl="0" algn="r">
              <a:lnSpc>
                <a:spcPct val="100000"/>
              </a:lnSpc>
              <a:spcBef>
                <a:spcPts val="0"/>
              </a:spcBef>
              <a:spcAft>
                <a:spcPts val="0"/>
              </a:spcAft>
              <a:buClr>
                <a:srgbClr val="000000"/>
              </a:buClr>
              <a:buSzPts val="1400"/>
              <a:buFont typeface="Arial"/>
              <a:buNone/>
            </a:pPr>
            <a:r>
              <a:rPr b="0" i="0" lang="en-GB" sz="1400" u="none" cap="none" strike="noStrike">
                <a:solidFill>
                  <a:schemeClr val="lt1"/>
                </a:solidFill>
                <a:latin typeface="Arial"/>
                <a:ea typeface="Arial"/>
                <a:cs typeface="Arial"/>
                <a:sym typeface="Arial"/>
              </a:rPr>
              <a:t>#KubeCon #CloudNativeCon</a:t>
            </a:r>
            <a:endParaRPr b="0" i="0" sz="1400" u="none" cap="none" strike="noStrike">
              <a:solidFill>
                <a:schemeClr val="lt1"/>
              </a:solidFill>
              <a:latin typeface="Arial"/>
              <a:ea typeface="Arial"/>
              <a:cs typeface="Arial"/>
              <a:sym typeface="Arial"/>
            </a:endParaRPr>
          </a:p>
        </p:txBody>
      </p:sp>
      <p:pic>
        <p:nvPicPr>
          <p:cNvPr id="18" name="Google Shape;18;p2"/>
          <p:cNvPicPr preferRelativeResize="0"/>
          <p:nvPr/>
        </p:nvPicPr>
        <p:blipFill rotWithShape="1">
          <a:blip r:embed="rId3">
            <a:alphaModFix/>
          </a:blip>
          <a:srcRect b="0" l="0" r="0" t="0"/>
          <a:stretch/>
        </p:blipFill>
        <p:spPr>
          <a:xfrm>
            <a:off x="311214" y="181507"/>
            <a:ext cx="2062800" cy="866974"/>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sdk/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lt2"/>
        </a:solidFill>
      </p:bgPr>
    </p:bg>
    <p:spTree>
      <p:nvGrpSpPr>
        <p:cNvPr id="19" name="Shape 19"/>
        <p:cNvGrpSpPr/>
        <p:nvPr/>
      </p:nvGrpSpPr>
      <p:grpSpPr>
        <a:xfrm>
          <a:off x="0" y="0"/>
          <a:ext cx="0" cy="0"/>
          <a:chOff x="0" y="0"/>
          <a:chExt cx="0" cy="0"/>
        </a:xfrm>
      </p:grpSpPr>
      <p:pic>
        <p:nvPicPr>
          <p:cNvPr id="20" name="Google Shape;20;p3"/>
          <p:cNvPicPr preferRelativeResize="0"/>
          <p:nvPr/>
        </p:nvPicPr>
        <p:blipFill rotWithShape="1">
          <a:blip r:embed="rId2">
            <a:alphaModFix/>
          </a:blip>
          <a:srcRect b="0" l="0" r="15741" t="0"/>
          <a:stretch/>
        </p:blipFill>
        <p:spPr>
          <a:xfrm>
            <a:off x="0" y="2252133"/>
            <a:ext cx="9144000" cy="2891367"/>
          </a:xfrm>
          <a:prstGeom prst="rect">
            <a:avLst/>
          </a:prstGeom>
          <a:noFill/>
          <a:ln>
            <a:noFill/>
          </a:ln>
        </p:spPr>
      </p:pic>
      <p:grpSp>
        <p:nvGrpSpPr>
          <p:cNvPr id="21" name="Google Shape;21;p3"/>
          <p:cNvGrpSpPr/>
          <p:nvPr/>
        </p:nvGrpSpPr>
        <p:grpSpPr>
          <a:xfrm>
            <a:off x="177800" y="1278466"/>
            <a:ext cx="8966100" cy="2277600"/>
            <a:chOff x="177800" y="1278466"/>
            <a:chExt cx="8966100" cy="2277600"/>
          </a:xfrm>
        </p:grpSpPr>
        <p:sp>
          <p:nvSpPr>
            <p:cNvPr id="22" name="Google Shape;22;p3"/>
            <p:cNvSpPr/>
            <p:nvPr/>
          </p:nvSpPr>
          <p:spPr>
            <a:xfrm>
              <a:off x="177800" y="1701800"/>
              <a:ext cx="8966100" cy="13632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 name="Google Shape;23;p3"/>
            <p:cNvSpPr/>
            <p:nvPr/>
          </p:nvSpPr>
          <p:spPr>
            <a:xfrm>
              <a:off x="6045200" y="1278466"/>
              <a:ext cx="2404500" cy="19785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 name="Google Shape;24;p3"/>
            <p:cNvSpPr/>
            <p:nvPr/>
          </p:nvSpPr>
          <p:spPr>
            <a:xfrm>
              <a:off x="1642534" y="1278466"/>
              <a:ext cx="2404500" cy="22776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grpSp>
      <p:sp>
        <p:nvSpPr>
          <p:cNvPr id="25" name="Google Shape;25;p3"/>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26" name="Google Shape;26;p3"/>
          <p:cNvPicPr preferRelativeResize="0"/>
          <p:nvPr/>
        </p:nvPicPr>
        <p:blipFill rotWithShape="1">
          <a:blip r:embed="rId3">
            <a:alphaModFix/>
          </a:blip>
          <a:srcRect b="0" l="0" r="0" t="0"/>
          <a:stretch/>
        </p:blipFill>
        <p:spPr>
          <a:xfrm>
            <a:off x="311214" y="181507"/>
            <a:ext cx="2062800" cy="866974"/>
          </a:xfrm>
          <a:prstGeom prst="rect">
            <a:avLst/>
          </a:prstGeom>
          <a:noFill/>
          <a:ln>
            <a:noFill/>
          </a:ln>
        </p:spPr>
      </p:pic>
    </p:spTree>
  </p:cSld>
  <p:clrMapOvr>
    <a:masterClrMapping/>
  </p:clrMapOvr>
  <p:extLst>
    <p:ext uri="{DCECCB84-F9BA-43D5-87BE-67443E8EF086}">
      <p15:sldGuideLst>
        <p15:guide id="1" orient="horz" pos="1620">
          <p15:clr>
            <a:srgbClr val="FBAE40"/>
          </p15:clr>
        </p15:guide>
        <p15:guide id="2" pos="2880">
          <p15:clr>
            <a:srgbClr val="FBAE40"/>
          </p15:clr>
        </p15:guide>
      </p15:sldGuideLst>
    </p:ext>
  </p:extLst>
</p:sldLayout>
</file>

<file path=sdk/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p:bg>
      <p:bgPr>
        <a:solidFill>
          <a:schemeClr val="lt2"/>
        </a:solidFill>
      </p:bgPr>
    </p:bg>
    <p:spTree>
      <p:nvGrpSpPr>
        <p:cNvPr id="27" name="Shape 27"/>
        <p:cNvGrpSpPr/>
        <p:nvPr/>
      </p:nvGrpSpPr>
      <p:grpSpPr>
        <a:xfrm>
          <a:off x="0" y="0"/>
          <a:ext cx="0" cy="0"/>
          <a:chOff x="0" y="0"/>
          <a:chExt cx="0" cy="0"/>
        </a:xfrm>
      </p:grpSpPr>
      <p:grpSp>
        <p:nvGrpSpPr>
          <p:cNvPr id="28" name="Google Shape;28;p4"/>
          <p:cNvGrpSpPr/>
          <p:nvPr/>
        </p:nvGrpSpPr>
        <p:grpSpPr>
          <a:xfrm>
            <a:off x="-35" y="4475798"/>
            <a:ext cx="9143866" cy="667628"/>
            <a:chOff x="2374014" y="4484308"/>
            <a:chExt cx="9028304" cy="659191"/>
          </a:xfrm>
        </p:grpSpPr>
        <p:pic>
          <p:nvPicPr>
            <p:cNvPr id="29" name="Google Shape;29;p4"/>
            <p:cNvPicPr preferRelativeResize="0"/>
            <p:nvPr/>
          </p:nvPicPr>
          <p:blipFill rotWithShape="1">
            <a:blip r:embed="rId2">
              <a:alphaModFix/>
            </a:blip>
            <a:srcRect b="0" l="0" r="0" t="0"/>
            <a:stretch/>
          </p:blipFill>
          <p:spPr>
            <a:xfrm>
              <a:off x="6817945" y="4484308"/>
              <a:ext cx="4584373" cy="659191"/>
            </a:xfrm>
            <a:prstGeom prst="rect">
              <a:avLst/>
            </a:prstGeom>
            <a:noFill/>
            <a:ln>
              <a:noFill/>
            </a:ln>
          </p:spPr>
        </p:pic>
        <p:pic>
          <p:nvPicPr>
            <p:cNvPr id="30" name="Google Shape;30;p4"/>
            <p:cNvPicPr preferRelativeResize="0"/>
            <p:nvPr/>
          </p:nvPicPr>
          <p:blipFill rotWithShape="1">
            <a:blip r:embed="rId2">
              <a:alphaModFix/>
            </a:blip>
            <a:srcRect b="0" l="0" r="0" t="0"/>
            <a:stretch/>
          </p:blipFill>
          <p:spPr>
            <a:xfrm>
              <a:off x="2374014" y="4484308"/>
              <a:ext cx="4584373" cy="659191"/>
            </a:xfrm>
            <a:prstGeom prst="rect">
              <a:avLst/>
            </a:prstGeom>
            <a:noFill/>
            <a:ln>
              <a:noFill/>
            </a:ln>
          </p:spPr>
        </p:pic>
      </p:grpSp>
      <p:pic>
        <p:nvPicPr>
          <p:cNvPr id="31" name="Google Shape;31;p4"/>
          <p:cNvPicPr preferRelativeResize="0"/>
          <p:nvPr/>
        </p:nvPicPr>
        <p:blipFill rotWithShape="1">
          <a:blip r:embed="rId3">
            <a:alphaModFix/>
          </a:blip>
          <a:srcRect b="0" l="0" r="0" t="0"/>
          <a:stretch/>
        </p:blipFill>
        <p:spPr>
          <a:xfrm>
            <a:off x="6241724" y="615950"/>
            <a:ext cx="2902276" cy="4527550"/>
          </a:xfrm>
          <a:prstGeom prst="rect">
            <a:avLst/>
          </a:prstGeom>
          <a:noFill/>
          <a:ln>
            <a:noFill/>
          </a:ln>
        </p:spPr>
      </p:pic>
      <p:pic>
        <p:nvPicPr>
          <p:cNvPr id="32" name="Google Shape;32;p4"/>
          <p:cNvPicPr preferRelativeResize="0"/>
          <p:nvPr/>
        </p:nvPicPr>
        <p:blipFill rotWithShape="1">
          <a:blip r:embed="rId4">
            <a:alphaModFix/>
          </a:blip>
          <a:srcRect b="23715" l="12113" r="0" t="0"/>
          <a:stretch/>
        </p:blipFill>
        <p:spPr>
          <a:xfrm>
            <a:off x="-1" y="4174681"/>
            <a:ext cx="2745768" cy="968819"/>
          </a:xfrm>
          <a:prstGeom prst="rect">
            <a:avLst/>
          </a:prstGeom>
          <a:noFill/>
          <a:ln>
            <a:noFill/>
          </a:ln>
        </p:spPr>
      </p:pic>
      <p:pic>
        <p:nvPicPr>
          <p:cNvPr id="33" name="Google Shape;33;p4"/>
          <p:cNvPicPr preferRelativeResize="0"/>
          <p:nvPr/>
        </p:nvPicPr>
        <p:blipFill rotWithShape="1">
          <a:blip r:embed="rId5">
            <a:alphaModFix/>
          </a:blip>
          <a:srcRect b="1" l="0" r="0" t="6472"/>
          <a:stretch/>
        </p:blipFill>
        <p:spPr>
          <a:xfrm>
            <a:off x="4975012" y="0"/>
            <a:ext cx="1946881" cy="826052"/>
          </a:xfrm>
          <a:prstGeom prst="rect">
            <a:avLst/>
          </a:prstGeom>
          <a:noFill/>
          <a:ln>
            <a:noFill/>
          </a:ln>
        </p:spPr>
      </p:pic>
      <p:sp>
        <p:nvSpPr>
          <p:cNvPr id="34" name="Google Shape;34;p4"/>
          <p:cNvSpPr txBox="1"/>
          <p:nvPr>
            <p:ph type="title"/>
          </p:nvPr>
        </p:nvSpPr>
        <p:spPr>
          <a:xfrm>
            <a:off x="311700" y="1940538"/>
            <a:ext cx="8520600" cy="841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3600"/>
              <a:buNone/>
              <a:defRPr sz="3600">
                <a:solidFill>
                  <a:schemeClr val="lt1"/>
                </a:solidFill>
              </a:defRPr>
            </a:lvl1pPr>
            <a:lvl2pPr lvl="1" algn="ctr">
              <a:lnSpc>
                <a:spcPct val="100000"/>
              </a:lnSpc>
              <a:spcBef>
                <a:spcPts val="0"/>
              </a:spcBef>
              <a:spcAft>
                <a:spcPts val="0"/>
              </a:spcAft>
              <a:buClr>
                <a:schemeClr val="lt1"/>
              </a:buClr>
              <a:buSzPts val="3600"/>
              <a:buNone/>
              <a:defRPr sz="3600">
                <a:solidFill>
                  <a:schemeClr val="lt1"/>
                </a:solidFill>
              </a:defRPr>
            </a:lvl2pPr>
            <a:lvl3pPr lvl="2" algn="ctr">
              <a:lnSpc>
                <a:spcPct val="100000"/>
              </a:lnSpc>
              <a:spcBef>
                <a:spcPts val="0"/>
              </a:spcBef>
              <a:spcAft>
                <a:spcPts val="0"/>
              </a:spcAft>
              <a:buClr>
                <a:schemeClr val="lt1"/>
              </a:buClr>
              <a:buSzPts val="3600"/>
              <a:buNone/>
              <a:defRPr sz="3600">
                <a:solidFill>
                  <a:schemeClr val="lt1"/>
                </a:solidFill>
              </a:defRPr>
            </a:lvl3pPr>
            <a:lvl4pPr lvl="3" algn="ctr">
              <a:lnSpc>
                <a:spcPct val="100000"/>
              </a:lnSpc>
              <a:spcBef>
                <a:spcPts val="0"/>
              </a:spcBef>
              <a:spcAft>
                <a:spcPts val="0"/>
              </a:spcAft>
              <a:buClr>
                <a:schemeClr val="lt1"/>
              </a:buClr>
              <a:buSzPts val="3600"/>
              <a:buNone/>
              <a:defRPr sz="3600">
                <a:solidFill>
                  <a:schemeClr val="lt1"/>
                </a:solidFill>
              </a:defRPr>
            </a:lvl4pPr>
            <a:lvl5pPr lvl="4" algn="ctr">
              <a:lnSpc>
                <a:spcPct val="100000"/>
              </a:lnSpc>
              <a:spcBef>
                <a:spcPts val="0"/>
              </a:spcBef>
              <a:spcAft>
                <a:spcPts val="0"/>
              </a:spcAft>
              <a:buClr>
                <a:schemeClr val="lt1"/>
              </a:buClr>
              <a:buSzPts val="3600"/>
              <a:buNone/>
              <a:defRPr sz="3600">
                <a:solidFill>
                  <a:schemeClr val="lt1"/>
                </a:solidFill>
              </a:defRPr>
            </a:lvl5pPr>
            <a:lvl6pPr lvl="5" algn="ctr">
              <a:lnSpc>
                <a:spcPct val="100000"/>
              </a:lnSpc>
              <a:spcBef>
                <a:spcPts val="0"/>
              </a:spcBef>
              <a:spcAft>
                <a:spcPts val="0"/>
              </a:spcAft>
              <a:buClr>
                <a:schemeClr val="lt1"/>
              </a:buClr>
              <a:buSzPts val="3600"/>
              <a:buNone/>
              <a:defRPr sz="3600">
                <a:solidFill>
                  <a:schemeClr val="lt1"/>
                </a:solidFill>
              </a:defRPr>
            </a:lvl6pPr>
            <a:lvl7pPr lvl="6" algn="ctr">
              <a:lnSpc>
                <a:spcPct val="100000"/>
              </a:lnSpc>
              <a:spcBef>
                <a:spcPts val="0"/>
              </a:spcBef>
              <a:spcAft>
                <a:spcPts val="0"/>
              </a:spcAft>
              <a:buClr>
                <a:schemeClr val="lt1"/>
              </a:buClr>
              <a:buSzPts val="3600"/>
              <a:buNone/>
              <a:defRPr sz="3600">
                <a:solidFill>
                  <a:schemeClr val="lt1"/>
                </a:solidFill>
              </a:defRPr>
            </a:lvl7pPr>
            <a:lvl8pPr lvl="7" algn="ctr">
              <a:lnSpc>
                <a:spcPct val="100000"/>
              </a:lnSpc>
              <a:spcBef>
                <a:spcPts val="0"/>
              </a:spcBef>
              <a:spcAft>
                <a:spcPts val="0"/>
              </a:spcAft>
              <a:buClr>
                <a:schemeClr val="lt1"/>
              </a:buClr>
              <a:buSzPts val="3600"/>
              <a:buNone/>
              <a:defRPr sz="3600">
                <a:solidFill>
                  <a:schemeClr val="lt1"/>
                </a:solidFill>
              </a:defRPr>
            </a:lvl8pPr>
            <a:lvl9pPr lvl="8" algn="ctr">
              <a:lnSpc>
                <a:spcPct val="100000"/>
              </a:lnSpc>
              <a:spcBef>
                <a:spcPts val="0"/>
              </a:spcBef>
              <a:spcAft>
                <a:spcPts val="0"/>
              </a:spcAft>
              <a:buClr>
                <a:schemeClr val="lt1"/>
              </a:buClr>
              <a:buSzPts val="3600"/>
              <a:buNone/>
              <a:defRPr sz="3600">
                <a:solidFill>
                  <a:schemeClr val="lt1"/>
                </a:solidFill>
              </a:defRPr>
            </a:lvl9pPr>
          </a:lstStyle>
          <a:p/>
        </p:txBody>
      </p:sp>
      <p:pic>
        <p:nvPicPr>
          <p:cNvPr id="35" name="Google Shape;35;p4"/>
          <p:cNvPicPr preferRelativeResize="0"/>
          <p:nvPr/>
        </p:nvPicPr>
        <p:blipFill rotWithShape="1">
          <a:blip r:embed="rId6">
            <a:alphaModFix/>
          </a:blip>
          <a:srcRect b="0" l="0" r="0" t="0"/>
          <a:stretch/>
        </p:blipFill>
        <p:spPr>
          <a:xfrm>
            <a:off x="311214" y="181507"/>
            <a:ext cx="2062800" cy="866974"/>
          </a:xfrm>
          <a:prstGeom prst="rect">
            <a:avLst/>
          </a:prstGeom>
          <a:noFill/>
          <a:ln>
            <a:noFill/>
          </a:ln>
        </p:spPr>
      </p:pic>
    </p:spTree>
  </p:cSld>
  <p:clrMapOvr>
    <a:masterClrMapping/>
  </p:clrMapOvr>
</p:sldLayout>
</file>

<file path=sdk/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1_Section header 2">
    <p:bg>
      <p:bgPr>
        <a:solidFill>
          <a:schemeClr val="lt2"/>
        </a:solidFill>
      </p:bgPr>
    </p:bg>
    <p:spTree>
      <p:nvGrpSpPr>
        <p:cNvPr id="36" name="Shape 36"/>
        <p:cNvGrpSpPr/>
        <p:nvPr/>
      </p:nvGrpSpPr>
      <p:grpSpPr>
        <a:xfrm>
          <a:off x="0" y="0"/>
          <a:ext cx="0" cy="0"/>
          <a:chOff x="0" y="0"/>
          <a:chExt cx="0" cy="0"/>
        </a:xfrm>
      </p:grpSpPr>
      <p:grpSp>
        <p:nvGrpSpPr>
          <p:cNvPr id="37" name="Google Shape;37;p5"/>
          <p:cNvGrpSpPr/>
          <p:nvPr/>
        </p:nvGrpSpPr>
        <p:grpSpPr>
          <a:xfrm>
            <a:off x="-35" y="4475798"/>
            <a:ext cx="9143866" cy="667628"/>
            <a:chOff x="2374014" y="4484308"/>
            <a:chExt cx="9028304" cy="659191"/>
          </a:xfrm>
        </p:grpSpPr>
        <p:pic>
          <p:nvPicPr>
            <p:cNvPr id="38" name="Google Shape;38;p5"/>
            <p:cNvPicPr preferRelativeResize="0"/>
            <p:nvPr/>
          </p:nvPicPr>
          <p:blipFill rotWithShape="1">
            <a:blip r:embed="rId2">
              <a:alphaModFix/>
            </a:blip>
            <a:srcRect b="0" l="0" r="0" t="0"/>
            <a:stretch/>
          </p:blipFill>
          <p:spPr>
            <a:xfrm>
              <a:off x="6817945" y="4484308"/>
              <a:ext cx="4584373" cy="659191"/>
            </a:xfrm>
            <a:prstGeom prst="rect">
              <a:avLst/>
            </a:prstGeom>
            <a:noFill/>
            <a:ln>
              <a:noFill/>
            </a:ln>
          </p:spPr>
        </p:pic>
        <p:pic>
          <p:nvPicPr>
            <p:cNvPr id="39" name="Google Shape;39;p5"/>
            <p:cNvPicPr preferRelativeResize="0"/>
            <p:nvPr/>
          </p:nvPicPr>
          <p:blipFill rotWithShape="1">
            <a:blip r:embed="rId2">
              <a:alphaModFix/>
            </a:blip>
            <a:srcRect b="0" l="0" r="0" t="0"/>
            <a:stretch/>
          </p:blipFill>
          <p:spPr>
            <a:xfrm>
              <a:off x="2374014" y="4484308"/>
              <a:ext cx="4584373" cy="659191"/>
            </a:xfrm>
            <a:prstGeom prst="rect">
              <a:avLst/>
            </a:prstGeom>
            <a:noFill/>
            <a:ln>
              <a:noFill/>
            </a:ln>
          </p:spPr>
        </p:pic>
      </p:grpSp>
      <p:pic>
        <p:nvPicPr>
          <p:cNvPr id="40" name="Google Shape;40;p5"/>
          <p:cNvPicPr preferRelativeResize="0"/>
          <p:nvPr/>
        </p:nvPicPr>
        <p:blipFill rotWithShape="1">
          <a:blip r:embed="rId3">
            <a:alphaModFix/>
          </a:blip>
          <a:srcRect b="0" l="0" r="0" t="0"/>
          <a:stretch/>
        </p:blipFill>
        <p:spPr>
          <a:xfrm>
            <a:off x="6241724" y="615950"/>
            <a:ext cx="2902276" cy="4527550"/>
          </a:xfrm>
          <a:prstGeom prst="rect">
            <a:avLst/>
          </a:prstGeom>
          <a:noFill/>
          <a:ln>
            <a:noFill/>
          </a:ln>
        </p:spPr>
      </p:pic>
      <p:sp>
        <p:nvSpPr>
          <p:cNvPr id="41" name="Google Shape;41;p5"/>
          <p:cNvSpPr txBox="1"/>
          <p:nvPr>
            <p:ph type="ctrTitle"/>
          </p:nvPr>
        </p:nvSpPr>
        <p:spPr>
          <a:xfrm>
            <a:off x="398302" y="1373367"/>
            <a:ext cx="8010300" cy="20244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4800"/>
              <a:buNone/>
              <a:defRPr sz="4800">
                <a:solidFill>
                  <a:schemeClr val="lt1"/>
                </a:solidFill>
              </a:defRPr>
            </a:lvl1pPr>
            <a:lvl2pPr lvl="1" algn="ctr">
              <a:lnSpc>
                <a:spcPct val="100000"/>
              </a:lnSpc>
              <a:spcBef>
                <a:spcPts val="0"/>
              </a:spcBef>
              <a:spcAft>
                <a:spcPts val="0"/>
              </a:spcAft>
              <a:buClr>
                <a:schemeClr val="lt1"/>
              </a:buClr>
              <a:buSzPts val="4800"/>
              <a:buNone/>
              <a:defRPr sz="4800">
                <a:solidFill>
                  <a:schemeClr val="lt1"/>
                </a:solidFill>
              </a:defRPr>
            </a:lvl2pPr>
            <a:lvl3pPr lvl="2" algn="ctr">
              <a:lnSpc>
                <a:spcPct val="100000"/>
              </a:lnSpc>
              <a:spcBef>
                <a:spcPts val="0"/>
              </a:spcBef>
              <a:spcAft>
                <a:spcPts val="0"/>
              </a:spcAft>
              <a:buClr>
                <a:schemeClr val="lt1"/>
              </a:buClr>
              <a:buSzPts val="4800"/>
              <a:buNone/>
              <a:defRPr sz="4800">
                <a:solidFill>
                  <a:schemeClr val="lt1"/>
                </a:solidFill>
              </a:defRPr>
            </a:lvl3pPr>
            <a:lvl4pPr lvl="3" algn="ctr">
              <a:lnSpc>
                <a:spcPct val="100000"/>
              </a:lnSpc>
              <a:spcBef>
                <a:spcPts val="0"/>
              </a:spcBef>
              <a:spcAft>
                <a:spcPts val="0"/>
              </a:spcAft>
              <a:buClr>
                <a:schemeClr val="lt1"/>
              </a:buClr>
              <a:buSzPts val="4800"/>
              <a:buNone/>
              <a:defRPr sz="4800">
                <a:solidFill>
                  <a:schemeClr val="lt1"/>
                </a:solidFill>
              </a:defRPr>
            </a:lvl4pPr>
            <a:lvl5pPr lvl="4" algn="ctr">
              <a:lnSpc>
                <a:spcPct val="100000"/>
              </a:lnSpc>
              <a:spcBef>
                <a:spcPts val="0"/>
              </a:spcBef>
              <a:spcAft>
                <a:spcPts val="0"/>
              </a:spcAft>
              <a:buClr>
                <a:schemeClr val="lt1"/>
              </a:buClr>
              <a:buSzPts val="4800"/>
              <a:buNone/>
              <a:defRPr sz="4800">
                <a:solidFill>
                  <a:schemeClr val="lt1"/>
                </a:solidFill>
              </a:defRPr>
            </a:lvl5pPr>
            <a:lvl6pPr lvl="5" algn="ctr">
              <a:lnSpc>
                <a:spcPct val="100000"/>
              </a:lnSpc>
              <a:spcBef>
                <a:spcPts val="0"/>
              </a:spcBef>
              <a:spcAft>
                <a:spcPts val="0"/>
              </a:spcAft>
              <a:buClr>
                <a:schemeClr val="lt1"/>
              </a:buClr>
              <a:buSzPts val="4800"/>
              <a:buNone/>
              <a:defRPr sz="4800">
                <a:solidFill>
                  <a:schemeClr val="lt1"/>
                </a:solidFill>
              </a:defRPr>
            </a:lvl6pPr>
            <a:lvl7pPr lvl="6" algn="ctr">
              <a:lnSpc>
                <a:spcPct val="100000"/>
              </a:lnSpc>
              <a:spcBef>
                <a:spcPts val="0"/>
              </a:spcBef>
              <a:spcAft>
                <a:spcPts val="0"/>
              </a:spcAft>
              <a:buClr>
                <a:schemeClr val="lt1"/>
              </a:buClr>
              <a:buSzPts val="4800"/>
              <a:buNone/>
              <a:defRPr sz="4800">
                <a:solidFill>
                  <a:schemeClr val="lt1"/>
                </a:solidFill>
              </a:defRPr>
            </a:lvl7pPr>
            <a:lvl8pPr lvl="7" algn="ctr">
              <a:lnSpc>
                <a:spcPct val="100000"/>
              </a:lnSpc>
              <a:spcBef>
                <a:spcPts val="0"/>
              </a:spcBef>
              <a:spcAft>
                <a:spcPts val="0"/>
              </a:spcAft>
              <a:buClr>
                <a:schemeClr val="lt1"/>
              </a:buClr>
              <a:buSzPts val="4800"/>
              <a:buNone/>
              <a:defRPr sz="4800">
                <a:solidFill>
                  <a:schemeClr val="lt1"/>
                </a:solidFill>
              </a:defRPr>
            </a:lvl8pPr>
            <a:lvl9pPr lvl="8" algn="ctr">
              <a:lnSpc>
                <a:spcPct val="100000"/>
              </a:lnSpc>
              <a:spcBef>
                <a:spcPts val="0"/>
              </a:spcBef>
              <a:spcAft>
                <a:spcPts val="0"/>
              </a:spcAft>
              <a:buClr>
                <a:schemeClr val="lt1"/>
              </a:buClr>
              <a:buSzPts val="4800"/>
              <a:buNone/>
              <a:defRPr sz="4800">
                <a:solidFill>
                  <a:schemeClr val="lt1"/>
                </a:solidFill>
              </a:defRPr>
            </a:lvl9pPr>
          </a:lstStyle>
          <a:p/>
        </p:txBody>
      </p:sp>
      <p:sp>
        <p:nvSpPr>
          <p:cNvPr id="42" name="Google Shape;42;p5"/>
          <p:cNvSpPr txBox="1"/>
          <p:nvPr>
            <p:ph idx="1" type="subTitle"/>
          </p:nvPr>
        </p:nvSpPr>
        <p:spPr>
          <a:xfrm>
            <a:off x="398301" y="3397805"/>
            <a:ext cx="8010300" cy="6702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Clr>
                <a:schemeClr val="lt1"/>
              </a:buClr>
              <a:buSzPts val="2800"/>
              <a:buNone/>
              <a:defRPr b="1" sz="2800">
                <a:solidFill>
                  <a:schemeClr val="accent6"/>
                </a:solidFill>
              </a:defRPr>
            </a:lvl1pPr>
            <a:lvl2pPr lvl="1" algn="ctr">
              <a:lnSpc>
                <a:spcPct val="100000"/>
              </a:lnSpc>
              <a:spcBef>
                <a:spcPts val="0"/>
              </a:spcBef>
              <a:spcAft>
                <a:spcPts val="0"/>
              </a:spcAft>
              <a:buClr>
                <a:schemeClr val="lt1"/>
              </a:buClr>
              <a:buSzPts val="2800"/>
              <a:buNone/>
              <a:defRPr sz="2800">
                <a:solidFill>
                  <a:schemeClr val="lt1"/>
                </a:solidFill>
              </a:defRPr>
            </a:lvl2pPr>
            <a:lvl3pPr lvl="2" algn="ctr">
              <a:lnSpc>
                <a:spcPct val="100000"/>
              </a:lnSpc>
              <a:spcBef>
                <a:spcPts val="0"/>
              </a:spcBef>
              <a:spcAft>
                <a:spcPts val="0"/>
              </a:spcAft>
              <a:buClr>
                <a:schemeClr val="lt1"/>
              </a:buClr>
              <a:buSzPts val="2800"/>
              <a:buNone/>
              <a:defRPr sz="2800">
                <a:solidFill>
                  <a:schemeClr val="lt1"/>
                </a:solidFill>
              </a:defRPr>
            </a:lvl3pPr>
            <a:lvl4pPr lvl="3" algn="ctr">
              <a:lnSpc>
                <a:spcPct val="100000"/>
              </a:lnSpc>
              <a:spcBef>
                <a:spcPts val="0"/>
              </a:spcBef>
              <a:spcAft>
                <a:spcPts val="0"/>
              </a:spcAft>
              <a:buClr>
                <a:schemeClr val="lt1"/>
              </a:buClr>
              <a:buSzPts val="2800"/>
              <a:buNone/>
              <a:defRPr sz="2800">
                <a:solidFill>
                  <a:schemeClr val="lt1"/>
                </a:solidFill>
              </a:defRPr>
            </a:lvl4pPr>
            <a:lvl5pPr lvl="4" algn="ctr">
              <a:lnSpc>
                <a:spcPct val="100000"/>
              </a:lnSpc>
              <a:spcBef>
                <a:spcPts val="0"/>
              </a:spcBef>
              <a:spcAft>
                <a:spcPts val="0"/>
              </a:spcAft>
              <a:buClr>
                <a:schemeClr val="lt1"/>
              </a:buClr>
              <a:buSzPts val="2800"/>
              <a:buNone/>
              <a:defRPr sz="2800">
                <a:solidFill>
                  <a:schemeClr val="lt1"/>
                </a:solidFill>
              </a:defRPr>
            </a:lvl5pPr>
            <a:lvl6pPr lvl="5" algn="ctr">
              <a:lnSpc>
                <a:spcPct val="100000"/>
              </a:lnSpc>
              <a:spcBef>
                <a:spcPts val="0"/>
              </a:spcBef>
              <a:spcAft>
                <a:spcPts val="0"/>
              </a:spcAft>
              <a:buClr>
                <a:schemeClr val="lt1"/>
              </a:buClr>
              <a:buSzPts val="2800"/>
              <a:buNone/>
              <a:defRPr sz="2800">
                <a:solidFill>
                  <a:schemeClr val="lt1"/>
                </a:solidFill>
              </a:defRPr>
            </a:lvl6pPr>
            <a:lvl7pPr lvl="6" algn="ctr">
              <a:lnSpc>
                <a:spcPct val="100000"/>
              </a:lnSpc>
              <a:spcBef>
                <a:spcPts val="0"/>
              </a:spcBef>
              <a:spcAft>
                <a:spcPts val="0"/>
              </a:spcAft>
              <a:buClr>
                <a:schemeClr val="lt1"/>
              </a:buClr>
              <a:buSzPts val="2800"/>
              <a:buNone/>
              <a:defRPr sz="2800">
                <a:solidFill>
                  <a:schemeClr val="lt1"/>
                </a:solidFill>
              </a:defRPr>
            </a:lvl7pPr>
            <a:lvl8pPr lvl="7" algn="ctr">
              <a:lnSpc>
                <a:spcPct val="100000"/>
              </a:lnSpc>
              <a:spcBef>
                <a:spcPts val="0"/>
              </a:spcBef>
              <a:spcAft>
                <a:spcPts val="0"/>
              </a:spcAft>
              <a:buClr>
                <a:schemeClr val="lt1"/>
              </a:buClr>
              <a:buSzPts val="2800"/>
              <a:buNone/>
              <a:defRPr sz="2800">
                <a:solidFill>
                  <a:schemeClr val="lt1"/>
                </a:solidFill>
              </a:defRPr>
            </a:lvl8pPr>
            <a:lvl9pPr lvl="8" algn="ctr">
              <a:lnSpc>
                <a:spcPct val="100000"/>
              </a:lnSpc>
              <a:spcBef>
                <a:spcPts val="0"/>
              </a:spcBef>
              <a:spcAft>
                <a:spcPts val="0"/>
              </a:spcAft>
              <a:buClr>
                <a:schemeClr val="lt1"/>
              </a:buClr>
              <a:buSzPts val="2800"/>
              <a:buNone/>
              <a:defRPr sz="2800">
                <a:solidFill>
                  <a:schemeClr val="lt1"/>
                </a:solidFill>
              </a:defRPr>
            </a:lvl9pPr>
          </a:lstStyle>
          <a:p/>
        </p:txBody>
      </p:sp>
      <p:pic>
        <p:nvPicPr>
          <p:cNvPr id="43" name="Google Shape;43;p5"/>
          <p:cNvPicPr preferRelativeResize="0"/>
          <p:nvPr/>
        </p:nvPicPr>
        <p:blipFill rotWithShape="1">
          <a:blip r:embed="rId4">
            <a:alphaModFix/>
          </a:blip>
          <a:srcRect b="0" l="0" r="0" t="0"/>
          <a:stretch/>
        </p:blipFill>
        <p:spPr>
          <a:xfrm>
            <a:off x="311214" y="181507"/>
            <a:ext cx="2062800" cy="866974"/>
          </a:xfrm>
          <a:prstGeom prst="rect">
            <a:avLst/>
          </a:prstGeom>
          <a:noFill/>
          <a:ln>
            <a:noFill/>
          </a:ln>
        </p:spPr>
      </p:pic>
    </p:spTree>
  </p:cSld>
  <p:clrMapOvr>
    <a:masterClrMapping/>
  </p:clrMapOvr>
</p:sldLayout>
</file>

<file path=sdk/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lt1"/>
        </a:solidFill>
      </p:bgPr>
    </p:bg>
    <p:spTree>
      <p:nvGrpSpPr>
        <p:cNvPr id="44" name="Shape 44"/>
        <p:cNvGrpSpPr/>
        <p:nvPr/>
      </p:nvGrpSpPr>
      <p:grpSpPr>
        <a:xfrm>
          <a:off x="0" y="0"/>
          <a:ext cx="0" cy="0"/>
          <a:chOff x="0" y="0"/>
          <a:chExt cx="0" cy="0"/>
        </a:xfrm>
      </p:grpSpPr>
      <p:sp>
        <p:nvSpPr>
          <p:cNvPr id="45" name="Google Shape;45;p6"/>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6"/>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6"/>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48" name="Google Shape;48;p6"/>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1_Title and body">
    <p:bg>
      <p:bgPr>
        <a:solidFill>
          <a:schemeClr val="lt1"/>
        </a:solidFill>
      </p:bgPr>
    </p:bg>
    <p:spTree>
      <p:nvGrpSpPr>
        <p:cNvPr id="49" name="Shape 49"/>
        <p:cNvGrpSpPr/>
        <p:nvPr/>
      </p:nvGrpSpPr>
      <p:grpSpPr>
        <a:xfrm>
          <a:off x="0" y="0"/>
          <a:ext cx="0" cy="0"/>
          <a:chOff x="0" y="0"/>
          <a:chExt cx="0" cy="0"/>
        </a:xfrm>
      </p:grpSpPr>
      <p:sp>
        <p:nvSpPr>
          <p:cNvPr id="50" name="Google Shape;50;p7"/>
          <p:cNvSpPr/>
          <p:nvPr/>
        </p:nvSpPr>
        <p:spPr>
          <a:xfrm>
            <a:off x="7100" y="5625"/>
            <a:ext cx="9136800" cy="10479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7"/>
          <p:cNvSpPr txBox="1"/>
          <p:nvPr>
            <p:ph type="title"/>
          </p:nvPr>
        </p:nvSpPr>
        <p:spPr>
          <a:xfrm>
            <a:off x="311700" y="0"/>
            <a:ext cx="6949800" cy="10479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2800"/>
              <a:buNone/>
              <a:defRPr>
                <a:solidFill>
                  <a:schemeClr val="lt1"/>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7"/>
          <p:cNvSpPr txBox="1"/>
          <p:nvPr>
            <p:ph idx="1" type="body"/>
          </p:nvPr>
        </p:nvSpPr>
        <p:spPr>
          <a:xfrm>
            <a:off x="311700" y="1152475"/>
            <a:ext cx="8520600" cy="3317400"/>
          </a:xfrm>
          <a:prstGeom prst="rect">
            <a:avLst/>
          </a:prstGeom>
          <a:noFill/>
          <a:ln>
            <a:noFill/>
          </a:ln>
        </p:spPr>
        <p:txBody>
          <a:bodyPr anchorCtr="0" anchor="t" bIns="0" lIns="0" spcFirstLastPara="1" rIns="0" wrap="square" tIns="0">
            <a:noAutofit/>
          </a:bodyPr>
          <a:lstStyle>
            <a:lvl1pPr indent="-342900" lvl="0" marL="457200" algn="l">
              <a:lnSpc>
                <a:spcPct val="115000"/>
              </a:lnSpc>
              <a:spcBef>
                <a:spcPts val="0"/>
              </a:spcBef>
              <a:spcAft>
                <a:spcPts val="0"/>
              </a:spcAft>
              <a:buSzPts val="1800"/>
              <a:buChar char="●"/>
              <a:defRPr sz="12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3" name="Google Shape;53;p7"/>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54" name="Google Shape;54;p7"/>
          <p:cNvPicPr preferRelativeResize="0"/>
          <p:nvPr/>
        </p:nvPicPr>
        <p:blipFill rotWithShape="1">
          <a:blip r:embed="rId2">
            <a:alphaModFix/>
          </a:blip>
          <a:srcRect b="0" l="0" r="0" t="0"/>
          <a:stretch/>
        </p:blipFill>
        <p:spPr>
          <a:xfrm>
            <a:off x="7577624" y="253871"/>
            <a:ext cx="1285200" cy="540157"/>
          </a:xfrm>
          <a:prstGeom prst="rect">
            <a:avLst/>
          </a:prstGeom>
          <a:noFill/>
          <a:ln>
            <a:noFill/>
          </a:ln>
        </p:spPr>
      </p:pic>
    </p:spTree>
  </p:cSld>
  <p:clrMapOvr>
    <a:masterClrMapping/>
  </p:clrMapOvr>
</p:sldLayout>
</file>

<file path=sdk/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lt1"/>
        </a:solidFill>
      </p:bgPr>
    </p:bg>
    <p:spTree>
      <p:nvGrpSpPr>
        <p:cNvPr id="55" name="Shape 55"/>
        <p:cNvGrpSpPr/>
        <p:nvPr/>
      </p:nvGrpSpPr>
      <p:grpSpPr>
        <a:xfrm>
          <a:off x="0" y="0"/>
          <a:ext cx="0" cy="0"/>
          <a:chOff x="0" y="0"/>
          <a:chExt cx="0" cy="0"/>
        </a:xfrm>
      </p:grpSpPr>
      <p:sp>
        <p:nvSpPr>
          <p:cNvPr id="56" name="Google Shape;56;p8"/>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7" name="Google Shape;57;p8"/>
          <p:cNvSpPr txBox="1"/>
          <p:nvPr>
            <p:ph idx="1" type="body"/>
          </p:nvPr>
        </p:nvSpPr>
        <p:spPr>
          <a:xfrm>
            <a:off x="3117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8" name="Google Shape;58;p8"/>
          <p:cNvSpPr txBox="1"/>
          <p:nvPr>
            <p:ph idx="2" type="body"/>
          </p:nvPr>
        </p:nvSpPr>
        <p:spPr>
          <a:xfrm>
            <a:off x="4832400" y="1152475"/>
            <a:ext cx="3999900" cy="3317400"/>
          </a:xfrm>
          <a:prstGeom prst="rect">
            <a:avLst/>
          </a:prstGeom>
          <a:noFill/>
          <a:ln>
            <a:noFill/>
          </a:ln>
        </p:spPr>
        <p:txBody>
          <a:bodyPr anchorCtr="0" anchor="t" bIns="0" lIns="0" spcFirstLastPara="1" rIns="0" wrap="square" tIns="0">
            <a:noAutofit/>
          </a:bodyPr>
          <a:lstStyle>
            <a:lvl1pPr indent="-317500" lvl="0" marL="457200" algn="l">
              <a:lnSpc>
                <a:spcPct val="115000"/>
              </a:lnSpc>
              <a:spcBef>
                <a:spcPts val="0"/>
              </a:spcBef>
              <a:spcAft>
                <a:spcPts val="0"/>
              </a:spcAft>
              <a:buSzPts val="14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9" name="Google Shape;59;p8"/>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60" name="Google Shape;60;p8"/>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lt1"/>
        </a:solid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solidFill>
                  <a:srgbClr val="00144C"/>
                </a:solidFill>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3" name="Google Shape;63;p9"/>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id="64" name="Google Shape;64;p9"/>
          <p:cNvPicPr preferRelativeResize="0"/>
          <p:nvPr/>
        </p:nvPicPr>
        <p:blipFill rotWithShape="1">
          <a:blip r:embed="rId2">
            <a:alphaModFix/>
          </a:blip>
          <a:srcRect b="0" l="0" r="0" t="0"/>
          <a:stretch/>
        </p:blipFill>
        <p:spPr>
          <a:xfrm>
            <a:off x="311700" y="4591416"/>
            <a:ext cx="1112400" cy="467531"/>
          </a:xfrm>
          <a:prstGeom prst="rect">
            <a:avLst/>
          </a:prstGeom>
          <a:noFill/>
          <a:ln>
            <a:noFill/>
          </a:ln>
        </p:spPr>
      </p:pic>
    </p:spTree>
  </p:cSld>
  <p:clrMapOvr>
    <a:masterClrMapping/>
  </p:clrMapOvr>
</p:sldLayout>
</file>

<file path=sdk/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sdk/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chemeClr val="accent1"/>
              </a:buClr>
              <a:buSzPts val="2800"/>
              <a:buFont typeface="Arial"/>
              <a:buNone/>
              <a:defRPr b="1" i="0" sz="2800" u="none" cap="none" strike="noStrike">
                <a:solidFill>
                  <a:schemeClr val="accent1"/>
                </a:solidFill>
                <a:latin typeface="Arial"/>
                <a:ea typeface="Arial"/>
                <a:cs typeface="Arial"/>
                <a:sym typeface="Arial"/>
              </a:defRPr>
            </a:lvl1pPr>
            <a:lvl2pPr lvl="1"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2pPr>
            <a:lvl3pPr lvl="2"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3pPr>
            <a:lvl4pPr lvl="3"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4pPr>
            <a:lvl5pPr lvl="4"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5pPr>
            <a:lvl6pPr lvl="5"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6pPr>
            <a:lvl7pPr lvl="6"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7pPr>
            <a:lvl8pPr lvl="7"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8pPr>
            <a:lvl9pPr lvl="8" marR="0" rtl="0" algn="l">
              <a:lnSpc>
                <a:spcPct val="100000"/>
              </a:lnSpc>
              <a:spcBef>
                <a:spcPts val="0"/>
              </a:spcBef>
              <a:spcAft>
                <a:spcPts val="0"/>
              </a:spcAft>
              <a:buClr>
                <a:schemeClr val="accent1"/>
              </a:buClr>
              <a:buSzPts val="2800"/>
              <a:buFont typeface="Arial"/>
              <a:buNone/>
              <a:defRPr b="0" i="0" sz="2800" u="none" cap="none" strike="noStrike">
                <a:solidFill>
                  <a:schemeClr val="accent1"/>
                </a:solidFill>
                <a:latin typeface="Arial"/>
                <a:ea typeface="Arial"/>
                <a:cs typeface="Arial"/>
                <a:sym typeface="Aria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0" lIns="0" spcFirstLastPara="1" rIns="0" wrap="square" tIns="0">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283600" y="4663217"/>
            <a:ext cx="548700" cy="3936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1"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sdk/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sdk/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hyperlink" Target="https://github.com/operator-framework/java-operator-sdk" TargetMode="External"/></Relationships>
</file>

<file path=sdk/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hyperlink" Target="https://github.com/kubernetes/enhancements/tree/master/keps/sig-api-machinery/5504-comparable-resource-version" TargetMode="External"/><Relationship Id="rId4" Type="http://schemas.openxmlformats.org/officeDocument/2006/relationships/hyperlink" Target="https://javaoperatorsdk.io/blog/2026/03/13/welcome-read-cache-after-write-consistency/" TargetMode="External"/></Relationships>
</file>

<file path=sdk/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9.png"/></Relationships>
</file>

<file path=sdk/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sdk/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png"/></Relationships>
</file>

<file path=sdk/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github.com/operator-framework/java-operator-sdk/blob/main/operator-framework-core/src/main/java/io/javaoperatorsdk/operator/processing/event/source/informer/pool/InformerClassifier.java#L56-L64" TargetMode="External"/></Relationships>
</file>

<file path=sdk/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1.png"/></Relationships>
</file>

<file path=sdk/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sdk/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sdk/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0.png"/></Relationships>
</file>

<file path=sdk/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sdk/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sdk/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0"/>
          <p:cNvSpPr txBox="1"/>
          <p:nvPr>
            <p:ph type="ctrTitle"/>
          </p:nvPr>
        </p:nvSpPr>
        <p:spPr>
          <a:xfrm>
            <a:off x="311225" y="1251450"/>
            <a:ext cx="8063400" cy="15714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sz="3800"/>
              <a:t>The Next Era of Kubernetes Operator Lifecycle Management</a:t>
            </a:r>
            <a:endParaRPr sz="3800"/>
          </a:p>
        </p:txBody>
      </p:sp>
      <p:sp>
        <p:nvSpPr>
          <p:cNvPr id="70" name="Google Shape;70;p10"/>
          <p:cNvSpPr txBox="1"/>
          <p:nvPr/>
        </p:nvSpPr>
        <p:spPr>
          <a:xfrm>
            <a:off x="311225" y="2790950"/>
            <a:ext cx="3245700" cy="652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GB" sz="1600">
                <a:solidFill>
                  <a:schemeClr val="lt1"/>
                </a:solidFill>
              </a:rPr>
              <a:t>Attila Mészáros @ Apple </a:t>
            </a:r>
            <a:br>
              <a:rPr b="1" lang="en-GB" sz="1600">
                <a:solidFill>
                  <a:schemeClr val="lt1"/>
                </a:solidFill>
              </a:rPr>
            </a:br>
            <a:r>
              <a:rPr b="1" lang="en-GB" sz="1200">
                <a:solidFill>
                  <a:schemeClr val="lt1"/>
                </a:solidFill>
              </a:rPr>
              <a:t>Not a contribution</a:t>
            </a:r>
            <a:endParaRPr b="1" sz="1200">
              <a:solidFill>
                <a:schemeClr val="lt1"/>
              </a:solidFill>
            </a:endParaRPr>
          </a:p>
        </p:txBody>
      </p:sp>
    </p:spTree>
  </p:cSld>
  <p:clrMapOvr>
    <a:masterClrMapping/>
  </p:clrMapOvr>
</p:sld>
</file>

<file path=sdk/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1"/>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Attila who?</a:t>
            </a:r>
            <a:endParaRPr/>
          </a:p>
        </p:txBody>
      </p:sp>
      <p:sp>
        <p:nvSpPr>
          <p:cNvPr id="76" name="Google Shape;76;p11"/>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Maintainer of</a:t>
            </a:r>
            <a:r>
              <a:rPr lang="en-GB" u="sng">
                <a:solidFill>
                  <a:schemeClr val="hlink"/>
                </a:solidFill>
                <a:hlinkClick r:id="rId3"/>
              </a:rPr>
              <a:t> Java Operator SDK</a:t>
            </a:r>
            <a:endParaRPr/>
          </a:p>
          <a:p>
            <a:pPr indent="-342900" lvl="0" marL="457200" rtl="0" algn="l">
              <a:spcBef>
                <a:spcPts val="0"/>
              </a:spcBef>
              <a:spcAft>
                <a:spcPts val="0"/>
              </a:spcAft>
              <a:buSzPts val="1800"/>
              <a:buChar char="●"/>
            </a:pPr>
            <a:r>
              <a:rPr lang="en-GB"/>
              <a:t>Member of Operator Framework steering committee</a:t>
            </a:r>
            <a:endParaRPr/>
          </a:p>
          <a:p>
            <a:pPr indent="-342900" lvl="0" marL="457200" rtl="0" algn="l">
              <a:spcBef>
                <a:spcPts val="0"/>
              </a:spcBef>
              <a:spcAft>
                <a:spcPts val="0"/>
              </a:spcAft>
              <a:buSzPts val="1800"/>
              <a:buChar char="●"/>
            </a:pPr>
            <a:r>
              <a:rPr lang="en-GB"/>
              <a:t>Staff Software Engineer @ Apple</a:t>
            </a:r>
            <a:endParaRPr/>
          </a:p>
          <a:p>
            <a:pPr indent="-317500" lvl="1" marL="914400" rtl="0" algn="l">
              <a:spcBef>
                <a:spcPts val="0"/>
              </a:spcBef>
              <a:spcAft>
                <a:spcPts val="0"/>
              </a:spcAft>
              <a:buSzPts val="1400"/>
              <a:buChar char="○"/>
            </a:pPr>
            <a:r>
              <a:rPr lang="en-GB"/>
              <a:t>Flink team</a:t>
            </a:r>
            <a:endParaRPr/>
          </a:p>
          <a:p>
            <a:pPr indent="-317500" lvl="1" marL="914400" rtl="0" algn="l">
              <a:spcBef>
                <a:spcPts val="0"/>
              </a:spcBef>
              <a:spcAft>
                <a:spcPts val="0"/>
              </a:spcAft>
              <a:buSzPts val="1400"/>
              <a:buChar char="○"/>
            </a:pPr>
            <a:r>
              <a:rPr lang="en-GB"/>
              <a:t>Building the data platform</a:t>
            </a:r>
            <a:endParaRPr/>
          </a:p>
          <a:p>
            <a:pPr indent="-317500" lvl="1" marL="914400" rtl="0" algn="l">
              <a:spcBef>
                <a:spcPts val="0"/>
              </a:spcBef>
              <a:spcAft>
                <a:spcPts val="0"/>
              </a:spcAft>
              <a:buSzPts val="1400"/>
              <a:buChar char="○"/>
            </a:pPr>
            <a:r>
              <a:rPr lang="en-GB"/>
              <a:t>Apache Flink and Apache Spark Kubernetes Operator</a:t>
            </a:r>
            <a:endParaRPr/>
          </a:p>
          <a:p>
            <a:pPr indent="-342900" lvl="0" marL="457200" rtl="0" algn="l">
              <a:spcBef>
                <a:spcPts val="0"/>
              </a:spcBef>
              <a:spcAft>
                <a:spcPts val="0"/>
              </a:spcAft>
              <a:buSzPts val="1800"/>
              <a:buChar char="●"/>
            </a:pPr>
            <a:r>
              <a:rPr lang="en-GB"/>
              <a:t>ex Principal Engineer @ RedHat; Form3, Container Solutions,…</a:t>
            </a:r>
            <a:br>
              <a:rPr lang="en-GB"/>
            </a:br>
            <a:endParaRPr sz="1100">
              <a:solidFill>
                <a:schemeClr val="dk1"/>
              </a:solidFill>
            </a:endParaRPr>
          </a:p>
          <a:p>
            <a:pPr indent="0" lvl="0" marL="0" rtl="0" algn="l">
              <a:spcBef>
                <a:spcPts val="0"/>
              </a:spcBef>
              <a:spcAft>
                <a:spcPts val="0"/>
              </a:spcAft>
              <a:buNone/>
            </a:pPr>
            <a:r>
              <a:t/>
            </a:r>
            <a:endParaRPr/>
          </a:p>
        </p:txBody>
      </p:sp>
    </p:spTree>
  </p:cSld>
  <p:clrMapOvr>
    <a:masterClrMapping/>
  </p:clrMapOvr>
</p:sld>
</file>

<file path=sdk/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12"/>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Read-Cache-After-Write Consistency</a:t>
            </a:r>
            <a:endParaRPr/>
          </a:p>
        </p:txBody>
      </p:sp>
      <p:sp>
        <p:nvSpPr>
          <p:cNvPr id="82" name="Google Shape;82;p12"/>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since v5.3</a:t>
            </a:r>
            <a:endParaRPr/>
          </a:p>
          <a:p>
            <a:pPr indent="-342900" lvl="0" marL="457200" rtl="0" algn="l">
              <a:spcBef>
                <a:spcPts val="0"/>
              </a:spcBef>
              <a:spcAft>
                <a:spcPts val="0"/>
              </a:spcAft>
              <a:buSzPts val="1800"/>
              <a:buChar char="●"/>
            </a:pPr>
            <a:r>
              <a:rPr lang="en-GB"/>
              <a:t>API:  </a:t>
            </a:r>
            <a:endParaRPr>
              <a:solidFill>
                <a:srgbClr val="A64D79"/>
              </a:solidFill>
              <a:highlight>
                <a:srgbClr val="CCCCCC"/>
              </a:highlight>
            </a:endParaRPr>
          </a:p>
          <a:p>
            <a:pPr indent="-317500" lvl="1" marL="914400" rtl="0" algn="l">
              <a:spcBef>
                <a:spcPts val="0"/>
              </a:spcBef>
              <a:spcAft>
                <a:spcPts val="0"/>
              </a:spcAft>
              <a:buSzPts val="1400"/>
              <a:buChar char="○"/>
            </a:pPr>
            <a:r>
              <a:rPr lang="en-GB">
                <a:solidFill>
                  <a:srgbClr val="A64D79"/>
                </a:solidFill>
                <a:highlight>
                  <a:srgbClr val="CCCCCC"/>
                </a:highlight>
              </a:rPr>
              <a:t>UpdateControl.patchStatus(resource)</a:t>
            </a:r>
            <a:endParaRPr/>
          </a:p>
          <a:p>
            <a:pPr indent="-317500" lvl="1" marL="914400" rtl="0" algn="l">
              <a:spcBef>
                <a:spcPts val="0"/>
              </a:spcBef>
              <a:spcAft>
                <a:spcPts val="0"/>
              </a:spcAft>
              <a:buSzPts val="1400"/>
              <a:buChar char="○"/>
            </a:pPr>
            <a:r>
              <a:rPr lang="en-GB" sz="1200">
                <a:solidFill>
                  <a:srgbClr val="A64D79"/>
                </a:solidFill>
                <a:highlight>
                  <a:srgbClr val="CCCCCC"/>
                </a:highlight>
              </a:rPr>
              <a:t>context.</a:t>
            </a:r>
            <a:r>
              <a:rPr b="1" lang="en-GB" sz="1200">
                <a:solidFill>
                  <a:srgbClr val="A64D79"/>
                </a:solidFill>
                <a:highlight>
                  <a:srgbClr val="CCCCCC"/>
                </a:highlight>
              </a:rPr>
              <a:t>resourceOperations()</a:t>
            </a:r>
            <a:r>
              <a:rPr lang="en-GB" sz="1200">
                <a:solidFill>
                  <a:srgbClr val="A64D79"/>
                </a:solidFill>
                <a:highlight>
                  <a:srgbClr val="CCCCCC"/>
                </a:highlight>
              </a:rPr>
              <a:t>.serverSideApply(resource);</a:t>
            </a:r>
            <a:endParaRPr/>
          </a:p>
          <a:p>
            <a:pPr indent="-342900" lvl="0" marL="457200" rtl="0" algn="l">
              <a:spcBef>
                <a:spcPts val="0"/>
              </a:spcBef>
              <a:spcAft>
                <a:spcPts val="0"/>
              </a:spcAft>
              <a:buSzPts val="1800"/>
              <a:buChar char="●"/>
            </a:pPr>
            <a:r>
              <a:rPr lang="en-GB"/>
              <a:t>Additional cache brings complexity:</a:t>
            </a:r>
            <a:endParaRPr/>
          </a:p>
          <a:p>
            <a:pPr indent="-317500" lvl="1" marL="914400" rtl="0" algn="l">
              <a:spcBef>
                <a:spcPts val="0"/>
              </a:spcBef>
              <a:spcAft>
                <a:spcPts val="0"/>
              </a:spcAft>
              <a:buSzPts val="1400"/>
              <a:buChar char="○"/>
            </a:pPr>
            <a:r>
              <a:rPr lang="en-GB"/>
              <a:t>Indexers</a:t>
            </a:r>
            <a:endParaRPr/>
          </a:p>
          <a:p>
            <a:pPr indent="-317500" lvl="1" marL="914400" rtl="0" algn="l">
              <a:spcBef>
                <a:spcPts val="0"/>
              </a:spcBef>
              <a:spcAft>
                <a:spcPts val="0"/>
              </a:spcAft>
              <a:buSzPts val="1400"/>
              <a:buChar char="○"/>
            </a:pPr>
            <a:r>
              <a:rPr lang="en-GB"/>
              <a:t>Items store</a:t>
            </a:r>
            <a:endParaRPr/>
          </a:p>
          <a:p>
            <a:pPr indent="-342900" lvl="0" marL="457200" rtl="0" algn="l">
              <a:spcBef>
                <a:spcPts val="0"/>
              </a:spcBef>
              <a:spcAft>
                <a:spcPts val="0"/>
              </a:spcAft>
              <a:buSzPts val="1800"/>
              <a:buChar char="●"/>
            </a:pPr>
            <a:r>
              <a:rPr lang="en-GB" u="sng">
                <a:solidFill>
                  <a:schemeClr val="hlink"/>
                </a:solidFill>
                <a:hlinkClick r:id="rId3"/>
              </a:rPr>
              <a:t>Comparable Resource Versions KEP</a:t>
            </a:r>
            <a:endParaRPr/>
          </a:p>
          <a:p>
            <a:pPr indent="-342900" lvl="0" marL="457200" rtl="0" algn="l">
              <a:spcBef>
                <a:spcPts val="0"/>
              </a:spcBef>
              <a:spcAft>
                <a:spcPts val="0"/>
              </a:spcAft>
              <a:buSzPts val="1800"/>
              <a:buChar char="●"/>
            </a:pPr>
            <a:r>
              <a:rPr lang="en-GB" u="sng">
                <a:solidFill>
                  <a:schemeClr val="hlink"/>
                </a:solidFill>
                <a:hlinkClick r:id="rId4"/>
              </a:rPr>
              <a:t>Read-cache-after-write consistency blog</a:t>
            </a:r>
            <a:endParaRPr/>
          </a:p>
          <a:p>
            <a:pPr indent="0" lvl="0" marL="0" rtl="0" algn="l">
              <a:spcBef>
                <a:spcPts val="0"/>
              </a:spcBef>
              <a:spcAft>
                <a:spcPts val="0"/>
              </a:spcAft>
              <a:buNone/>
            </a:pPr>
            <a:r>
              <a:t/>
            </a:r>
            <a:endParaRPr/>
          </a:p>
        </p:txBody>
      </p:sp>
    </p:spTree>
  </p:cSld>
  <p:clrMapOvr>
    <a:masterClrMapping/>
  </p:clrMapOvr>
</p:sld>
</file>

<file path=sdk/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Read-Cache-After-Write Consistency</a:t>
            </a:r>
            <a:endParaRPr/>
          </a:p>
        </p:txBody>
      </p:sp>
      <p:pic>
        <p:nvPicPr>
          <p:cNvPr id="88" name="Google Shape;88;p13"/>
          <p:cNvPicPr preferRelativeResize="0"/>
          <p:nvPr/>
        </p:nvPicPr>
        <p:blipFill>
          <a:blip r:embed="rId3">
            <a:alphaModFix/>
          </a:blip>
          <a:stretch>
            <a:fillRect/>
          </a:stretch>
        </p:blipFill>
        <p:spPr>
          <a:xfrm>
            <a:off x="912900" y="829825"/>
            <a:ext cx="6702374" cy="3777949"/>
          </a:xfrm>
          <a:prstGeom prst="rect">
            <a:avLst/>
          </a:prstGeom>
          <a:noFill/>
          <a:ln>
            <a:noFill/>
          </a:ln>
        </p:spPr>
      </p:pic>
    </p:spTree>
  </p:cSld>
  <p:clrMapOvr>
    <a:masterClrMapping/>
  </p:clrMapOvr>
</p:sld>
</file>

<file path=sdk/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Event Filtering - API &amp; Challenges</a:t>
            </a:r>
            <a:endParaRPr/>
          </a:p>
        </p:txBody>
      </p:sp>
      <p:sp>
        <p:nvSpPr>
          <p:cNvPr id="94" name="Google Shape;94;p14"/>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Filter out events for our own updates</a:t>
            </a:r>
            <a:endParaRPr/>
          </a:p>
          <a:p>
            <a:pPr indent="-342900" lvl="0" marL="457200" rtl="0" algn="l">
              <a:spcBef>
                <a:spcPts val="0"/>
              </a:spcBef>
              <a:spcAft>
                <a:spcPts val="0"/>
              </a:spcAft>
              <a:buSzPts val="1800"/>
              <a:buChar char="●"/>
            </a:pPr>
            <a:r>
              <a:rPr lang="en-GB"/>
              <a:t>Challenges</a:t>
            </a:r>
            <a:endParaRPr/>
          </a:p>
          <a:p>
            <a:pPr indent="-317500" lvl="1" marL="914400" rtl="0" algn="l">
              <a:spcBef>
                <a:spcPts val="0"/>
              </a:spcBef>
              <a:spcAft>
                <a:spcPts val="0"/>
              </a:spcAft>
              <a:buSzPts val="1400"/>
              <a:buAutoNum type="alphaLcPeriod"/>
            </a:pPr>
            <a:r>
              <a:rPr lang="en-GB"/>
              <a:t>Informer lost event problem</a:t>
            </a:r>
            <a:endParaRPr/>
          </a:p>
          <a:p>
            <a:pPr indent="-317500" lvl="1" marL="914400" rtl="0" algn="l">
              <a:spcBef>
                <a:spcPts val="0"/>
              </a:spcBef>
              <a:spcAft>
                <a:spcPts val="0"/>
              </a:spcAft>
              <a:buSzPts val="1400"/>
              <a:buAutoNum type="alphaLcPeriod"/>
            </a:pPr>
            <a:r>
              <a:rPr lang="en-GB"/>
              <a:t>Our update did not change the resource but other actor did concurrently</a:t>
            </a:r>
            <a:endParaRPr/>
          </a:p>
          <a:p>
            <a:pPr indent="-342900" lvl="0" marL="457200" rtl="0" algn="l">
              <a:spcBef>
                <a:spcPts val="0"/>
              </a:spcBef>
              <a:spcAft>
                <a:spcPts val="0"/>
              </a:spcAft>
              <a:buSzPts val="1800"/>
              <a:buChar char="●"/>
            </a:pPr>
            <a:r>
              <a:rPr lang="en-GB"/>
              <a:t> </a:t>
            </a:r>
            <a:r>
              <a:rPr lang="en-GB">
                <a:solidFill>
                  <a:srgbClr val="A64D79"/>
                </a:solidFill>
                <a:highlight>
                  <a:srgbClr val="CCCCCC"/>
                </a:highlight>
              </a:rPr>
              <a:t>context.</a:t>
            </a:r>
            <a:r>
              <a:rPr b="1" lang="en-GB">
                <a:solidFill>
                  <a:srgbClr val="A64D79"/>
                </a:solidFill>
                <a:highlight>
                  <a:srgbClr val="CCCCCC"/>
                </a:highlight>
              </a:rPr>
              <a:t>resourceOperations()</a:t>
            </a:r>
            <a:r>
              <a:rPr lang="en-GB">
                <a:solidFill>
                  <a:srgbClr val="A64D79"/>
                </a:solidFill>
                <a:highlight>
                  <a:srgbClr val="CCCCCC"/>
                </a:highlight>
              </a:rPr>
              <a:t>.serverSideApply(resource);</a:t>
            </a:r>
            <a:endParaRPr i="1" sz="1100">
              <a:solidFill>
                <a:srgbClr val="A64D79"/>
              </a:solidFill>
              <a:highlight>
                <a:srgbClr val="CCCCCC"/>
              </a:highlight>
            </a:endParaRPr>
          </a:p>
          <a:p>
            <a:pPr indent="0" lvl="0" marL="0" rtl="0" algn="l">
              <a:spcBef>
                <a:spcPts val="0"/>
              </a:spcBef>
              <a:spcAft>
                <a:spcPts val="0"/>
              </a:spcAft>
              <a:buNone/>
            </a:pPr>
            <a:r>
              <a:t/>
            </a:r>
            <a:endParaRPr/>
          </a:p>
        </p:txBody>
      </p:sp>
    </p:spTree>
  </p:cSld>
  <p:clrMapOvr>
    <a:masterClrMapping/>
  </p:clrMapOvr>
</p:sld>
</file>

<file path=sdk/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title"/>
          </p:nvPr>
        </p:nvSpPr>
        <p:spPr>
          <a:xfrm>
            <a:off x="311700" y="1766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Event Filtering</a:t>
            </a:r>
            <a:endParaRPr/>
          </a:p>
        </p:txBody>
      </p:sp>
      <p:sp>
        <p:nvSpPr>
          <p:cNvPr id="100" name="Google Shape;100;p15"/>
          <p:cNvSpPr txBox="1"/>
          <p:nvPr>
            <p:ph idx="1" type="body"/>
          </p:nvPr>
        </p:nvSpPr>
        <p:spPr>
          <a:xfrm>
            <a:off x="311700" y="749325"/>
            <a:ext cx="8520600" cy="493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400"/>
              <a:t>for Read-Cache-After-Write-Consistency</a:t>
            </a:r>
            <a:endParaRPr sz="1600"/>
          </a:p>
        </p:txBody>
      </p:sp>
      <p:pic>
        <p:nvPicPr>
          <p:cNvPr id="101" name="Google Shape;101;p15"/>
          <p:cNvPicPr preferRelativeResize="0"/>
          <p:nvPr/>
        </p:nvPicPr>
        <p:blipFill>
          <a:blip r:embed="rId3">
            <a:alphaModFix/>
          </a:blip>
          <a:stretch>
            <a:fillRect/>
          </a:stretch>
        </p:blipFill>
        <p:spPr>
          <a:xfrm>
            <a:off x="1566050" y="1073125"/>
            <a:ext cx="6101674" cy="3439350"/>
          </a:xfrm>
          <a:prstGeom prst="rect">
            <a:avLst/>
          </a:prstGeom>
          <a:noFill/>
          <a:ln>
            <a:noFill/>
          </a:ln>
        </p:spPr>
      </p:pic>
    </p:spTree>
  </p:cSld>
  <p:clrMapOvr>
    <a:masterClrMapping/>
  </p:clrMapOvr>
</p:sld>
</file>

<file path=sdk/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Informer Pools</a:t>
            </a:r>
            <a:endParaRPr/>
          </a:p>
        </p:txBody>
      </p:sp>
      <p:sp>
        <p:nvSpPr>
          <p:cNvPr id="107" name="Google Shape;107;p16"/>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Sharing underlying informers between controller</a:t>
            </a:r>
            <a:endParaRPr/>
          </a:p>
          <a:p>
            <a:pPr indent="-342900" lvl="0" marL="457200" rtl="0" algn="l">
              <a:spcBef>
                <a:spcPts val="0"/>
              </a:spcBef>
              <a:spcAft>
                <a:spcPts val="0"/>
              </a:spcAft>
              <a:buSzPts val="1800"/>
              <a:buChar char="●"/>
            </a:pPr>
            <a:r>
              <a:rPr lang="en-GB"/>
              <a:t>Matches the informer configuration</a:t>
            </a:r>
            <a:endParaRPr/>
          </a:p>
          <a:p>
            <a:pPr indent="-317500" lvl="1" marL="914400" rtl="0" algn="l">
              <a:spcBef>
                <a:spcPts val="0"/>
              </a:spcBef>
              <a:spcAft>
                <a:spcPts val="0"/>
              </a:spcAft>
              <a:buSzPts val="1400"/>
              <a:buChar char="○"/>
            </a:pPr>
            <a:r>
              <a:rPr lang="en-GB"/>
              <a:t>Except list limit </a:t>
            </a:r>
            <a:endParaRPr/>
          </a:p>
          <a:p>
            <a:pPr indent="-317500" lvl="1" marL="914400" rtl="0" algn="l">
              <a:spcBef>
                <a:spcPts val="0"/>
              </a:spcBef>
              <a:spcAft>
                <a:spcPts val="0"/>
              </a:spcAft>
              <a:buSzPts val="1400"/>
              <a:buChar char="○"/>
            </a:pPr>
            <a:r>
              <a:rPr lang="en-GB"/>
              <a:t>Details in </a:t>
            </a:r>
            <a:r>
              <a:rPr lang="en-GB" u="sng">
                <a:solidFill>
                  <a:schemeClr val="hlink"/>
                </a:solidFill>
                <a:hlinkClick r:id="rId3"/>
              </a:rPr>
              <a:t>InformerClassifier</a:t>
            </a:r>
            <a:endParaRPr/>
          </a:p>
          <a:p>
            <a:pPr indent="-342900" lvl="0" marL="457200" rtl="0" algn="l">
              <a:spcBef>
                <a:spcPts val="0"/>
              </a:spcBef>
              <a:spcAft>
                <a:spcPts val="0"/>
              </a:spcAft>
              <a:buSzPts val="1800"/>
              <a:buChar char="●"/>
            </a:pPr>
            <a:r>
              <a:rPr lang="en-GB"/>
              <a:t>Supports dynamic Informer registration and de-registration</a:t>
            </a:r>
            <a:endParaRPr/>
          </a:p>
        </p:txBody>
      </p:sp>
    </p:spTree>
  </p:cSld>
  <p:clrMapOvr>
    <a:masterClrMapping/>
  </p:clrMapOvr>
</p:sld>
</file>

<file path=sdk/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Informer Pools</a:t>
            </a:r>
            <a:endParaRPr/>
          </a:p>
        </p:txBody>
      </p:sp>
      <p:pic>
        <p:nvPicPr>
          <p:cNvPr id="113" name="Google Shape;113;p17"/>
          <p:cNvPicPr preferRelativeResize="0"/>
          <p:nvPr/>
        </p:nvPicPr>
        <p:blipFill>
          <a:blip r:embed="rId3">
            <a:alphaModFix/>
          </a:blip>
          <a:stretch>
            <a:fillRect/>
          </a:stretch>
        </p:blipFill>
        <p:spPr>
          <a:xfrm>
            <a:off x="1373463" y="1017725"/>
            <a:ext cx="6540225" cy="3686575"/>
          </a:xfrm>
          <a:prstGeom prst="rect">
            <a:avLst/>
          </a:prstGeom>
          <a:noFill/>
          <a:ln>
            <a:noFill/>
          </a:ln>
        </p:spPr>
      </p:pic>
    </p:spTree>
  </p:cSld>
  <p:clrMapOvr>
    <a:masterClrMapping/>
  </p:clrMapOvr>
</p:sld>
</file>

<file path=sdk/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8"/>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Observability stack enhancements</a:t>
            </a:r>
            <a:endParaRPr/>
          </a:p>
        </p:txBody>
      </p:sp>
      <p:sp>
        <p:nvSpPr>
          <p:cNvPr id="119" name="Google Shape;119;p18"/>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Facelift over </a:t>
            </a:r>
            <a:r>
              <a:rPr lang="en-GB"/>
              <a:t>Observability stack</a:t>
            </a:r>
            <a:endParaRPr/>
          </a:p>
          <a:p>
            <a:pPr indent="-342900" lvl="0" marL="457200" rtl="0" algn="l">
              <a:spcBef>
                <a:spcPts val="0"/>
              </a:spcBef>
              <a:spcAft>
                <a:spcPts val="0"/>
              </a:spcAft>
              <a:buSzPts val="1800"/>
              <a:buChar char="●"/>
            </a:pPr>
            <a:r>
              <a:rPr lang="en-GB"/>
              <a:t>Improved logging and Mapped Diagnostic Context (MDC)</a:t>
            </a:r>
            <a:endParaRPr/>
          </a:p>
          <a:p>
            <a:pPr indent="-317500" lvl="1" marL="914400" rtl="0" algn="l">
              <a:spcBef>
                <a:spcPts val="0"/>
              </a:spcBef>
              <a:spcAft>
                <a:spcPts val="0"/>
              </a:spcAft>
              <a:buSzPts val="1400"/>
              <a:buChar char="○"/>
            </a:pPr>
            <a:r>
              <a:rPr lang="en-GB"/>
              <a:t>Putting event and primary resource to MDC if available</a:t>
            </a:r>
            <a:endParaRPr/>
          </a:p>
          <a:p>
            <a:pPr indent="-342900" lvl="0" marL="457200" rtl="0" algn="l">
              <a:spcBef>
                <a:spcPts val="0"/>
              </a:spcBef>
              <a:spcAft>
                <a:spcPts val="0"/>
              </a:spcAft>
              <a:buSzPts val="1800"/>
              <a:buChar char="●"/>
            </a:pPr>
            <a:r>
              <a:rPr lang="en-GB"/>
              <a:t>Metrics API refined</a:t>
            </a:r>
            <a:endParaRPr/>
          </a:p>
          <a:p>
            <a:pPr indent="-317500" lvl="1" marL="914400" rtl="0" algn="l">
              <a:spcBef>
                <a:spcPts val="0"/>
              </a:spcBef>
              <a:spcAft>
                <a:spcPts val="0"/>
              </a:spcAft>
              <a:buSzPts val="1400"/>
              <a:buChar char="○"/>
            </a:pPr>
            <a:r>
              <a:rPr lang="en-GB"/>
              <a:t>MicrometerMetricsV2</a:t>
            </a:r>
            <a:endParaRPr/>
          </a:p>
          <a:p>
            <a:pPr indent="-317500" lvl="1" marL="914400" rtl="0" algn="l">
              <a:spcBef>
                <a:spcPts val="0"/>
              </a:spcBef>
              <a:spcAft>
                <a:spcPts val="0"/>
              </a:spcAft>
              <a:buSzPts val="1400"/>
              <a:buChar char="○"/>
            </a:pPr>
            <a:r>
              <a:rPr lang="en-GB"/>
              <a:t>Generic Grafana Dashboard</a:t>
            </a:r>
            <a:endParaRPr/>
          </a:p>
          <a:p>
            <a:pPr indent="-317500" lvl="1" marL="914400" rtl="0" algn="l">
              <a:spcBef>
                <a:spcPts val="0"/>
              </a:spcBef>
              <a:spcAft>
                <a:spcPts val="0"/>
              </a:spcAft>
              <a:buSzPts val="1400"/>
              <a:buChar char="○"/>
            </a:pPr>
            <a:r>
              <a:rPr lang="en-GB"/>
              <a:t>Sample with OTel + Prometheus + Grafana</a:t>
            </a:r>
            <a:endParaRPr/>
          </a:p>
          <a:p>
            <a:pPr indent="0" lvl="0" marL="91440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sdk/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Java Virtual Threads (WIP) </a:t>
            </a:r>
            <a:endParaRPr/>
          </a:p>
        </p:txBody>
      </p:sp>
      <p:sp>
        <p:nvSpPr>
          <p:cNvPr id="125" name="Google Shape;125;p19"/>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Planned for v5.7.0</a:t>
            </a:r>
            <a:endParaRPr/>
          </a:p>
          <a:p>
            <a:pPr indent="-342900" lvl="0" marL="457200" rtl="0" algn="l">
              <a:spcBef>
                <a:spcPts val="0"/>
              </a:spcBef>
              <a:spcAft>
                <a:spcPts val="0"/>
              </a:spcAft>
              <a:buSzPts val="1800"/>
              <a:buChar char="●"/>
            </a:pPr>
            <a:r>
              <a:rPr lang="en-GB"/>
              <a:t>We will officially support this for Java 25+ (but will work with Java 21+)</a:t>
            </a:r>
            <a:endParaRPr/>
          </a:p>
          <a:p>
            <a:pPr indent="-317500" lvl="1" marL="914400" rtl="0" algn="l">
              <a:spcBef>
                <a:spcPts val="0"/>
              </a:spcBef>
              <a:spcAft>
                <a:spcPts val="0"/>
              </a:spcAft>
              <a:buSzPts val="1400"/>
              <a:buChar char="○"/>
            </a:pPr>
            <a:r>
              <a:rPr lang="en-GB"/>
              <a:t>Replacing ThreadPools with virtual threads </a:t>
            </a:r>
            <a:r>
              <a:rPr lang="en-GB"/>
              <a:t>across</a:t>
            </a:r>
            <a:r>
              <a:rPr lang="en-GB"/>
              <a:t> framework</a:t>
            </a:r>
            <a:endParaRPr/>
          </a:p>
          <a:p>
            <a:pPr indent="-342900" lvl="0" marL="457200" rtl="0" algn="l">
              <a:spcBef>
                <a:spcPts val="0"/>
              </a:spcBef>
              <a:spcAft>
                <a:spcPts val="0"/>
              </a:spcAft>
              <a:buSzPts val="1800"/>
              <a:buChar char="●"/>
            </a:pPr>
            <a:r>
              <a:rPr lang="en-GB"/>
              <a:t>Virtually unlimited number of concurrent reconciliation</a:t>
            </a:r>
            <a:endParaRPr/>
          </a:p>
          <a:p>
            <a:pPr indent="-304800" lvl="1" marL="914400" rtl="0" algn="l">
              <a:spcBef>
                <a:spcPts val="0"/>
              </a:spcBef>
              <a:spcAft>
                <a:spcPts val="0"/>
              </a:spcAft>
              <a:buSzPts val="1200"/>
              <a:buChar char="○"/>
            </a:pPr>
            <a:r>
              <a:rPr lang="en-GB" sz="1200"/>
              <a:t>The explicit limit applies though</a:t>
            </a:r>
            <a:endParaRPr sz="1000"/>
          </a:p>
          <a:p>
            <a:pPr indent="0" lvl="0" marL="0" rtl="0" algn="l">
              <a:spcBef>
                <a:spcPts val="0"/>
              </a:spcBef>
              <a:spcAft>
                <a:spcPts val="0"/>
              </a:spcAft>
              <a:buNone/>
            </a:pPr>
            <a:r>
              <a:t/>
            </a:r>
            <a:endParaRPr sz="1200"/>
          </a:p>
        </p:txBody>
      </p:sp>
    </p:spTree>
  </p:cSld>
  <p:clrMapOvr>
    <a:masterClrMapping/>
  </p:clrMapOvr>
</p:sld>
</file>

<file path=sdk/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Java Virtual Threads (WIP) </a:t>
            </a:r>
            <a:endParaRPr/>
          </a:p>
        </p:txBody>
      </p:sp>
      <p:pic>
        <p:nvPicPr>
          <p:cNvPr id="131" name="Google Shape;131;p20"/>
          <p:cNvPicPr preferRelativeResize="0"/>
          <p:nvPr/>
        </p:nvPicPr>
        <p:blipFill>
          <a:blip r:embed="rId3">
            <a:alphaModFix/>
          </a:blip>
          <a:stretch>
            <a:fillRect/>
          </a:stretch>
        </p:blipFill>
        <p:spPr>
          <a:xfrm>
            <a:off x="1302925" y="1017725"/>
            <a:ext cx="6538149" cy="3685400"/>
          </a:xfrm>
          <a:prstGeom prst="rect">
            <a:avLst/>
          </a:prstGeom>
          <a:noFill/>
          <a:ln>
            <a:noFill/>
          </a:ln>
        </p:spPr>
      </p:pic>
    </p:spTree>
  </p:cSld>
  <p:clrMapOvr>
    <a:masterClrMapping/>
  </p:clrMapOvr>
</p:sld>
</file>

<file path=sdk/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311700" y="445025"/>
            <a:ext cx="8520600" cy="5727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Some honorable mentions…</a:t>
            </a:r>
            <a:endParaRPr/>
          </a:p>
        </p:txBody>
      </p:sp>
      <p:sp>
        <p:nvSpPr>
          <p:cNvPr id="137" name="Google Shape;137;p21"/>
          <p:cNvSpPr txBox="1"/>
          <p:nvPr>
            <p:ph idx="1" type="body"/>
          </p:nvPr>
        </p:nvSpPr>
        <p:spPr>
          <a:xfrm>
            <a:off x="311700" y="1152475"/>
            <a:ext cx="8520600" cy="33174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GB"/>
              <a:t>EventRecorder API</a:t>
            </a:r>
            <a:endParaRPr/>
          </a:p>
          <a:p>
            <a:pPr indent="-342900" lvl="0" marL="457200" rtl="0" algn="l">
              <a:spcBef>
                <a:spcPts val="0"/>
              </a:spcBef>
              <a:spcAft>
                <a:spcPts val="0"/>
              </a:spcAft>
              <a:buSzPts val="1800"/>
              <a:buChar char="●"/>
            </a:pPr>
            <a:r>
              <a:rPr lang="en-GB"/>
              <a:t>ShardSelector support</a:t>
            </a:r>
            <a:endParaRPr/>
          </a:p>
          <a:p>
            <a:pPr indent="-342900" lvl="0" marL="457200" rtl="0" algn="l">
              <a:spcBef>
                <a:spcPts val="0"/>
              </a:spcBef>
              <a:spcAft>
                <a:spcPts val="0"/>
              </a:spcAft>
              <a:buSzPts val="1800"/>
              <a:buChar char="●"/>
            </a:pPr>
            <a:r>
              <a:rPr lang="en-GB"/>
              <a:t>Documentation improvements - operations section</a:t>
            </a:r>
            <a:endParaRPr/>
          </a:p>
          <a:p>
            <a:pPr indent="0" lvl="0" marL="0" rtl="0" algn="l">
              <a:spcBef>
                <a:spcPts val="0"/>
              </a:spcBef>
              <a:spcAft>
                <a:spcPts val="0"/>
              </a:spcAft>
              <a:buNone/>
            </a:pPr>
            <a:r>
              <a:t/>
            </a:r>
            <a:endParaRPr/>
          </a:p>
        </p:txBody>
      </p:sp>
    </p:spTree>
  </p:cSld>
  <p:clrMapOvr>
    <a:masterClrMapping/>
  </p:clrMapOvr>
</p:sld>
</file>

<file path=sdk/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311700" y="1940538"/>
            <a:ext cx="8520600" cy="8418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Thank you!  Q/A</a:t>
            </a:r>
            <a:endParaRPr/>
          </a:p>
        </p:txBody>
      </p:sp>
    </p:spTree>
  </p:cSld>
  <p:clrMapOvr>
    <a:masterClrMapping/>
  </p:clrMapOvr>
</p:sld>
</file>

<file path=sdk/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sdk/ppt/theme/theme2.xml><?xml version="1.0" encoding="utf-8"?>
<a:theme xmlns:a="http://schemas.openxmlformats.org/drawingml/2006/main" xmlns:r="http://schemas.openxmlformats.org/officeDocument/2006/relationships" name="OSSNA24">
  <a:themeElements>
    <a:clrScheme name="Custom 10">
      <a:dk1>
        <a:srgbClr val="000000"/>
      </a:dk1>
      <a:lt1>
        <a:srgbClr val="FFFFFF"/>
      </a:lt1>
      <a:dk2>
        <a:srgbClr val="052243"/>
      </a:dk2>
      <a:lt2>
        <a:srgbClr val="113E82"/>
      </a:lt2>
      <a:accent1>
        <a:srgbClr val="D62293"/>
      </a:accent1>
      <a:accent2>
        <a:srgbClr val="FFEE88"/>
      </a:accent2>
      <a:accent3>
        <a:srgbClr val="113851"/>
      </a:accent3>
      <a:accent4>
        <a:srgbClr val="2E9C68"/>
      </a:accent4>
      <a:accent5>
        <a:srgbClr val="40BE95"/>
      </a:accent5>
      <a:accent6>
        <a:srgbClr val="E3F6FF"/>
      </a:accent6>
      <a:hlink>
        <a:srgbClr val="ADC5EF"/>
      </a:hlink>
      <a:folHlink>
        <a:srgbClr val="FFF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sdk/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