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ContentType="application/vnd.openxmlformats-officedocument.obfuscatedFont" Extension="odttf"/>
  <Override ContentType="application/vnd.openxmlformats-officedocument.presentationml.notesSlide+xml" PartName="/sdk/ppt/notesSlides/notesSlide6.xml"/>
  <Override ContentType="application/vnd.openxmlformats-officedocument.presentationml.notesSlide+xml" PartName="/sdk/ppt/notesSlides/notesSlide13.xml"/>
  <Override ContentType="application/vnd.openxmlformats-officedocument.presentationml.notesSlide+xml" PartName="/sdk/ppt/notesSlides/notesSlide1.xml"/>
  <Override ContentType="application/vnd.openxmlformats-officedocument.presentationml.notesSlide+xml" PartName="/sdk/ppt/notesSlides/notesSlide3.xml"/>
  <Override ContentType="application/vnd.openxmlformats-officedocument.presentationml.notesSlide+xml" PartName="/sdk/ppt/notesSlides/notesSlide9.xml"/>
  <Override ContentType="application/vnd.openxmlformats-officedocument.presentationml.notesSlide+xml" PartName="/sdk/ppt/notesSlides/notesSlide7.xml"/>
  <Override ContentType="application/vnd.openxmlformats-officedocument.presentationml.notesSlide+xml" PartName="/sdk/ppt/notesSlides/notesSlide11.xml"/>
  <Override ContentType="application/vnd.openxmlformats-officedocument.presentationml.notesSlide+xml" PartName="/sdk/ppt/notesSlides/notesSlide5.xml"/>
  <Override ContentType="application/vnd.openxmlformats-officedocument.presentationml.notesSlide+xml" PartName="/sdk/ppt/notesSlides/notesSlide12.xml"/>
  <Override ContentType="application/vnd.openxmlformats-officedocument.presentationml.notesSlide+xml" PartName="/sdk/ppt/notesSlides/notesSlide8.xml"/>
  <Override ContentType="application/vnd.openxmlformats-officedocument.presentationml.notesSlide+xml" PartName="/sdk/ppt/notesSlides/notesSlide2.xml"/>
  <Override ContentType="application/vnd.openxmlformats-officedocument.presentationml.notesSlide+xml" PartName="/sdk/ppt/notesSlides/notesSlide4.xml"/>
  <Override ContentType="application/vnd.openxmlformats-officedocument.presentationml.notesSlide+xml" PartName="/sdk/ppt/notesSlides/notesSlide10.xml"/>
  <Override ContentType="application/vnd.openxmlformats-officedocument.presentationml.slideLayout+xml" PartName="/sdk/ppt/slideLayouts/slideLayout3.xml"/>
  <Override ContentType="application/vnd.openxmlformats-officedocument.presentationml.slideLayout+xml" PartName="/sdk/ppt/slideLayouts/slideLayout4.xml"/>
  <Override ContentType="application/vnd.openxmlformats-officedocument.presentationml.slideLayout+xml" PartName="/sdk/ppt/slideLayouts/slideLayout5.xml"/>
  <Override ContentType="application/vnd.openxmlformats-officedocument.presentationml.slideLayout+xml" PartName="/sdk/ppt/slideLayouts/slideLayout2.xml"/>
  <Override ContentType="application/vnd.openxmlformats-officedocument.presentationml.slideLayout+xml" PartName="/sdk/ppt/slideLayouts/slideLayout1.xml"/>
  <Override ContentType="application/vnd.openxmlformats-officedocument.presentationml.slideLayout+xml" PartName="/sdk/ppt/slideLayouts/slideLayout7.xml"/>
  <Override ContentType="application/vnd.openxmlformats-officedocument.presentationml.slideLayout+xml" PartName="/sdk/ppt/slideLayouts/slideLayout6.xml"/>
  <Override ContentType="application/vnd.openxmlformats-officedocument.presentationml.slideLayout+xml" PartName="/sdk/ppt/slideLayouts/slideLayout8.xml"/>
  <Override ContentType="application/vnd.openxmlformats-officedocument.presentationml.slideMaster+xml" PartName="/sdk/ppt/slideMasters/slideMaster1.xml"/>
  <Override ContentType="application/vnd.openxmlformats-officedocument.presentationml.slide+xml" PartName="/sdk/ppt/slides/slide4.xml"/>
  <Override ContentType="application/vnd.openxmlformats-officedocument.presentationml.slide+xml" PartName="/sdk/ppt/slides/slide11.xml"/>
  <Override ContentType="application/vnd.openxmlformats-officedocument.presentationml.slide+xml" PartName="/sdk/ppt/slides/slide1.xml"/>
  <Override ContentType="application/vnd.openxmlformats-officedocument.presentationml.slide+xml" PartName="/sdk/ppt/slides/slide3.xml"/>
  <Override ContentType="application/vnd.openxmlformats-officedocument.presentationml.slide+xml" PartName="/sdk/ppt/slides/slide9.xml"/>
  <Override ContentType="application/vnd.openxmlformats-officedocument.presentationml.slide+xml" PartName="/sdk/ppt/slides/slide13.xml"/>
  <Override ContentType="application/vnd.openxmlformats-officedocument.presentationml.slide+xml" PartName="/sdk/ppt/slides/slide5.xml"/>
  <Override ContentType="application/vnd.openxmlformats-officedocument.presentationml.slide+xml" PartName="/sdk/ppt/slides/slide7.xml"/>
  <Override ContentType="application/vnd.openxmlformats-officedocument.presentationml.slide+xml" PartName="/sdk/ppt/slides/slide12.xml"/>
  <Override ContentType="application/vnd.openxmlformats-officedocument.presentationml.slide+xml" PartName="/sdk/ppt/slides/slide10.xml"/>
  <Override ContentType="application/vnd.openxmlformats-officedocument.presentationml.slide+xml" PartName="/sdk/ppt/slides/slide2.xml"/>
  <Override ContentType="application/vnd.openxmlformats-officedocument.presentationml.slide+xml" PartName="/sdk/ppt/slides/slide6.xml"/>
  <Override ContentType="application/vnd.openxmlformats-officedocument.presentationml.slide+xml" PartName="/sdk/ppt/slides/slide8.xml"/>
  <Override ContentType="application/vnd.openxmlformats-officedocument.presentationml.notesMaster+xml" PartName="/sdk/ppt/notesMasters/notesMaster1.xml"/>
  <Override ContentType="application/vnd.openxmlformats-officedocument.presentationml.presentation.main+xml" PartName="/sdk/ppt/presentation.xml"/>
  <Override ContentType="application/vnd.openxmlformats-officedocument.presentationml.presProps+xml" PartName="/sdk/ppt/presProps.xml"/>
  <Override ContentType="application/vnd.openxmlformats-officedocument.theme+xml" PartName="/sdk/ppt/theme/theme1.xml"/>
  <Override ContentType="application/vnd.openxmlformats-officedocument.theme+xml" PartName="/sdk/ppt/theme/theme2.xml"/>
  <Override ContentType="application/vnd.openxmlformats-officedocument.presentationml.viewProps+xml" PartName="/sdk/ppt/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SDK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SDK2"/>
    <p:sldId id="272" r:id="rIdSDK3"/>
    <p:sldId id="273" r:id="rIdSDK4"/>
    <p:sldId id="274" r:id="rIdSDK5"/>
    <p:sldId id="275" r:id="rIdSDK6"/>
    <p:sldId id="276" r:id="rIdSDK7"/>
    <p:sldId id="277" r:id="rIdSDK8"/>
    <p:sldId id="278" r:id="rIdSDK9"/>
    <p:sldId id="279" r:id="rIdSDK10"/>
    <p:sldId id="280" r:id="rIdSDK11"/>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8" Type="http://schemas.openxmlformats.org/officeDocument/2006/relationships/presProps" Target="presProps.xml" /><Relationship Id="rId19" Type="http://schemas.openxmlformats.org/officeDocument/2006/relationships/viewProps" Target="viewProps.xml" /><Relationship Id="rId20" Type="http://schemas.openxmlformats.org/officeDocument/2006/relationships/theme" Target="theme/theme1.xml" /><Relationship Id="rId21" Type="http://schemas.openxmlformats.org/officeDocument/2006/relationships/tableStyles" Target="tableStyles.xml" /><Relationship Id="rIdSDK1" Type="http://schemas.openxmlformats.org/officeDocument/2006/relationships/slideMaster" Target="../sdk/ppt/slideMasters/slideMaster1.xml" /><Relationship Id="rIdSDK2" Type="http://schemas.openxmlformats.org/officeDocument/2006/relationships/slide" Target="../sdk/ppt/slides/slide3.xml" /><Relationship Id="rIdSDK3" Type="http://schemas.openxmlformats.org/officeDocument/2006/relationships/slide" Target="../sdk/ppt/slides/slide4.xml" /><Relationship Id="rIdSDK4" Type="http://schemas.openxmlformats.org/officeDocument/2006/relationships/slide" Target="../sdk/ppt/slides/slide5.xml" /><Relationship Id="rIdSDK5" Type="http://schemas.openxmlformats.org/officeDocument/2006/relationships/slide" Target="../sdk/ppt/slides/slide6.xml" /><Relationship Id="rIdSDK6" Type="http://schemas.openxmlformats.org/officeDocument/2006/relationships/slide" Target="../sdk/ppt/slides/slide7.xml" /><Relationship Id="rIdSDK7" Type="http://schemas.openxmlformats.org/officeDocument/2006/relationships/slide" Target="../sdk/ppt/slides/slide8.xml" /><Relationship Id="rIdSDK8" Type="http://schemas.openxmlformats.org/officeDocument/2006/relationships/slide" Target="../sdk/ppt/slides/slide9.xml" /><Relationship Id="rIdSDK9" Type="http://schemas.openxmlformats.org/officeDocument/2006/relationships/slide" Target="../sdk/ppt/slides/slide10.xml" /><Relationship Id="rIdSDK10" Type="http://schemas.openxmlformats.org/officeDocument/2006/relationships/slide" Target="../sdk/ppt/slides/slide11.xml" /><Relationship Id="rIdSDK11" Type="http://schemas.openxmlformats.org/officeDocument/2006/relationships/slide" Target="../sdk/pp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 host; name to confirm
START: 00:00
DURATION: 00:45
STATUS: 
TAKEAWAY: OLM progress since 2025
TALK TRACK / SOURCES / CAVEATS / REVIEW:
Introduce the confirmed talk title and progress since 2025. Four speakers participate: A covers base slides 1–4, B covers 5–9, C covers 10–13, and Attila covers Java Operator SDK exclusively. Speaker names for A/B/C remain to be confirmed. The primary builder imports original SDK source slides 3–12 unchanged after the divider, allocating 60 seconds to each. These become final slides 14–23; the host closes on final slide 24 and topic owners answer questions on final slide 25. The 15 base records total 1,200 seconds; the original SDK segment adds 600 seconds for a 30-minute session. Keep the no-live-demo plan. Sources: ../kubecon-2026-outline.md; ../kubecon-2025-slide-context.md.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Compatibility and lifecycle foundations
SPEAKER: OLM A — context / host; name to confirm
START: 00:45
DURATION: 01:15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OLMv0 assumptions left behind in OLMv1
SPEAKER: OLM A — context / host; name to confirm
START: 02:00
DURATION: 01:15
STATUS: DESIGN LESSONS
TAKEAWAY: Shared APIs exposed flaws in OLMv0's lifecycle assumptions.
TALK TRACK / SOURCES / CAVEATS / REVIEW:
Present the flawed OLMv0 assumptions about independent APIs, namespace watch scope and dependency management as historical lessons left behind in the OLMv1 design. CRD definitions have cluster scope; custom resource instances may have namespace scope; controller watch scope is configured separately. A shared-CRD example illustrates coupling between upgrades. Keep the OperatorGroup recap brief. Shared CRDs remain a Kubernetes boundary. Describe these as design lessons rather than newly delivered OLMv1 features. Sources: ../kubecon-2026-resource-assessment.md K-1/K-2/V0-2/V0-3; ../kubecon-2025-slide-context.md slide 9.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 host; name to confirm
START: 03:15
DURATION: 00:45
STATUS: EVOLUTION / PLANNED / FUTURE WORK
TAKEAWAY: OLMv0 foundations, OLMv1 capabilities and the road ahead.
TALK TRACK / SOURCES / CAVEATS / REVIEW:
Enumerate the timeline: past work includes OLMv0, SQLite catalogs and established file-based catalogs (FBC);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hands off to B after this overview at 04:00. Sources: ../kubecon-2025-slide-context.md; ../kubecon-2026-resource-assessment.md;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Install a bundle directly
SPEAKER: OLM B — lifecycle primitives; name to confirm
START: 04:00
DURATION: 01:30
STATUS: IN ACTIVE DEVELOPMENT / CONTROLLED BY FEATURE-GATE
TAKEAWAY: Select a registry+v1 bundle by its OCI image reference.
TALK TRACK / SOURCES / CAVEATS / REVIEW:
PR #2907 is OPEN and unmerged as of the supplied check dated 2026-10-09.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Inspect phased resource rollouts
SPEAKER: OLM B — lifecycle primitives; name to confirm
START: 05:30
DURATION: 02:00
STATUS: IN ACTIVE DEVELOPMENT / CONTROLLED BY FEATURE-GATE
TAKEAWAY: Ordered phases expose resource application and readiness progress.
TALK TRACK / SOURCES / CAVEATS / REVIEW:
Explain the evolution from ClusterExtensionRevision to ClusterObjectSets. The ascending stair-step illustration shows resource readiness progressing toward the installation goal. Objects within a phase have unspecified ordering. Readiness checks cover defined conditions; application correctness and transactional availability require additional validation. The rollout runtime is in active development and controlled by feature-gate. Pin the source version and gate settings for examples. Reconcile draft Succeeded wording with the inspected Ready/completedAt type before using status examples. Sources: supplied ClusterObjectSets draft and feature-planning context; ../kubecon-2026-resource-assessment.md; ../kubecon-2025-slide-context.md slides 7, 10 and 12.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User control of extension deployments
SPEAKER: OLM B — lifecycle primitives; name to confirm
START: 07:30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OLMv0 → OLMv1 migration
SPEAKER: OLM B — lifecycle primitives; name to confirm
START: 09:00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user confirms structured output that supports automated processing, including models; it has not been independently exercised in this editing task.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Shared lifecycle logic in library-olm
SPEAKER: OLM B — lifecycle primitives; name to confirm
START: 11:00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B hands off to C after this slide at 12:00.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Planned Helm content support
SPEAKER: OLM C — content/catalogs/contributions; name to confirm
START: 12:00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Catalog performance and content types
SPEAKER: OLM C — content/catalogs/contributions; name to confirm
START: 14:00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Contribute to Operator Framework
SPEAKER: OLM C — content/catalogs/contributions; name to confirm
START: 15:30
DURATION: 01:00
STATUS: PROJECT DEVELOPMENT
TAKEAWAY: Help develop the project through documentation, code and test cases.
TALK TRACK / SOURCES / CAVEATS / REVIEW:
Make an explicit project-development ask: contribute documentation, code, tests and fixtures to Operator Framework. Explain the distinction from submitting operator versions or upgrade graphs to a catalog; those submissions serve a separate publishing workflow. Useful development cases include rollout/configuration edge cases, migration eligibility, chart/values compatibility and schema behavior. Each contribution should identify the repository, issue or discussion, reproducible input and expected result. Maintainers still need to vet concrete task links and destinations. Companion examples are intended for online use; this session has no live demos. Sources: supplied feature-planning context; ../kubecon-2025-slide-context.md slide 15.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Operator Framework: Java Operator SDK
SPEAKER: OLM C — content/catalogs/contributions; name to confirm
START: 16:30
DURATION: 00:30
STATUS: 
TAKEAWAY: 
TALK TRACK / SOURCES / CAVEATS / REVIEW:
C hands off to Attila for Java Operator SDK. OLM packaging is language-neutral, and SDKs support controller implementation and reconciliation. Keep bundle metadata and the runnable controller image distinct in the spoken transition. The primary builder imports original SDK source slides 3–12 unchanged immediately after this divider. Each original SDK slide receives 60 seconds, for ten minutes total on final slides 14–23. Attila covers this segment exclusively.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Resources and contribution steps
SPEAKER: OLM A — session host; name to confirm
START: 27:00
DURATION: 01:00
STATUS: RESOURCE PACKAGE TO PREPARE
TAKEAWAY: Use documented contracts and reproducible cases to guide contributions.
TALK TRACK / SOURCES / CAVEATS / REVIEW:
The host closes on final slide 24, represented here by base record 14. Include verified resource routes for Operator Framework and Java Operator SDK in the final resource hub. Public URLs and QR codes need published destinations. Companion examples and vetted first-task links remain to be prepared. Give the audience a practical next-day contribution supported by the resource package. Speaker ownership stays in these notes. Sources: ../kubecon-2026-outline.md companion package; supplied feature-planning contribution candidates.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Questions?
SPEAKER: OLM A/B/C on OLM; Attila on Java SDK only
START: 28:00
DURATION: 02:00
STATUS: 
TAKEAWAY: Questions about lifecycle APIs, packaging or controller behavior?
TALK TRACK / SOURCES / CAVEATS / REVIEW:
Final slide 25 is titled exactly Questions?. Base record 15 reserves two minutes for questions and transition overruns. A/B/C answer their OLM topics; Attila answers Java Operator SDK questions exclusively. The base segment totals 20 minutes, including this question allocation. Original SDK source slides 3–12 add ten minutes for a 30-minute session. Main slides occupy 28 minutes including the one-minute host close. Keep the no-live-demo plan. Source: ../kubecon-2026-outline.md run of show.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image" Target="../media/image-1-1.png" /><Relationship Id="rId2" Type="http://schemas.openxmlformats.org/officeDocument/2006/relationships/slideLayout" Target="../../sdk/ppt/slideLayouts/slideLayout5.xml"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1.png" /><Relationship Id="rId2" Type="http://schemas.openxmlformats.org/officeDocument/2006/relationships/slideLayout" Target="../../sdk/ppt/slideLayouts/slideLayout5.xml" /><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1.png" /><Relationship Id="rId2" Type="http://schemas.openxmlformats.org/officeDocument/2006/relationships/slideLayout" Target="../../sdk/ppt/slideLayouts/slideLayout5.xml"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1.png" /><Relationship Id="rId2" Type="http://schemas.openxmlformats.org/officeDocument/2006/relationships/slideLayout" Target="../../sdk/ppt/slideLayouts/slideLayout5.xml" /><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1.png" /><Relationship Id="rId2" Type="http://schemas.openxmlformats.org/officeDocument/2006/relationships/slideLayout" Target="../../sdk/ppt/slideLayouts/slideLayout5.xml" /><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1.png" /><Relationship Id="rId2" Type="http://schemas.openxmlformats.org/officeDocument/2006/relationships/slideLayout" Target="../../sdk/ppt/slideLayouts/slideLayout5.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1.png" /><Relationship Id="rId2" Type="http://schemas.openxmlformats.org/officeDocument/2006/relationships/slideLayout" Target="../../sdk/ppt/slideLayouts/slideLayout5.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1.png" /><Relationship Id="rId2" Type="http://schemas.openxmlformats.org/officeDocument/2006/relationships/slideLayout" Target="../../sdk/ppt/slideLayouts/slideLayout5.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1.png" /><Relationship Id="rId2" Type="http://schemas.openxmlformats.org/officeDocument/2006/relationships/slideLayout" Target="../../sdk/ppt/slideLayouts/slideLayout5.xml" /><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1.png" /><Relationship Id="rId2" Type="http://schemas.openxmlformats.org/officeDocument/2006/relationships/slideLayout" Target="../../sdk/ppt/slideLayouts/slideLayout5.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1.png" /><Relationship Id="rId2" Type="http://schemas.openxmlformats.org/officeDocument/2006/relationships/slideLayout" Target="../../sdk/ppt/slideLayouts/slideLayout5.xml" /><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1.png" /><Relationship Id="rId2" Type="http://schemas.openxmlformats.org/officeDocument/2006/relationships/slideLayout" Target="../../sdk/ppt/slideLayouts/slideLayout5.xml" /><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dk/ppt/slideLayouts/slideLayout5.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4-1.png" /><Relationship Id="rId2" Type="http://schemas.openxmlformats.org/officeDocument/2006/relationships/slideLayout" Target="../../sdk/ppt/slideLayouts/slideLayout5.xml" /><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5-1.png" /><Relationship Id="rId2" Type="http://schemas.openxmlformats.org/officeDocument/2006/relationships/slideLayout" Target="../../sdk/ppt/slideLayouts/slideLayout5.xml"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2782580"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OPERATOR LIFECYCLE / KUBECON NA 2026</a:t>
            </a:r>
            <a:endParaRPr lang="en-US" sz="1000" dirty="0"/>
          </a:p>
        </p:txBody>
      </p:sp>
      <p:sp>
        <p:nvSpPr>
          <p:cNvPr id="4" name="Text 2"/>
          <p:cNvSpPr/>
          <p:nvPr/>
        </p:nvSpPr>
        <p:spPr>
          <a:xfrm>
            <a:off x="355550" y="533400"/>
            <a:ext cx="8601405" cy="1041350"/>
          </a:xfrm>
          <a:prstGeom prst="rect">
            <a:avLst/>
          </a:prstGeom>
          <a:noFill/>
          <a:ln/>
        </p:spPr>
        <p:txBody>
          <a:bodyPr wrap="square" lIns="0" tIns="0" rIns="0" bIns="0" rtlCol="0" anchor="t"/>
          <a:lstStyle/>
          <a:p>
            <a:pPr algn="l" indent="0" marL="0">
              <a:lnSpc>
                <a:spcPts val="3330"/>
              </a:lnSpc>
              <a:buNone/>
            </a:pPr>
            <a:r>
              <a:rPr lang="en-US" sz="3000" b="1" dirty="0">
                <a:solidFill>
                  <a:srgbClr val="14263D"/>
                </a:solidFill>
                <a:latin typeface="Arial" pitchFamily="34" charset="0"/>
                <a:ea typeface="Arial" pitchFamily="34" charset="-122"/>
                <a:cs typeface="Arial" pitchFamily="34" charset="-120"/>
              </a:rPr>
              <a:t>The Next Era of Kubernetes Operator Lifecycle Management</a:t>
            </a:r>
            <a:endParaRPr lang="en-US" sz="3000" dirty="0"/>
          </a:p>
        </p:txBody>
      </p:sp>
      <p:sp>
        <p:nvSpPr>
          <p:cNvPr id="5" name="Text 3"/>
          <p:cNvSpPr/>
          <p:nvPr/>
        </p:nvSpPr>
        <p:spPr>
          <a:xfrm>
            <a:off x="355550" y="2209800"/>
            <a:ext cx="3419856" cy="270123"/>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progress since 2025</a:t>
            </a:r>
            <a:endParaRPr lang="en-US" sz="1900" dirty="0"/>
          </a:p>
        </p:txBody>
      </p:sp>
      <p:sp>
        <p:nvSpPr>
          <p:cNvPr id="6" name="Text 4"/>
          <p:cNvSpPr/>
          <p:nvPr/>
        </p:nvSpPr>
        <p:spPr>
          <a:xfrm>
            <a:off x="355550" y="2619524"/>
            <a:ext cx="3352800" cy="1073646"/>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Operator installation and ongoing management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Current capabilities and planned work</a:t>
            </a:r>
            <a:endParaRPr lang="en-US" sz="1650" dirty="0"/>
          </a:p>
        </p:txBody>
      </p:sp>
      <p:pic>
        <p:nvPicPr>
          <p:cNvPr id="7" name="Image 0" descr="/Users/jordan/Documents/devel/breadcrumbs/2026-kubecon-wip/dry-run/assets/s01.png">    </p:cNvPr>
          <p:cNvPicPr>
            <a:picLocks noChangeAspect="1"/>
          </p:cNvPicPr>
          <p:nvPr/>
        </p:nvPicPr>
        <p:blipFill>
          <a:blip r:embed="rId1"/>
          <a:stretch>
            <a:fillRect/>
          </a:stretch>
        </p:blipFill>
        <p:spPr>
          <a:xfrm>
            <a:off x="4470350" y="1777901"/>
            <a:ext cx="4286250" cy="2857500"/>
          </a:xfrm>
          <a:prstGeom prst="rect">
            <a:avLst/>
          </a:prstGeom>
        </p:spPr>
      </p:pic>
      <p:sp>
        <p:nvSpPr>
          <p:cNvPr id="8" name="Text 5"/>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KubeCon + CloudNativeCon North America 2026</a:t>
            </a:r>
            <a:endParaRPr lang="en-US" sz="1150" dirty="0"/>
          </a:p>
        </p:txBody>
      </p:sp>
      <p:sp>
        <p:nvSpPr>
          <p:cNvPr id="9" name="Text 6"/>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01 / 25  |  KUBECON NA 2026  |  DRY RUN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Compatibility and lifecycle foundations</a:t>
            </a:r>
            <a:endParaRPr lang="en-US" sz="2900" dirty="0"/>
          </a:p>
        </p:txBody>
      </p:sp>
      <p:sp>
        <p:nvSpPr>
          <p:cNvPr id="5" name="Text 3"/>
          <p:cNvSpPr/>
          <p:nvPr/>
        </p:nvSpPr>
        <p:spPr>
          <a:xfrm>
            <a:off x="355550" y="1193750"/>
            <a:ext cx="1669852" cy="253752"/>
          </a:xfrm>
          <a:prstGeom prst="roundRect">
            <a:avLst>
              <a:gd name="adj" fmla="val 25024"/>
            </a:avLst>
          </a:prstGeom>
          <a:solidFill>
            <a:srgbClr val="E5EDF1"/>
          </a:solidFill>
          <a:ln/>
        </p:spPr>
        <p:txBody>
          <a:bodyPr wrap="square" rtlCol="0" anchor="ctr"/>
          <a:lstStyle/>
          <a:p>
            <a:pPr indent="0" marL="0">
              <a:buNone/>
            </a:pPr>
            <a:endParaRPr lang="en-US" dirty="0"/>
          </a:p>
        </p:txBody>
      </p:sp>
      <p:sp>
        <p:nvSpPr>
          <p:cNvPr id="6" name="Text 4"/>
          <p:cNvSpPr/>
          <p:nvPr/>
        </p:nvSpPr>
        <p:spPr>
          <a:xfrm>
            <a:off x="469850" y="125715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425A68"/>
                </a:solidFill>
                <a:latin typeface="Arial" pitchFamily="34" charset="0"/>
                <a:ea typeface="Arial" pitchFamily="34" charset="-122"/>
                <a:cs typeface="Arial" pitchFamily="34" charset="-120"/>
              </a:rPr>
              <a:t>FOUNDATIONAL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evolution builds on existing packages and operational experience.</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OLMv0 established lifecycle management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Existing registry+v1 content shapes compatibility</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Operational experience informs OLMv1</a:t>
            </a:r>
            <a:endParaRPr lang="en-US" sz="1650" dirty="0"/>
          </a:p>
        </p:txBody>
      </p:sp>
      <p:pic>
        <p:nvPicPr>
          <p:cNvPr id="9" name="Image 0" descr="/Users/jordan/Documents/devel/breadcrumbs/2026-kubecon-wip/dry-run/assets/s04.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Existing content and users shape lifecycle implementation.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02 / 25  |  KUBECON NA 2026  |  DRY RUN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OLMv0 assumptions left behind in OLMv1</a:t>
            </a:r>
            <a:endParaRPr lang="en-US" sz="2900" dirty="0"/>
          </a:p>
        </p:txBody>
      </p:sp>
      <p:sp>
        <p:nvSpPr>
          <p:cNvPr id="5" name="Text 3"/>
          <p:cNvSpPr/>
          <p:nvPr/>
        </p:nvSpPr>
        <p:spPr>
          <a:xfrm>
            <a:off x="355550" y="1193750"/>
            <a:ext cx="1357461" cy="253752"/>
          </a:xfrm>
          <a:prstGeom prst="roundRect">
            <a:avLst>
              <a:gd name="adj" fmla="val 25024"/>
            </a:avLst>
          </a:prstGeom>
          <a:solidFill>
            <a:srgbClr val="E5EDF1"/>
          </a:solidFill>
          <a:ln/>
        </p:spPr>
        <p:txBody>
          <a:bodyPr wrap="square" rtlCol="0" anchor="ctr"/>
          <a:lstStyle/>
          <a:p>
            <a:pPr indent="0" marL="0">
              <a:buNone/>
            </a:pPr>
            <a:endParaRPr lang="en-US" dirty="0"/>
          </a:p>
        </p:txBody>
      </p:sp>
      <p:sp>
        <p:nvSpPr>
          <p:cNvPr id="6" name="Text 4"/>
          <p:cNvSpPr/>
          <p:nvPr/>
        </p:nvSpPr>
        <p:spPr>
          <a:xfrm>
            <a:off x="469850" y="1257151"/>
            <a:ext cx="1151439" cy="126950"/>
          </a:xfrm>
          <a:prstGeom prst="rect">
            <a:avLst/>
          </a:prstGeom>
          <a:noFill/>
          <a:ln/>
        </p:spPr>
        <p:txBody>
          <a:bodyPr wrap="square" lIns="0" tIns="0" rIns="0" bIns="0" rtlCol="0" anchor="t"/>
          <a:lstStyle/>
          <a:p>
            <a:pPr algn="l" indent="0" marL="0">
              <a:lnSpc>
                <a:spcPts val="1000"/>
              </a:lnSpc>
              <a:buNone/>
            </a:pPr>
            <a:r>
              <a:rPr lang="en-US" sz="1000" b="1" dirty="0">
                <a:solidFill>
                  <a:srgbClr val="425A68"/>
                </a:solidFill>
                <a:latin typeface="Arial" pitchFamily="34" charset="0"/>
                <a:ea typeface="Arial" pitchFamily="34" charset="-122"/>
                <a:cs typeface="Arial" pitchFamily="34" charset="-120"/>
              </a:rPr>
              <a:t>DESIGN LESSONS</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Shared APIs exposed flaws in OLMv0's lifecycle assumptions.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CRD definitions are shared cluster APIs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Controller watch scope is configured separately</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Dependency assumptions coupled upgrades</a:t>
            </a:r>
            <a:endParaRPr lang="en-US" sz="1650" dirty="0"/>
          </a:p>
        </p:txBody>
      </p:sp>
      <p:pic>
        <p:nvPicPr>
          <p:cNvPr id="9" name="Image 0" descr="/Users/jordan/Documents/devel/breadcrumbs/2026-kubecon-wip/dry-run/assets/s03.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These lessons shaped the OLMv1 design.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03 / 25  |  KUBECON NA 2026  |  DRY RUN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 past, current and future</a:t>
            </a:r>
            <a:endParaRPr lang="en-US" sz="2900" dirty="0"/>
          </a:p>
        </p:txBody>
      </p:sp>
      <p:sp>
        <p:nvSpPr>
          <p:cNvPr id="5" name="Text 3"/>
          <p:cNvSpPr/>
          <p:nvPr/>
        </p:nvSpPr>
        <p:spPr>
          <a:xfrm>
            <a:off x="355550" y="1193750"/>
            <a:ext cx="2746772"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EVOLUTION / PLANNED / FUTURE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OLMv0 foundations, OLMv1 capabilities and the road ahead.</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Past: OLMv0, SQLite and FBC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Current: OLMv1, ClusterExtension, pins, webhooks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Ongoing: rollouts, config, install, migration</a:t>
            </a:r>
            <a:endParaRPr lang="en-US" sz="1650" dirty="0"/>
          </a:p>
        </p:txBody>
      </p:sp>
      <p:pic>
        <p:nvPicPr>
          <p:cNvPr id="9" name="Image 0" descr="/Users/jordan/Documents/devel/breadcrumbs/2026-kubecon-wip/dry-run/assets/s0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Planned: helm+v2 and v2 schemas. Future: OCI catalog storage.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04 / 25  |  KUBECON NA 2026  |  DRY RUN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Install a bundle directly</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Select a registry+v1 bundle by its OCI image reference.</a:t>
            </a:r>
            <a:endParaRPr lang="en-US" sz="1900" dirty="0"/>
          </a:p>
        </p:txBody>
      </p:sp>
      <p:sp>
        <p:nvSpPr>
          <p:cNvPr id="8" name="Text 6"/>
          <p:cNvSpPr/>
          <p:nvPr/>
        </p:nvSpPr>
        <p:spPr>
          <a:xfrm>
            <a:off x="355550" y="2356247"/>
            <a:ext cx="3352800" cy="932111"/>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Use sourceType: OCIImage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source.ociImage.ref</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Bypass catalog resolution</a:t>
            </a:r>
            <a:endParaRPr lang="en-US" sz="1650" dirty="0"/>
          </a:p>
        </p:txBody>
      </p:sp>
      <p:pic>
        <p:nvPicPr>
          <p:cNvPr id="9" name="Image 0" descr="/Users/jordan/Documents/devel/breadcrumbs/2026-kubecon-wip/dry-run/assets/s05.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Proposed in open PR #2907; controlled by BoxcutterRuntime.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05 / 25  |  KUBECON NA 2026  |  DRY RUN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Inspect phased resource rollouts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Ordered phases expose resource application and readiness progress.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Apply resource groups in phase order</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Wait for applicable readiness checks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Inspect revision content and ownership changes</a:t>
            </a:r>
            <a:endParaRPr lang="en-US" sz="1650" dirty="0"/>
          </a:p>
        </p:txBody>
      </p:sp>
      <p:pic>
        <p:nvPicPr>
          <p:cNvPr id="9" name="Image 0" descr="/Users/jordan/Documents/devel/breadcrumbs/2026-kubecon-wip/dry-run/assets/s06.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Readiness checks show which phase is waiting.</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06 / 25  |  KUBECON NA 2026  |  DRY RUN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User control of extension deployments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Flexible user-defined deployment configuration.</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Environment variables and resource settings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Placement, volumes and deployment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Operator-provided configuration and schemas</a:t>
            </a:r>
            <a:endParaRPr lang="en-US" sz="1650" dirty="0"/>
          </a:p>
        </p:txBody>
      </p:sp>
      <p:pic>
        <p:nvPicPr>
          <p:cNvPr id="9" name="Image 0" descr="/Users/jordan/Documents/devel/breadcrumbs/2026-kubecon-wip/dry-run/assets/s07.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OLM applies user choices through operator configuration.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07 / 25  |  KUBECON NA 2026  |  DRY RUN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OLMv0 → OLMv1 migration</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Move operator management from OLMv0 to OLMv1.</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Prepare v1 catalogs from v0 CatalogSources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and preview operator migrations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Migration library with example binaries</a:t>
            </a:r>
            <a:endParaRPr lang="en-US" sz="1650" dirty="0"/>
          </a:p>
        </p:txBody>
      </p:sp>
      <p:pic>
        <p:nvPicPr>
          <p:cNvPr id="9" name="Image 0" descr="/Users/jordan/Documents/devel/breadcrumbs/2026-kubecon-wip/dry-run/assets/s08.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Structured output supports automation and models.</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08 / 25  |  KUBECON NA 2026  |  DRY RUN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Shared lifecycle logic in library-olm</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Reuse lifecycle logic through a library with explicit contracts.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migration checks and workflow logic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Exercise current development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Record expected results in reusable fixtures</a:t>
            </a:r>
            <a:endParaRPr lang="en-US" sz="1650" dirty="0"/>
          </a:p>
        </p:txBody>
      </p:sp>
      <p:pic>
        <p:nvPicPr>
          <p:cNvPr id="9" name="Image 0" descr="/Users/jordan/Documents/devel/breadcrumbs/2026-kubecon-wip/dry-run/assets/s0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Examples and fixtures make supported behavior concrete.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09 / 25  |  KUBECON NA 2026  |  DRY RUN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Planned Helm content support</a:t>
            </a:r>
            <a:endParaRPr lang="en-US" sz="2900" dirty="0"/>
          </a:p>
        </p:txBody>
      </p:sp>
      <p:sp>
        <p:nvSpPr>
          <p:cNvPr id="5" name="Text 3"/>
          <p:cNvSpPr/>
          <p:nvPr/>
        </p:nvSpPr>
        <p:spPr>
          <a:xfrm>
            <a:off x="355550" y="1193750"/>
            <a:ext cx="145985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helm+v2</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The rendering contract targets deterministic chart behavior.</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Chart and values produce managed manifests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Allow-listed features support reproducible rendering</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helm+v2 identifies the content representation</a:t>
            </a:r>
            <a:endParaRPr lang="en-US" sz="1650" dirty="0"/>
          </a:p>
        </p:txBody>
      </p:sp>
      <p:pic>
        <p:nvPicPr>
          <p:cNvPr id="9" name="Image 0" descr="/Users/jordan/Documents/devel/breadcrumbs/2026-kubecon-wip/dry-run/assets/s10.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Standard chart artifacts use a defined rendering contract.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10 / 25  |  KUBECON NA 2026  |  DRY RUN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Catalog performance and content types</a:t>
            </a:r>
            <a:endParaRPr lang="en-US" sz="2900" dirty="0"/>
          </a:p>
        </p:txBody>
      </p:sp>
      <p:sp>
        <p:nvSpPr>
          <p:cNvPr id="5" name="Text 3"/>
          <p:cNvSpPr/>
          <p:nvPr/>
        </p:nvSpPr>
        <p:spPr>
          <a:xfrm>
            <a:off x="355550" y="1193750"/>
            <a:ext cx="1900386"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FUTURE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Design for lower catalog-processing cost and additional content types.</a:t>
            </a:r>
            <a:endParaRPr lang="en-US" sz="1900" dirty="0"/>
          </a:p>
        </p:txBody>
      </p:sp>
      <p:sp>
        <p:nvSpPr>
          <p:cNvPr id="8" name="Text 6"/>
          <p:cNvSpPr/>
          <p:nvPr/>
        </p:nvSpPr>
        <p:spPr>
          <a:xfrm>
            <a:off x="355550" y="2626370"/>
            <a:ext cx="3352800" cy="1418183"/>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Lower duplicated CSV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Direct version fields reduce property traversal</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Typed registry+v1 and helm+v2 content</a:t>
            </a:r>
            <a:endParaRPr lang="en-US" sz="1650" dirty="0"/>
          </a:p>
        </p:txBody>
      </p:sp>
      <p:pic>
        <p:nvPicPr>
          <p:cNvPr id="9" name="Image 0" descr="/Users/jordan/Documents/devel/breadcrumbs/2026-kubecon-wip/dry-run/assets/s11.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File-based catalogs remain the established foundation.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11 / 25  |  KUBECON NA 2026  |  DRY RUN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Contribute to Operator Framework</a:t>
            </a:r>
            <a:endParaRPr lang="en-US" sz="2900" dirty="0"/>
          </a:p>
        </p:txBody>
      </p:sp>
      <p:sp>
        <p:nvSpPr>
          <p:cNvPr id="5" name="Text 3"/>
          <p:cNvSpPr/>
          <p:nvPr/>
        </p:nvSpPr>
        <p:spPr>
          <a:xfrm>
            <a:off x="355550" y="1193750"/>
            <a:ext cx="1830139"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PROJECT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Help develop the project through documentation, code and test cases.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Improve documentation and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Contribute code and focused tests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Add migration, chart and schema fixtures</a:t>
            </a:r>
            <a:endParaRPr lang="en-US" sz="1650" dirty="0"/>
          </a:p>
        </p:txBody>
      </p:sp>
      <p:pic>
        <p:nvPicPr>
          <p:cNvPr id="9" name="Image 0" descr="/Users/jordan/Documents/devel/breadcrumbs/2026-kubecon-wip/dry-run/assets/s1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Start with a reproducible case and a clear expected result.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12 / 25  |  KUBECON NA 2026  |  DRY RUN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14263D"/>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355550" y="4940201"/>
            <a:ext cx="2010957" cy="114300"/>
          </a:xfrm>
          <a:prstGeom prst="rect">
            <a:avLst/>
          </a:prstGeom>
          <a:noFill/>
          <a:ln/>
        </p:spPr>
        <p:txBody>
          <a:bodyPr wrap="square" lIns="0" tIns="0" rIns="0" bIns="0" rtlCol="0" anchor="t"/>
          <a:lstStyle/>
          <a:p>
            <a:pPr algn="l" indent="0" marL="0">
              <a:buNone/>
            </a:pPr>
            <a:r>
              <a:rPr lang="en-US" sz="850" dirty="0">
                <a:solidFill>
                  <a:srgbClr val="5D6B7B"/>
                </a:solidFill>
                <a:latin typeface="Arial" pitchFamily="34" charset="0"/>
                <a:ea typeface="Arial" pitchFamily="34" charset="-122"/>
                <a:cs typeface="Arial" pitchFamily="34" charset="-120"/>
              </a:rPr>
              <a:t>13 / 25 | KUBECON NA 2026 | DRY RUN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72500"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05 / RESOURCES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Resources and contribution steps</a:t>
            </a:r>
            <a:endParaRPr lang="en-US" sz="2900" dirty="0"/>
          </a:p>
        </p:txBody>
      </p:sp>
      <p:sp>
        <p:nvSpPr>
          <p:cNvPr id="5" name="Text 3"/>
          <p:cNvSpPr/>
          <p:nvPr/>
        </p:nvSpPr>
        <p:spPr>
          <a:xfrm>
            <a:off x="355550" y="1193750"/>
            <a:ext cx="245804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RESOURCE PACKAGE TO PREPARE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Use documented contracts and reproducible cases to guide contributions.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content against a documented contract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a reproducible case or fixture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Select a maintainer-scoped contribution</a:t>
            </a:r>
            <a:endParaRPr lang="en-US" sz="1650" dirty="0"/>
          </a:p>
        </p:txBody>
      </p:sp>
      <p:pic>
        <p:nvPicPr>
          <p:cNvPr id="9" name="Image 0" descr="/Users/jordan/Documents/devel/breadcrumbs/2026-kubecon-wip/dry-run/assets/s1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Companion examples and task links are being prepared.</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24 / 25  |  KUBECON NA 2026  |  DRY RUN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14814"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06 / QUESTIONS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Questions?</a:t>
            </a:r>
            <a:endParaRPr lang="en-US" sz="2900" dirty="0"/>
          </a:p>
        </p:txBody>
      </p:sp>
      <p:sp>
        <p:nvSpPr>
          <p:cNvPr id="5" name="Text 3"/>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Questions about lifecycle APIs, packaging or controller behavior?</a:t>
            </a:r>
            <a:endParaRPr lang="en-US" sz="1900" dirty="0"/>
          </a:p>
        </p:txBody>
      </p:sp>
      <p:sp>
        <p:nvSpPr>
          <p:cNvPr id="6" name="Text 4"/>
          <p:cNvSpPr/>
          <p:nvPr/>
        </p:nvSpPr>
        <p:spPr>
          <a:xfrm>
            <a:off x="355550" y="2626370"/>
            <a:ext cx="3352800" cy="1175147"/>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 configuration and migration</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 content and catalog schemas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Java Operator SDK reconciliation</a:t>
            </a:r>
            <a:endParaRPr lang="en-US" sz="1650" dirty="0"/>
          </a:p>
        </p:txBody>
      </p:sp>
      <p:pic>
        <p:nvPicPr>
          <p:cNvPr id="7" name="Image 0" descr="/Users/jordan/Documents/devel/breadcrumbs/2026-kubecon-wip/dry-run/assets/s20.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Discussion of capabilities and proposed work.</a:t>
            </a:r>
            <a:endParaRPr lang="en-US" sz="1150" dirty="0"/>
          </a:p>
        </p:txBody>
      </p:sp>
      <p:sp>
        <p:nvSpPr>
          <p:cNvPr id="9" name="Text 6"/>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25 / 25  |  KUBECON NA 2026  |  DRY RUN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Illustrated alignment dry run; roles and claim qualifications in notes</dc:subject>
  <dc:creator>KubeCon 2026 working draft</dc:creator>
  <cp:lastModifiedBy>KubeCon 2026 working draft</cp:lastModifiedBy>
  <cp:revision>1</cp:revision>
  <dcterms:created xsi:type="dcterms:W3CDTF">2026-10-09T21:30:31Z</dcterms:created>
  <dcterms:modified xsi:type="dcterms:W3CDTF">2026-10-09T21:30:31Z</dcterms:modified>
</cp:coreProperties>
</file>

<file path=sdk/_rels/.rels><?xml version="1.0" encoding="UTF-8" standalone="yes"?><Relationships xmlns="http://schemas.openxmlformats.org/package/2006/relationships"><Relationship Id="rId1" Type="http://schemas.openxmlformats.org/officeDocument/2006/relationships/officeDocument" Target="ppt/presentation.xml"/></Relationships>
</file>

<file path=sdk/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sdk/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sdk/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sdk/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2b5fa44330d55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2b5fa44330d55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3.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2b5fa44330d55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2b5fa44330d55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sourceSlide3; duration=60 seconds; start=17:00; end=18:00]</a:t>
            </a:r>
          </a:p>
        </p:txBody>
      </p:sp>
    </p:spTree>
  </p:cSld>
  <p:clrMapOvr>
    <a:masterClrMapping/>
  </p:clrMapOvr>
</p:notes>
</file>

<file path=sdk/ppt/notesSlides/notesSlide4.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2b5fa44330d55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2b5fa44330d55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sourceSlide4; duration=60 seconds; start=18:00; end=19:00]</a:t>
            </a:r>
          </a:p>
        </p:txBody>
      </p:sp>
    </p:spTree>
  </p:cSld>
  <p:clrMapOvr>
    <a:masterClrMapping/>
  </p:clrMapOvr>
</p:notes>
</file>

<file path=sdk/ppt/notesSlides/notesSlide5.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2b5fa44330d55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2b5fa44330d55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sourceSlide5; duration=60 seconds; start=19:00; end=20:00]</a:t>
            </a:r>
          </a:p>
        </p:txBody>
      </p:sp>
    </p:spTree>
  </p:cSld>
  <p:clrMapOvr>
    <a:masterClrMapping/>
  </p:clrMapOvr>
</p:notes>
</file>

<file path=sdk/ppt/notesSlides/notesSlide6.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2b5fa44330d55a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2b5fa44330d55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sourceSlide6; duration=60 seconds; start=20:00; end=21:00]</a:t>
            </a:r>
          </a:p>
        </p:txBody>
      </p:sp>
    </p:spTree>
  </p:cSld>
  <p:clrMapOvr>
    <a:masterClrMapping/>
  </p:clrMapOvr>
</p:notes>
</file>

<file path=sdk/ppt/notesSlides/notesSlide7.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2b5fa44330d55a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2b5fa44330d55a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sourceSlide7; duration=60 seconds; start=21:00; end=22:00]</a:t>
            </a:r>
          </a:p>
        </p:txBody>
      </p:sp>
    </p:spTree>
  </p:cSld>
  <p:clrMapOvr>
    <a:masterClrMapping/>
  </p:clrMapOvr>
</p:notes>
</file>

<file path=sdk/ppt/notesSlides/notesSlide8.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2b5fa44330d55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2b5fa44330d55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sourceSlide8; duration=60 seconds; start=22:00; end=23:00]</a:t>
            </a:r>
          </a:p>
        </p:txBody>
      </p:sp>
    </p:spTree>
  </p:cSld>
  <p:clrMapOvr>
    <a:masterClrMapping/>
  </p:clrMapOvr>
</p:notes>
</file>

<file path=sdk/ppt/notesSlides/notesSlide9.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2b5fa44330d55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2b5fa44330d55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sourceSlide9; duration=60 seconds; start=23:00; end=24:00]</a:t>
            </a:r>
          </a:p>
        </p:txBody>
      </p:sp>
    </p:spTree>
  </p:cSld>
  <p:clrMapOvr>
    <a:masterClrMapping/>
  </p:clrMapOvr>
</p:notes>
</file>

<file path=sdk/ppt/notesSlides/notesSlide10.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b5fa44330d55aa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b5fa44330d55aa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sourceSlide10; duration=60 seconds; start=24:00; end=25:00]</a:t>
            </a:r>
          </a:p>
        </p:txBody>
      </p:sp>
    </p:spTree>
  </p:cSld>
  <p:clrMapOvr>
    <a:masterClrMapping/>
  </p:clrMapOvr>
</p:notes>
</file>

<file path=sdk/ppt/notesSlides/notesSlide11.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2b5fa44330d55a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2b5fa44330d55a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sourceSlide11; duration=60 seconds; start=25:00; end=26:00]</a:t>
            </a:r>
          </a:p>
        </p:txBody>
      </p:sp>
    </p:spTree>
  </p:cSld>
  <p:clrMapOvr>
    <a:masterClrMapping/>
  </p:clrMapOvr>
</p:notes>
</file>

<file path=sdk/ppt/notesSlides/notesSlide12.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32b5fa44330d55aa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32b5fa44330d55aa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sourceSlide12; duration=60 seconds; start=26:00; end=27:00]</a:t>
            </a:r>
          </a:p>
        </p:txBody>
      </p:sp>
    </p:spTree>
  </p:cSld>
  <p:clrMapOvr>
    <a:masterClrMapping/>
  </p:clrMapOvr>
</p:notes>
</file>

<file path=sdk/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2b5fa44330d55aa_1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32b5fa44330d55aa_1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sdk/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sdk/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sdk/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sdk/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sdk/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11" name="Google Shape;11;p2"/>
          <p:cNvGrpSpPr/>
          <p:nvPr/>
        </p:nvGrpSpPr>
        <p:grpSpPr>
          <a:xfrm>
            <a:off x="177800" y="1278466"/>
            <a:ext cx="8966100" cy="2277600"/>
            <a:chOff x="177800" y="1278466"/>
            <a:chExt cx="8966100" cy="2277600"/>
          </a:xfrm>
        </p:grpSpPr>
        <p:sp>
          <p:nvSpPr>
            <p:cNvPr id="12" name="Google Shape;12;p2"/>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 name="Google Shape;13;p2"/>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 name="Google Shape;15;p2"/>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6" name="Google Shape;16;p2"/>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7" name="Google Shape;17;p2"/>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8" name="Google Shape;18;p2"/>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21" name="Google Shape;21;p3"/>
          <p:cNvGrpSpPr/>
          <p:nvPr/>
        </p:nvGrpSpPr>
        <p:grpSpPr>
          <a:xfrm>
            <a:off x="177800" y="1278466"/>
            <a:ext cx="8966100" cy="2277600"/>
            <a:chOff x="177800" y="1278466"/>
            <a:chExt cx="8966100" cy="2277600"/>
          </a:xfrm>
        </p:grpSpPr>
        <p:sp>
          <p:nvSpPr>
            <p:cNvPr id="22" name="Google Shape;22;p3"/>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3"/>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3"/>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 name="Google Shape;25;p3"/>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3"/>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4"/>
          <p:cNvGrpSpPr/>
          <p:nvPr/>
        </p:nvGrpSpPr>
        <p:grpSpPr>
          <a:xfrm>
            <a:off x="-35" y="4475798"/>
            <a:ext cx="9143866" cy="667628"/>
            <a:chOff x="2374014" y="4484308"/>
            <a:chExt cx="9028304" cy="659191"/>
          </a:xfrm>
        </p:grpSpPr>
        <p:pic>
          <p:nvPicPr>
            <p:cNvPr id="29" name="Google Shape;29;p4"/>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4"/>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4"/>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pic>
        <p:nvPicPr>
          <p:cNvPr id="32" name="Google Shape;32;p4"/>
          <p:cNvPicPr preferRelativeResize="0"/>
          <p:nvPr/>
        </p:nvPicPr>
        <p:blipFill rotWithShape="1">
          <a:blip r:embed="rId4">
            <a:alphaModFix/>
          </a:blip>
          <a:srcRect b="23715" l="12113" r="0" t="0"/>
          <a:stretch/>
        </p:blipFill>
        <p:spPr>
          <a:xfrm>
            <a:off x="-1" y="4174681"/>
            <a:ext cx="2745768" cy="968819"/>
          </a:xfrm>
          <a:prstGeom prst="rect">
            <a:avLst/>
          </a:prstGeom>
          <a:noFill/>
          <a:ln>
            <a:noFill/>
          </a:ln>
        </p:spPr>
      </p:pic>
      <p:pic>
        <p:nvPicPr>
          <p:cNvPr id="33" name="Google Shape;33;p4"/>
          <p:cNvPicPr preferRelativeResize="0"/>
          <p:nvPr/>
        </p:nvPicPr>
        <p:blipFill rotWithShape="1">
          <a:blip r:embed="rId5">
            <a:alphaModFix/>
          </a:blip>
          <a:srcRect b="1" l="0" r="0" t="6472"/>
          <a:stretch/>
        </p:blipFill>
        <p:spPr>
          <a:xfrm>
            <a:off x="4975012" y="0"/>
            <a:ext cx="1946881" cy="826052"/>
          </a:xfrm>
          <a:prstGeom prst="rect">
            <a:avLst/>
          </a:prstGeom>
          <a:noFill/>
          <a:ln>
            <a:noFill/>
          </a:ln>
        </p:spPr>
      </p:pic>
      <p:sp>
        <p:nvSpPr>
          <p:cNvPr id="34" name="Google Shape;34;p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5" name="Google Shape;35;p4"/>
          <p:cNvPicPr preferRelativeResize="0"/>
          <p:nvPr/>
        </p:nvPicPr>
        <p:blipFill rotWithShape="1">
          <a:blip r:embed="rId6">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5"/>
          <p:cNvGrpSpPr/>
          <p:nvPr/>
        </p:nvGrpSpPr>
        <p:grpSpPr>
          <a:xfrm>
            <a:off x="-35" y="4475798"/>
            <a:ext cx="9143866" cy="667628"/>
            <a:chOff x="2374014" y="4484308"/>
            <a:chExt cx="9028304" cy="659191"/>
          </a:xfrm>
        </p:grpSpPr>
        <p:pic>
          <p:nvPicPr>
            <p:cNvPr id="38" name="Google Shape;38;p5"/>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5"/>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5"/>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sp>
        <p:nvSpPr>
          <p:cNvPr id="41" name="Google Shape;41;p5"/>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42" name="Google Shape;42;p5"/>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6"/>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3" name="Google Shape;43;p5"/>
          <p:cNvPicPr preferRelativeResize="0"/>
          <p:nvPr/>
        </p:nvPicPr>
        <p:blipFill rotWithShape="1">
          <a:blip r:embed="rId4">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6"/>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p6"/>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7"/>
          <p:cNvSpPr/>
          <p:nvPr/>
        </p:nvSpPr>
        <p:spPr>
          <a:xfrm>
            <a:off x="7100" y="5625"/>
            <a:ext cx="9136800" cy="1047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p:cNvPicPr preferRelativeResize="0"/>
          <p:nvPr/>
        </p:nvPicPr>
        <p:blipFill rotWithShape="1">
          <a:blip r:embed="rId2">
            <a:alphaModFix/>
          </a:blip>
          <a:srcRect b="0" l="0" r="0" t="0"/>
          <a:stretch/>
        </p:blipFill>
        <p:spPr>
          <a:xfrm>
            <a:off x="7577624" y="253871"/>
            <a:ext cx="1285200" cy="540157"/>
          </a:xfrm>
          <a:prstGeom prst="rect">
            <a:avLst/>
          </a:prstGeom>
          <a:noFill/>
          <a:ln>
            <a:noFill/>
          </a:ln>
        </p:spPr>
      </p:pic>
    </p:spTree>
  </p:cSld>
  <p:clrMapOvr>
    <a:masterClrMapping/>
  </p:clrMapOvr>
</p:sldLayout>
</file>

<file path=sdk/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0" name="Google Shape;60;p8"/>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4" name="Google Shape;64;p9"/>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sdk/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sdk/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sdk/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github.com/operator-framework/java-operator-sdk" TargetMode="External"/></Relationships>
</file>

<file path=sdk/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ithub.com/kubernetes/enhancements/tree/master/keps/sig-api-machinery/5504-comparable-resource-version" TargetMode="External"/><Relationship Id="rId4" Type="http://schemas.openxmlformats.org/officeDocument/2006/relationships/hyperlink" Target="https://javaoperatorsdk.io/blog/2026/03/13/welcome-read-cache-after-write-consistency/" TargetMode="External"/></Relationships>
</file>

<file path=sdk/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s>
</file>

<file path=sdk/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sdk/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sdk/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github.com/operator-framework/java-operator-sdk/blob/main/operator-framework-core/src/main/java/io/javaoperatorsdk/operator/processing/event/source/informer/pool/InformerClassifier.java#L56-L64" TargetMode="External"/></Relationships>
</file>

<file path=sdk/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sdk/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sdk/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sdk/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sdk/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sdk/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sdk/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ctrTitle"/>
          </p:nvPr>
        </p:nvSpPr>
        <p:spPr>
          <a:xfrm>
            <a:off x="311225" y="1251450"/>
            <a:ext cx="8063400" cy="1571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3800"/>
              <a:t>The Next Era of Kubernetes Operator Lifecycle Management</a:t>
            </a:r>
            <a:endParaRPr sz="3800"/>
          </a:p>
        </p:txBody>
      </p:sp>
      <p:sp>
        <p:nvSpPr>
          <p:cNvPr id="70" name="Google Shape;70;p10"/>
          <p:cNvSpPr txBox="1"/>
          <p:nvPr/>
        </p:nvSpPr>
        <p:spPr>
          <a:xfrm>
            <a:off x="311225" y="2790950"/>
            <a:ext cx="3245700" cy="65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lt1"/>
                </a:solidFill>
              </a:rPr>
              <a:t>Attila Mészáros @ Apple </a:t>
            </a:r>
            <a:br>
              <a:rPr b="1" lang="en-GB" sz="1600">
                <a:solidFill>
                  <a:schemeClr val="lt1"/>
                </a:solidFill>
              </a:rPr>
            </a:br>
            <a:r>
              <a:rPr b="1" lang="en-GB" sz="1200">
                <a:solidFill>
                  <a:schemeClr val="lt1"/>
                </a:solidFill>
              </a:rPr>
              <a:t>Not a contribution</a:t>
            </a:r>
            <a:endParaRPr b="1" sz="1200">
              <a:solidFill>
                <a:schemeClr val="lt1"/>
              </a:solidFill>
            </a:endParaRPr>
          </a:p>
        </p:txBody>
      </p:sp>
    </p:spTree>
  </p:cSld>
  <p:clrMapOvr>
    <a:masterClrMapping/>
  </p:clrMapOvr>
</p:sld>
</file>

<file path=sdk/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Attila who?</a:t>
            </a:r>
            <a:endParaRPr/>
          </a:p>
        </p:txBody>
      </p:sp>
      <p:sp>
        <p:nvSpPr>
          <p:cNvPr id="76" name="Google Shape;76;p1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Maintainer of</a:t>
            </a:r>
            <a:r>
              <a:rPr lang="en-GB" u="sng">
                <a:solidFill>
                  <a:schemeClr val="hlink"/>
                </a:solidFill>
                <a:hlinkClick r:id="rId3"/>
              </a:rPr>
              <a:t> Java Operator SDK</a:t>
            </a:r>
            <a:endParaRPr/>
          </a:p>
          <a:p>
            <a:pPr indent="-342900" lvl="0" marL="457200" rtl="0" algn="l">
              <a:spcBef>
                <a:spcPts val="0"/>
              </a:spcBef>
              <a:spcAft>
                <a:spcPts val="0"/>
              </a:spcAft>
              <a:buSzPts val="1800"/>
              <a:buChar char="●"/>
            </a:pPr>
            <a:r>
              <a:rPr lang="en-GB"/>
              <a:t>Member of Operator Framework steering committee</a:t>
            </a:r>
            <a:endParaRPr/>
          </a:p>
          <a:p>
            <a:pPr indent="-342900" lvl="0" marL="457200" rtl="0" algn="l">
              <a:spcBef>
                <a:spcPts val="0"/>
              </a:spcBef>
              <a:spcAft>
                <a:spcPts val="0"/>
              </a:spcAft>
              <a:buSzPts val="1800"/>
              <a:buChar char="●"/>
            </a:pPr>
            <a:r>
              <a:rPr lang="en-GB"/>
              <a:t>Staff Software Engineer @ Apple</a:t>
            </a:r>
            <a:endParaRPr/>
          </a:p>
          <a:p>
            <a:pPr indent="-317500" lvl="1" marL="914400" rtl="0" algn="l">
              <a:spcBef>
                <a:spcPts val="0"/>
              </a:spcBef>
              <a:spcAft>
                <a:spcPts val="0"/>
              </a:spcAft>
              <a:buSzPts val="1400"/>
              <a:buChar char="○"/>
            </a:pPr>
            <a:r>
              <a:rPr lang="en-GB"/>
              <a:t>Flink team</a:t>
            </a:r>
            <a:endParaRPr/>
          </a:p>
          <a:p>
            <a:pPr indent="-317500" lvl="1" marL="914400" rtl="0" algn="l">
              <a:spcBef>
                <a:spcPts val="0"/>
              </a:spcBef>
              <a:spcAft>
                <a:spcPts val="0"/>
              </a:spcAft>
              <a:buSzPts val="1400"/>
              <a:buChar char="○"/>
            </a:pPr>
            <a:r>
              <a:rPr lang="en-GB"/>
              <a:t>Building the data platform</a:t>
            </a:r>
            <a:endParaRPr/>
          </a:p>
          <a:p>
            <a:pPr indent="-317500" lvl="1" marL="914400" rtl="0" algn="l">
              <a:spcBef>
                <a:spcPts val="0"/>
              </a:spcBef>
              <a:spcAft>
                <a:spcPts val="0"/>
              </a:spcAft>
              <a:buSzPts val="1400"/>
              <a:buChar char="○"/>
            </a:pPr>
            <a:r>
              <a:rPr lang="en-GB"/>
              <a:t>Apache Flink and Apache Spark Kubernetes Operator</a:t>
            </a:r>
            <a:endParaRPr/>
          </a:p>
          <a:p>
            <a:pPr indent="-342900" lvl="0" marL="457200" rtl="0" algn="l">
              <a:spcBef>
                <a:spcPts val="0"/>
              </a:spcBef>
              <a:spcAft>
                <a:spcPts val="0"/>
              </a:spcAft>
              <a:buSzPts val="1800"/>
              <a:buChar char="●"/>
            </a:pPr>
            <a:r>
              <a:rPr lang="en-GB"/>
              <a:t>ex Principal Engineer @ RedHat; Form3, Container Solutions,…</a:t>
            </a:r>
            <a:br>
              <a:rPr lang="en-GB"/>
            </a:br>
            <a:endParaRPr sz="1100">
              <a:solidFill>
                <a:schemeClr val="dk1"/>
              </a:solidFill>
            </a:endParaRPr>
          </a:p>
          <a:p>
            <a:pPr indent="0" lvl="0" marL="0" rtl="0" algn="l">
              <a:spcBef>
                <a:spcPts val="0"/>
              </a:spcBef>
              <a:spcAft>
                <a:spcPts val="0"/>
              </a:spcAft>
              <a:buNone/>
            </a:pPr>
            <a:r>
              <a:t/>
            </a:r>
            <a:endParaRPr/>
          </a:p>
        </p:txBody>
      </p:sp>
    </p:spTree>
  </p:cSld>
  <p:clrMapOvr>
    <a:masterClrMapping/>
  </p:clrMapOvr>
</p:sld>
</file>

<file path=sdk/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sp>
        <p:nvSpPr>
          <p:cNvPr id="82" name="Google Shape;82;p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since v5.3</a:t>
            </a:r>
            <a:endParaRPr/>
          </a:p>
          <a:p>
            <a:pPr indent="-342900" lvl="0" marL="457200" rtl="0" algn="l">
              <a:spcBef>
                <a:spcPts val="0"/>
              </a:spcBef>
              <a:spcAft>
                <a:spcPts val="0"/>
              </a:spcAft>
              <a:buSzPts val="1800"/>
              <a:buChar char="●"/>
            </a:pPr>
            <a:r>
              <a:rPr lang="en-GB"/>
              <a:t>API:  </a:t>
            </a:r>
            <a:endParaRPr>
              <a:solidFill>
                <a:srgbClr val="A64D79"/>
              </a:solidFill>
              <a:highlight>
                <a:srgbClr val="CCCCCC"/>
              </a:highlight>
            </a:endParaRPr>
          </a:p>
          <a:p>
            <a:pPr indent="-317500" lvl="1" marL="914400" rtl="0" algn="l">
              <a:spcBef>
                <a:spcPts val="0"/>
              </a:spcBef>
              <a:spcAft>
                <a:spcPts val="0"/>
              </a:spcAft>
              <a:buSzPts val="1400"/>
              <a:buChar char="○"/>
            </a:pPr>
            <a:r>
              <a:rPr lang="en-GB">
                <a:solidFill>
                  <a:srgbClr val="A64D79"/>
                </a:solidFill>
                <a:highlight>
                  <a:srgbClr val="CCCCCC"/>
                </a:highlight>
              </a:rPr>
              <a:t>UpdateControl.patchStatus(resource)</a:t>
            </a:r>
            <a:endParaRPr/>
          </a:p>
          <a:p>
            <a:pPr indent="-317500" lvl="1" marL="914400" rtl="0" algn="l">
              <a:spcBef>
                <a:spcPts val="0"/>
              </a:spcBef>
              <a:spcAft>
                <a:spcPts val="0"/>
              </a:spcAft>
              <a:buSzPts val="1400"/>
              <a:buChar char="○"/>
            </a:pPr>
            <a:r>
              <a:rPr lang="en-GB" sz="1200">
                <a:solidFill>
                  <a:srgbClr val="A64D79"/>
                </a:solidFill>
                <a:highlight>
                  <a:srgbClr val="CCCCCC"/>
                </a:highlight>
              </a:rPr>
              <a:t>context.</a:t>
            </a:r>
            <a:r>
              <a:rPr b="1" lang="en-GB" sz="1200">
                <a:solidFill>
                  <a:srgbClr val="A64D79"/>
                </a:solidFill>
                <a:highlight>
                  <a:srgbClr val="CCCCCC"/>
                </a:highlight>
              </a:rPr>
              <a:t>resourceOperations()</a:t>
            </a:r>
            <a:r>
              <a:rPr lang="en-GB" sz="1200">
                <a:solidFill>
                  <a:srgbClr val="A64D79"/>
                </a:solidFill>
                <a:highlight>
                  <a:srgbClr val="CCCCCC"/>
                </a:highlight>
              </a:rPr>
              <a:t>.serverSideApply(resource);</a:t>
            </a:r>
            <a:endParaRPr/>
          </a:p>
          <a:p>
            <a:pPr indent="-342900" lvl="0" marL="457200" rtl="0" algn="l">
              <a:spcBef>
                <a:spcPts val="0"/>
              </a:spcBef>
              <a:spcAft>
                <a:spcPts val="0"/>
              </a:spcAft>
              <a:buSzPts val="1800"/>
              <a:buChar char="●"/>
            </a:pPr>
            <a:r>
              <a:rPr lang="en-GB"/>
              <a:t>Additional cache brings complexity:</a:t>
            </a:r>
            <a:endParaRPr/>
          </a:p>
          <a:p>
            <a:pPr indent="-317500" lvl="1" marL="914400" rtl="0" algn="l">
              <a:spcBef>
                <a:spcPts val="0"/>
              </a:spcBef>
              <a:spcAft>
                <a:spcPts val="0"/>
              </a:spcAft>
              <a:buSzPts val="1400"/>
              <a:buChar char="○"/>
            </a:pPr>
            <a:r>
              <a:rPr lang="en-GB"/>
              <a:t>Indexers</a:t>
            </a:r>
            <a:endParaRPr/>
          </a:p>
          <a:p>
            <a:pPr indent="-317500" lvl="1" marL="914400" rtl="0" algn="l">
              <a:spcBef>
                <a:spcPts val="0"/>
              </a:spcBef>
              <a:spcAft>
                <a:spcPts val="0"/>
              </a:spcAft>
              <a:buSzPts val="1400"/>
              <a:buChar char="○"/>
            </a:pPr>
            <a:r>
              <a:rPr lang="en-GB"/>
              <a:t>Items store</a:t>
            </a:r>
            <a:endParaRPr/>
          </a:p>
          <a:p>
            <a:pPr indent="-342900" lvl="0" marL="457200" rtl="0" algn="l">
              <a:spcBef>
                <a:spcPts val="0"/>
              </a:spcBef>
              <a:spcAft>
                <a:spcPts val="0"/>
              </a:spcAft>
              <a:buSzPts val="1800"/>
              <a:buChar char="●"/>
            </a:pPr>
            <a:r>
              <a:rPr lang="en-GB" u="sng">
                <a:solidFill>
                  <a:schemeClr val="hlink"/>
                </a:solidFill>
                <a:hlinkClick r:id="rId3"/>
              </a:rPr>
              <a:t>Comparable Resource Versions KEP</a:t>
            </a:r>
            <a:endParaRPr/>
          </a:p>
          <a:p>
            <a:pPr indent="-342900" lvl="0" marL="457200" rtl="0" algn="l">
              <a:spcBef>
                <a:spcPts val="0"/>
              </a:spcBef>
              <a:spcAft>
                <a:spcPts val="0"/>
              </a:spcAft>
              <a:buSzPts val="1800"/>
              <a:buChar char="●"/>
            </a:pPr>
            <a:r>
              <a:rPr lang="en-GB" u="sng">
                <a:solidFill>
                  <a:schemeClr val="hlink"/>
                </a:solidFill>
                <a:hlinkClick r:id="rId4"/>
              </a:rPr>
              <a:t>Read-cache-after-write consistency blog</a:t>
            </a:r>
            <a:endParaRPr/>
          </a:p>
          <a:p>
            <a:pPr indent="0" lvl="0" marL="0" rtl="0" algn="l">
              <a:spcBef>
                <a:spcPts val="0"/>
              </a:spcBef>
              <a:spcAft>
                <a:spcPts val="0"/>
              </a:spcAft>
              <a:buNone/>
            </a:pPr>
            <a:r>
              <a:t/>
            </a:r>
            <a:endParaRPr/>
          </a:p>
        </p:txBody>
      </p:sp>
    </p:spTree>
  </p:cSld>
  <p:clrMapOvr>
    <a:masterClrMapping/>
  </p:clrMapOvr>
</p:sld>
</file>

<file path=sdk/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pic>
        <p:nvPicPr>
          <p:cNvPr id="88" name="Google Shape;88;p13"/>
          <p:cNvPicPr preferRelativeResize="0"/>
          <p:nvPr/>
        </p:nvPicPr>
        <p:blipFill>
          <a:blip r:embed="rId3">
            <a:alphaModFix/>
          </a:blip>
          <a:stretch>
            <a:fillRect/>
          </a:stretch>
        </p:blipFill>
        <p:spPr>
          <a:xfrm>
            <a:off x="912900" y="829825"/>
            <a:ext cx="6702374" cy="3777949"/>
          </a:xfrm>
          <a:prstGeom prst="rect">
            <a:avLst/>
          </a:prstGeom>
          <a:noFill/>
          <a:ln>
            <a:noFill/>
          </a:ln>
        </p:spPr>
      </p:pic>
    </p:spTree>
  </p:cSld>
  <p:clrMapOvr>
    <a:masterClrMapping/>
  </p:clrMapOvr>
</p:sld>
</file>

<file path=sdk/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 - API &amp; Challenges</a:t>
            </a:r>
            <a:endParaRPr/>
          </a:p>
        </p:txBody>
      </p:sp>
      <p:sp>
        <p:nvSpPr>
          <p:cNvPr id="94" name="Google Shape;94;p1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Filter out events for our own updates</a:t>
            </a:r>
            <a:endParaRPr/>
          </a:p>
          <a:p>
            <a:pPr indent="-342900" lvl="0" marL="457200" rtl="0" algn="l">
              <a:spcBef>
                <a:spcPts val="0"/>
              </a:spcBef>
              <a:spcAft>
                <a:spcPts val="0"/>
              </a:spcAft>
              <a:buSzPts val="1800"/>
              <a:buChar char="●"/>
            </a:pPr>
            <a:r>
              <a:rPr lang="en-GB"/>
              <a:t>Challenges</a:t>
            </a:r>
            <a:endParaRPr/>
          </a:p>
          <a:p>
            <a:pPr indent="-317500" lvl="1" marL="914400" rtl="0" algn="l">
              <a:spcBef>
                <a:spcPts val="0"/>
              </a:spcBef>
              <a:spcAft>
                <a:spcPts val="0"/>
              </a:spcAft>
              <a:buSzPts val="1400"/>
              <a:buAutoNum type="alphaLcPeriod"/>
            </a:pPr>
            <a:r>
              <a:rPr lang="en-GB"/>
              <a:t>Informer lost event problem</a:t>
            </a:r>
            <a:endParaRPr/>
          </a:p>
          <a:p>
            <a:pPr indent="-317500" lvl="1" marL="914400" rtl="0" algn="l">
              <a:spcBef>
                <a:spcPts val="0"/>
              </a:spcBef>
              <a:spcAft>
                <a:spcPts val="0"/>
              </a:spcAft>
              <a:buSzPts val="1400"/>
              <a:buAutoNum type="alphaLcPeriod"/>
            </a:pPr>
            <a:r>
              <a:rPr lang="en-GB"/>
              <a:t>Our update did not change the resource but other actor did concurrently</a:t>
            </a:r>
            <a:endParaRPr/>
          </a:p>
          <a:p>
            <a:pPr indent="-342900" lvl="0" marL="457200" rtl="0" algn="l">
              <a:spcBef>
                <a:spcPts val="0"/>
              </a:spcBef>
              <a:spcAft>
                <a:spcPts val="0"/>
              </a:spcAft>
              <a:buSzPts val="1800"/>
              <a:buChar char="●"/>
            </a:pPr>
            <a:r>
              <a:rPr lang="en-GB"/>
              <a:t> </a:t>
            </a:r>
            <a:r>
              <a:rPr lang="en-GB">
                <a:solidFill>
                  <a:srgbClr val="A64D79"/>
                </a:solidFill>
                <a:highlight>
                  <a:srgbClr val="CCCCCC"/>
                </a:highlight>
              </a:rPr>
              <a:t>context.</a:t>
            </a:r>
            <a:r>
              <a:rPr b="1" lang="en-GB">
                <a:solidFill>
                  <a:srgbClr val="A64D79"/>
                </a:solidFill>
                <a:highlight>
                  <a:srgbClr val="CCCCCC"/>
                </a:highlight>
              </a:rPr>
              <a:t>resourceOperations()</a:t>
            </a:r>
            <a:r>
              <a:rPr lang="en-GB">
                <a:solidFill>
                  <a:srgbClr val="A64D79"/>
                </a:solidFill>
                <a:highlight>
                  <a:srgbClr val="CCCCCC"/>
                </a:highlight>
              </a:rPr>
              <a:t>.serverSideApply(resource);</a:t>
            </a:r>
            <a:endParaRPr i="1" sz="1100">
              <a:solidFill>
                <a:srgbClr val="A64D79"/>
              </a:solidFill>
              <a:highlight>
                <a:srgbClr val="CCCCCC"/>
              </a:highlight>
            </a:endParaRPr>
          </a:p>
          <a:p>
            <a:pPr indent="0" lvl="0" marL="0" rtl="0" algn="l">
              <a:spcBef>
                <a:spcPts val="0"/>
              </a:spcBef>
              <a:spcAft>
                <a:spcPts val="0"/>
              </a:spcAft>
              <a:buNone/>
            </a:pPr>
            <a:r>
              <a:t/>
            </a:r>
            <a:endParaRPr/>
          </a:p>
        </p:txBody>
      </p:sp>
    </p:spTree>
  </p:cSld>
  <p:clrMapOvr>
    <a:masterClrMapping/>
  </p:clrMapOvr>
</p:sld>
</file>

<file path=sdk/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1766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a:t>
            </a:r>
            <a:endParaRPr/>
          </a:p>
        </p:txBody>
      </p:sp>
      <p:sp>
        <p:nvSpPr>
          <p:cNvPr id="100" name="Google Shape;100;p15"/>
          <p:cNvSpPr txBox="1"/>
          <p:nvPr>
            <p:ph idx="1" type="body"/>
          </p:nvPr>
        </p:nvSpPr>
        <p:spPr>
          <a:xfrm>
            <a:off x="311700" y="749325"/>
            <a:ext cx="8520600" cy="4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400"/>
              <a:t>for Read-Cache-After-Write-Consistency</a:t>
            </a:r>
            <a:endParaRPr sz="1600"/>
          </a:p>
        </p:txBody>
      </p:sp>
      <p:pic>
        <p:nvPicPr>
          <p:cNvPr id="101" name="Google Shape;101;p15"/>
          <p:cNvPicPr preferRelativeResize="0"/>
          <p:nvPr/>
        </p:nvPicPr>
        <p:blipFill>
          <a:blip r:embed="rId3">
            <a:alphaModFix/>
          </a:blip>
          <a:stretch>
            <a:fillRect/>
          </a:stretch>
        </p:blipFill>
        <p:spPr>
          <a:xfrm>
            <a:off x="1566050" y="1073125"/>
            <a:ext cx="6101674" cy="3439350"/>
          </a:xfrm>
          <a:prstGeom prst="rect">
            <a:avLst/>
          </a:prstGeom>
          <a:noFill/>
          <a:ln>
            <a:noFill/>
          </a:ln>
        </p:spPr>
      </p:pic>
    </p:spTree>
  </p:cSld>
  <p:clrMapOvr>
    <a:masterClrMapping/>
  </p:clrMapOvr>
</p:sld>
</file>

<file path=sdk/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Informer Pools</a:t>
            </a:r>
            <a:endParaRPr/>
          </a:p>
        </p:txBody>
      </p:sp>
      <p:sp>
        <p:nvSpPr>
          <p:cNvPr id="107" name="Google Shape;107;p16"/>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Sharing underlying informers between controller</a:t>
            </a:r>
            <a:endParaRPr/>
          </a:p>
          <a:p>
            <a:pPr indent="-342900" lvl="0" marL="457200" rtl="0" algn="l">
              <a:spcBef>
                <a:spcPts val="0"/>
              </a:spcBef>
              <a:spcAft>
                <a:spcPts val="0"/>
              </a:spcAft>
              <a:buSzPts val="1800"/>
              <a:buChar char="●"/>
            </a:pPr>
            <a:r>
              <a:rPr lang="en-GB"/>
              <a:t>Matches the informer configuration</a:t>
            </a:r>
            <a:endParaRPr/>
          </a:p>
          <a:p>
            <a:pPr indent="-317500" lvl="1" marL="914400" rtl="0" algn="l">
              <a:spcBef>
                <a:spcPts val="0"/>
              </a:spcBef>
              <a:spcAft>
                <a:spcPts val="0"/>
              </a:spcAft>
              <a:buSzPts val="1400"/>
              <a:buChar char="○"/>
            </a:pPr>
            <a:r>
              <a:rPr lang="en-GB"/>
              <a:t>Except list limit </a:t>
            </a:r>
            <a:endParaRPr/>
          </a:p>
          <a:p>
            <a:pPr indent="-317500" lvl="1" marL="914400" rtl="0" algn="l">
              <a:spcBef>
                <a:spcPts val="0"/>
              </a:spcBef>
              <a:spcAft>
                <a:spcPts val="0"/>
              </a:spcAft>
              <a:buSzPts val="1400"/>
              <a:buChar char="○"/>
            </a:pPr>
            <a:r>
              <a:rPr lang="en-GB"/>
              <a:t>Details in </a:t>
            </a:r>
            <a:r>
              <a:rPr lang="en-GB" u="sng">
                <a:solidFill>
                  <a:schemeClr val="hlink"/>
                </a:solidFill>
                <a:hlinkClick r:id="rId3"/>
              </a:rPr>
              <a:t>InformerClassifier</a:t>
            </a:r>
            <a:endParaRPr/>
          </a:p>
          <a:p>
            <a:pPr indent="-342900" lvl="0" marL="457200" rtl="0" algn="l">
              <a:spcBef>
                <a:spcPts val="0"/>
              </a:spcBef>
              <a:spcAft>
                <a:spcPts val="0"/>
              </a:spcAft>
              <a:buSzPts val="1800"/>
              <a:buChar char="●"/>
            </a:pPr>
            <a:r>
              <a:rPr lang="en-GB"/>
              <a:t>Supports dynamic Informer registration and de-registration</a:t>
            </a:r>
            <a:endParaRPr/>
          </a:p>
        </p:txBody>
      </p:sp>
    </p:spTree>
  </p:cSld>
  <p:clrMapOvr>
    <a:masterClrMapping/>
  </p:clrMapOvr>
</p:sld>
</file>

<file path=sdk/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Informer Pools</a:t>
            </a:r>
            <a:endParaRPr/>
          </a:p>
        </p:txBody>
      </p:sp>
      <p:pic>
        <p:nvPicPr>
          <p:cNvPr id="113" name="Google Shape;113;p17"/>
          <p:cNvPicPr preferRelativeResize="0"/>
          <p:nvPr/>
        </p:nvPicPr>
        <p:blipFill>
          <a:blip r:embed="rId3">
            <a:alphaModFix/>
          </a:blip>
          <a:stretch>
            <a:fillRect/>
          </a:stretch>
        </p:blipFill>
        <p:spPr>
          <a:xfrm>
            <a:off x="1373463" y="1017725"/>
            <a:ext cx="6540225" cy="3686575"/>
          </a:xfrm>
          <a:prstGeom prst="rect">
            <a:avLst/>
          </a:prstGeom>
          <a:noFill/>
          <a:ln>
            <a:noFill/>
          </a:ln>
        </p:spPr>
      </p:pic>
    </p:spTree>
  </p:cSld>
  <p:clrMapOvr>
    <a:masterClrMapping/>
  </p:clrMapOvr>
</p:sld>
</file>

<file path=sdk/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Observability stack enhancements</a:t>
            </a:r>
            <a:endParaRPr/>
          </a:p>
        </p:txBody>
      </p:sp>
      <p:sp>
        <p:nvSpPr>
          <p:cNvPr id="119" name="Google Shape;119;p1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Facelift over </a:t>
            </a:r>
            <a:r>
              <a:rPr lang="en-GB"/>
              <a:t>Observability stack</a:t>
            </a:r>
            <a:endParaRPr/>
          </a:p>
          <a:p>
            <a:pPr indent="-342900" lvl="0" marL="457200" rtl="0" algn="l">
              <a:spcBef>
                <a:spcPts val="0"/>
              </a:spcBef>
              <a:spcAft>
                <a:spcPts val="0"/>
              </a:spcAft>
              <a:buSzPts val="1800"/>
              <a:buChar char="●"/>
            </a:pPr>
            <a:r>
              <a:rPr lang="en-GB"/>
              <a:t>Improved logging and Mapped Diagnostic Context (MDC)</a:t>
            </a:r>
            <a:endParaRPr/>
          </a:p>
          <a:p>
            <a:pPr indent="-317500" lvl="1" marL="914400" rtl="0" algn="l">
              <a:spcBef>
                <a:spcPts val="0"/>
              </a:spcBef>
              <a:spcAft>
                <a:spcPts val="0"/>
              </a:spcAft>
              <a:buSzPts val="1400"/>
              <a:buChar char="○"/>
            </a:pPr>
            <a:r>
              <a:rPr lang="en-GB"/>
              <a:t>Putting event and primary resource to MDC if available</a:t>
            </a:r>
            <a:endParaRPr/>
          </a:p>
          <a:p>
            <a:pPr indent="-342900" lvl="0" marL="457200" rtl="0" algn="l">
              <a:spcBef>
                <a:spcPts val="0"/>
              </a:spcBef>
              <a:spcAft>
                <a:spcPts val="0"/>
              </a:spcAft>
              <a:buSzPts val="1800"/>
              <a:buChar char="●"/>
            </a:pPr>
            <a:r>
              <a:rPr lang="en-GB"/>
              <a:t>Metrics API refined</a:t>
            </a:r>
            <a:endParaRPr/>
          </a:p>
          <a:p>
            <a:pPr indent="-317500" lvl="1" marL="914400" rtl="0" algn="l">
              <a:spcBef>
                <a:spcPts val="0"/>
              </a:spcBef>
              <a:spcAft>
                <a:spcPts val="0"/>
              </a:spcAft>
              <a:buSzPts val="1400"/>
              <a:buChar char="○"/>
            </a:pPr>
            <a:r>
              <a:rPr lang="en-GB"/>
              <a:t>MicrometerMetricsV2</a:t>
            </a:r>
            <a:endParaRPr/>
          </a:p>
          <a:p>
            <a:pPr indent="-317500" lvl="1" marL="914400" rtl="0" algn="l">
              <a:spcBef>
                <a:spcPts val="0"/>
              </a:spcBef>
              <a:spcAft>
                <a:spcPts val="0"/>
              </a:spcAft>
              <a:buSzPts val="1400"/>
              <a:buChar char="○"/>
            </a:pPr>
            <a:r>
              <a:rPr lang="en-GB"/>
              <a:t>Generic Grafana Dashboard</a:t>
            </a:r>
            <a:endParaRPr/>
          </a:p>
          <a:p>
            <a:pPr indent="-317500" lvl="1" marL="914400" rtl="0" algn="l">
              <a:spcBef>
                <a:spcPts val="0"/>
              </a:spcBef>
              <a:spcAft>
                <a:spcPts val="0"/>
              </a:spcAft>
              <a:buSzPts val="1400"/>
              <a:buChar char="○"/>
            </a:pPr>
            <a:r>
              <a:rPr lang="en-GB"/>
              <a:t>Sample with OTel + Prometheus + Grafana</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sdk/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sp>
        <p:nvSpPr>
          <p:cNvPr id="125" name="Google Shape;125;p1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Planned for v5.7.0</a:t>
            </a:r>
            <a:endParaRPr/>
          </a:p>
          <a:p>
            <a:pPr indent="-342900" lvl="0" marL="457200" rtl="0" algn="l">
              <a:spcBef>
                <a:spcPts val="0"/>
              </a:spcBef>
              <a:spcAft>
                <a:spcPts val="0"/>
              </a:spcAft>
              <a:buSzPts val="1800"/>
              <a:buChar char="●"/>
            </a:pPr>
            <a:r>
              <a:rPr lang="en-GB"/>
              <a:t>We will officially support this for Java 25+ (but will work with Java 21+)</a:t>
            </a:r>
            <a:endParaRPr/>
          </a:p>
          <a:p>
            <a:pPr indent="-317500" lvl="1" marL="914400" rtl="0" algn="l">
              <a:spcBef>
                <a:spcPts val="0"/>
              </a:spcBef>
              <a:spcAft>
                <a:spcPts val="0"/>
              </a:spcAft>
              <a:buSzPts val="1400"/>
              <a:buChar char="○"/>
            </a:pPr>
            <a:r>
              <a:rPr lang="en-GB"/>
              <a:t>Replacing ThreadPools with virtual threads </a:t>
            </a:r>
            <a:r>
              <a:rPr lang="en-GB"/>
              <a:t>across</a:t>
            </a:r>
            <a:r>
              <a:rPr lang="en-GB"/>
              <a:t> framework</a:t>
            </a:r>
            <a:endParaRPr/>
          </a:p>
          <a:p>
            <a:pPr indent="-342900" lvl="0" marL="457200" rtl="0" algn="l">
              <a:spcBef>
                <a:spcPts val="0"/>
              </a:spcBef>
              <a:spcAft>
                <a:spcPts val="0"/>
              </a:spcAft>
              <a:buSzPts val="1800"/>
              <a:buChar char="●"/>
            </a:pPr>
            <a:r>
              <a:rPr lang="en-GB"/>
              <a:t>Virtually unlimited number of concurrent reconciliation</a:t>
            </a:r>
            <a:endParaRPr/>
          </a:p>
          <a:p>
            <a:pPr indent="-304800" lvl="1" marL="914400" rtl="0" algn="l">
              <a:spcBef>
                <a:spcPts val="0"/>
              </a:spcBef>
              <a:spcAft>
                <a:spcPts val="0"/>
              </a:spcAft>
              <a:buSzPts val="1200"/>
              <a:buChar char="○"/>
            </a:pPr>
            <a:r>
              <a:rPr lang="en-GB" sz="1200"/>
              <a:t>The explicit limit applies though</a:t>
            </a:r>
            <a:endParaRPr sz="1000"/>
          </a:p>
          <a:p>
            <a:pPr indent="0" lvl="0" marL="0" rtl="0" algn="l">
              <a:spcBef>
                <a:spcPts val="0"/>
              </a:spcBef>
              <a:spcAft>
                <a:spcPts val="0"/>
              </a:spcAft>
              <a:buNone/>
            </a:pPr>
            <a:r>
              <a:t/>
            </a:r>
            <a:endParaRPr sz="1200"/>
          </a:p>
        </p:txBody>
      </p:sp>
    </p:spTree>
  </p:cSld>
  <p:clrMapOvr>
    <a:masterClrMapping/>
  </p:clrMapOvr>
</p:sld>
</file>

<file path=sdk/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pic>
        <p:nvPicPr>
          <p:cNvPr id="131" name="Google Shape;131;p20"/>
          <p:cNvPicPr preferRelativeResize="0"/>
          <p:nvPr/>
        </p:nvPicPr>
        <p:blipFill>
          <a:blip r:embed="rId3">
            <a:alphaModFix/>
          </a:blip>
          <a:stretch>
            <a:fillRect/>
          </a:stretch>
        </p:blipFill>
        <p:spPr>
          <a:xfrm>
            <a:off x="1302925" y="1017725"/>
            <a:ext cx="6538149" cy="3685400"/>
          </a:xfrm>
          <a:prstGeom prst="rect">
            <a:avLst/>
          </a:prstGeom>
          <a:noFill/>
          <a:ln>
            <a:noFill/>
          </a:ln>
        </p:spPr>
      </p:pic>
    </p:spTree>
  </p:cSld>
  <p:clrMapOvr>
    <a:masterClrMapping/>
  </p:clrMapOvr>
</p:sld>
</file>

<file path=sdk/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Some honorable mentions…</a:t>
            </a:r>
            <a:endParaRPr/>
          </a:p>
        </p:txBody>
      </p:sp>
      <p:sp>
        <p:nvSpPr>
          <p:cNvPr id="137" name="Google Shape;137;p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EventRecorder API</a:t>
            </a:r>
            <a:endParaRPr/>
          </a:p>
          <a:p>
            <a:pPr indent="-342900" lvl="0" marL="457200" rtl="0" algn="l">
              <a:spcBef>
                <a:spcPts val="0"/>
              </a:spcBef>
              <a:spcAft>
                <a:spcPts val="0"/>
              </a:spcAft>
              <a:buSzPts val="1800"/>
              <a:buChar char="●"/>
            </a:pPr>
            <a:r>
              <a:rPr lang="en-GB"/>
              <a:t>ShardSelector support</a:t>
            </a:r>
            <a:endParaRPr/>
          </a:p>
          <a:p>
            <a:pPr indent="-342900" lvl="0" marL="457200" rtl="0" algn="l">
              <a:spcBef>
                <a:spcPts val="0"/>
              </a:spcBef>
              <a:spcAft>
                <a:spcPts val="0"/>
              </a:spcAft>
              <a:buSzPts val="1800"/>
              <a:buChar char="●"/>
            </a:pPr>
            <a:r>
              <a:rPr lang="en-GB"/>
              <a:t>Documentation improvements - operations section</a:t>
            </a:r>
            <a:endParaRPr/>
          </a:p>
          <a:p>
            <a:pPr indent="0" lvl="0" marL="0" rtl="0" algn="l">
              <a:spcBef>
                <a:spcPts val="0"/>
              </a:spcBef>
              <a:spcAft>
                <a:spcPts val="0"/>
              </a:spcAft>
              <a:buNone/>
            </a:pPr>
            <a:r>
              <a:t/>
            </a:r>
            <a:endParaRPr/>
          </a:p>
        </p:txBody>
      </p:sp>
    </p:spTree>
  </p:cSld>
  <p:clrMapOvr>
    <a:masterClrMapping/>
  </p:clrMapOvr>
</p:sld>
</file>

<file path=sdk/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1940538"/>
            <a:ext cx="8520600" cy="84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Thank you!  Q/A</a:t>
            </a:r>
            <a:endParaRPr/>
          </a:p>
        </p:txBody>
      </p:sp>
    </p:spTree>
  </p:cSld>
  <p:clrMapOvr>
    <a:masterClrMapping/>
  </p:clrMapOvr>
</p:sld>
</file>

<file path=sdk/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theme/theme2.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